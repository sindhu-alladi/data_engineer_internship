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7.svg" ContentType="image/svg+xml"/>
  <Override PartName="/ppt/media/image28.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9" r:id="rId5"/>
    <p:sldId id="266" r:id="rId6"/>
    <p:sldId id="267" r:id="rId7"/>
    <p:sldId id="268" r:id="rId8"/>
    <p:sldId id="258" r:id="rId9"/>
    <p:sldId id="269" r:id="rId10"/>
    <p:sldId id="270" r:id="rId11"/>
    <p:sldId id="271" r:id="rId12"/>
    <p:sldId id="272" r:id="rId13"/>
    <p:sldId id="273" r:id="rId14"/>
    <p:sldId id="274" r:id="rId15"/>
    <p:sldId id="275" r:id="rId16"/>
  </p:sldIdLst>
  <p:sldSz cx="18288000" cy="10287000"/>
  <p:notesSz cx="6858000" cy="9144000"/>
  <p:embeddedFontLst>
    <p:embeddedFont>
      <p:font typeface="SimSun" panose="02010600030101010101" pitchFamily="2" charset="-122"/>
      <p:regular r:id="rId20"/>
    </p:embeddedFont>
    <p:embeddedFont>
      <p:font typeface="DM Sans Bold"/>
      <p:bold r:id="rId21"/>
    </p:embeddedFont>
    <p:embeddedFont>
      <p:font typeface="Canva Sans" panose="020B0503030501040103"/>
      <p:regular r:id="rId22"/>
    </p:embeddedFont>
    <p:embeddedFont>
      <p:font typeface="Calibri" panose="020F0502020204030204" charset="0"/>
      <p:regular r:id="rId23"/>
      <p:bold r:id="rId24"/>
      <p:italic r:id="rId25"/>
      <p:boldItalic r:id="rId26"/>
    </p:embeddedFont>
    <p:embeddedFont>
      <p:font typeface="Arial Black" panose="020B0A04020102020204" charset="0"/>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9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D2C63A4-9D5D-47CE-8D74-13AD5720E5D9}" type="doc">
      <dgm:prSet loTypeId="hierarchy" loCatId="hierarchy" qsTypeId="urn:microsoft.com/office/officeart/2005/8/quickstyle/simple1" qsCatId="simple" csTypeId="urn:microsoft.com/office/officeart/2005/8/colors/accent1_2" csCatId="accent1" phldr="0"/>
      <dgm:spPr/>
      <dgm:t>
        <a:bodyPr/>
        <a:p>
          <a:endParaRPr lang="en-US"/>
        </a:p>
      </dgm:t>
    </dgm:pt>
    <dgm:pt modelId="{42D42628-864C-41D6-833F-2DBB342F4DB0}">
      <dgm:prSet phldrT="[Text]" phldr="0" custT="0"/>
      <dgm:spPr/>
      <dgm:t>
        <a:bodyPr vert="horz" wrap="square"/>
        <a:p>
          <a:pPr>
            <a:lnSpc>
              <a:spcPct val="100000"/>
            </a:lnSpc>
            <a:spcBef>
              <a:spcPct val="0"/>
            </a:spcBef>
            <a:spcAft>
              <a:spcPct val="35000"/>
            </a:spcAft>
          </a:pPr>
          <a:r>
            <a:rPr lang="en-US" altLang="en-US" b="1">
              <a:solidFill>
                <a:srgbClr val="000000"/>
              </a:solidFill>
              <a:latin typeface="Times New Roman" panose="02020603050405020304" charset="0"/>
              <a:ea typeface="DM Sans Bold"/>
              <a:cs typeface="Times New Roman" panose="02020603050405020304" charset="0"/>
              <a:sym typeface="DM Sans Bold"/>
            </a:rPr>
            <a:t>The two main components of a transformation </a:t>
          </a:r>
          <a:r>
            <a:rPr lang="en-US" altLang="en-US" b="1">
              <a:solidFill>
                <a:srgbClr val="000000"/>
              </a:solidFill>
              <a:latin typeface="Times New Roman" panose="02020603050405020304" charset="0"/>
              <a:ea typeface="DM Sans Bold"/>
              <a:cs typeface="Times New Roman" panose="02020603050405020304" charset="0"/>
              <a:sym typeface="DM Sans Bold"/>
            </a:rPr>
            <a:t/>
          </a:r>
          <a:endParaRPr lang="en-US" altLang="en-US" b="1">
            <a:solidFill>
              <a:srgbClr val="000000"/>
            </a:solidFill>
            <a:latin typeface="Times New Roman" panose="02020603050405020304" charset="0"/>
            <a:ea typeface="DM Sans Bold"/>
            <a:cs typeface="Times New Roman" panose="02020603050405020304" charset="0"/>
            <a:sym typeface="DM Sans Bold"/>
          </a:endParaRPr>
        </a:p>
        <a:p>
          <a:pPr>
            <a:lnSpc>
              <a:spcPct val="100000"/>
            </a:lnSpc>
            <a:spcBef>
              <a:spcPct val="0"/>
            </a:spcBef>
            <a:spcAft>
              <a:spcPct val="35000"/>
            </a:spcAft>
          </a:pPr>
          <a:r>
            <a:rPr lang="en-US" altLang="en-US" b="1">
              <a:solidFill>
                <a:srgbClr val="000000"/>
              </a:solidFill>
              <a:latin typeface="Times New Roman" panose="02020603050405020304" charset="0"/>
              <a:ea typeface="DM Sans Bold"/>
              <a:cs typeface="Times New Roman" panose="02020603050405020304" charset="0"/>
              <a:sym typeface="DM Sans Bold"/>
            </a:rPr>
            <a:t> </a:t>
          </a:r>
          <a:r>
            <a:rPr lang="en-US"/>
            <a:t/>
          </a:r>
          <a:endParaRPr lang="en-US"/>
        </a:p>
      </dgm:t>
    </dgm:pt>
    <dgm:pt modelId="{C7195306-E1B1-4ECE-8382-424ACA226556}" cxnId="{4D6700D8-0275-48F6-ABAF-19BAAD6B248E}" type="parTrans">
      <dgm:prSet/>
      <dgm:spPr/>
      <dgm:t>
        <a:bodyPr/>
        <a:p>
          <a:endParaRPr lang="en-US"/>
        </a:p>
      </dgm:t>
    </dgm:pt>
    <dgm:pt modelId="{33D8AA3E-DAD3-412E-80E1-09AFD3B5EAF9}" cxnId="{4D6700D8-0275-48F6-ABAF-19BAAD6B248E}" type="sibTrans">
      <dgm:prSet/>
      <dgm:spPr/>
      <dgm:t>
        <a:bodyPr/>
        <a:p>
          <a:endParaRPr lang="en-US"/>
        </a:p>
      </dgm:t>
    </dgm:pt>
    <dgm:pt modelId="{1FC1C8C3-63CB-4E55-BD49-AA552B8440D8}">
      <dgm:prSet phldrT="[Text]" phldr="0" custT="1"/>
      <dgm:spPr/>
      <dgm:t>
        <a:bodyPr vert="horz" wrap="square"/>
        <a:p>
          <a:pPr>
            <a:lnSpc>
              <a:spcPct val="100000"/>
            </a:lnSpc>
            <a:spcBef>
              <a:spcPct val="0"/>
            </a:spcBef>
            <a:spcAft>
              <a:spcPct val="35000"/>
            </a:spcAft>
          </a:pPr>
          <a:r>
            <a:rPr lang="en-US" sz="2000" b="1"/>
            <a:t>Steps</a:t>
          </a:r>
          <a:r>
            <a:rPr lang="en-US" sz="2000" b="1"/>
            <a:t/>
          </a:r>
          <a:endParaRPr lang="en-US" sz="2000" b="1"/>
        </a:p>
      </dgm:t>
    </dgm:pt>
    <dgm:pt modelId="{B025E324-1C01-4543-8D06-F931E0E78FF4}" cxnId="{169CC84B-3C99-45E1-8971-3A7EB8579596}" type="parTrans">
      <dgm:prSet/>
      <dgm:spPr/>
      <dgm:t>
        <a:bodyPr/>
        <a:p>
          <a:endParaRPr lang="en-US"/>
        </a:p>
      </dgm:t>
    </dgm:pt>
    <dgm:pt modelId="{588AC07E-4185-4602-8798-37B6E219CC88}" cxnId="{169CC84B-3C99-45E1-8971-3A7EB8579596}" type="sibTrans">
      <dgm:prSet/>
      <dgm:spPr/>
      <dgm:t>
        <a:bodyPr/>
        <a:p>
          <a:endParaRPr lang="en-US"/>
        </a:p>
      </dgm:t>
    </dgm:pt>
    <dgm:pt modelId="{A05D3806-5723-4FF6-989A-CFBBE505DD4B}">
      <dgm:prSet phldrT="[Text]" phldr="0" custT="1"/>
      <dgm:spPr/>
      <dgm:t>
        <a:bodyPr vert="horz" wrap="square"/>
        <a:p>
          <a:pPr>
            <a:lnSpc>
              <a:spcPct val="100000"/>
            </a:lnSpc>
            <a:spcBef>
              <a:spcPct val="0"/>
            </a:spcBef>
            <a:spcAft>
              <a:spcPct val="35000"/>
            </a:spcAft>
          </a:pPr>
          <a:r>
            <a:rPr lang="en-US" sz="2000" b="1"/>
            <a:t>Hops</a:t>
          </a:r>
          <a:r>
            <a:rPr lang="en-US" sz="2000" b="1"/>
            <a:t/>
          </a:r>
          <a:endParaRPr lang="en-US" sz="2000" b="1"/>
        </a:p>
      </dgm:t>
    </dgm:pt>
    <dgm:pt modelId="{3B533E93-AA45-4AC9-9CB7-4EF287AB96B6}" cxnId="{EB83CD7D-9DD3-4383-9A11-71F4F84D076F}" type="parTrans">
      <dgm:prSet/>
      <dgm:spPr/>
      <dgm:t>
        <a:bodyPr/>
        <a:p>
          <a:endParaRPr lang="en-US"/>
        </a:p>
      </dgm:t>
    </dgm:pt>
    <dgm:pt modelId="{C1E7C596-43DD-4C48-95F5-50523BA11C29}" cxnId="{EB83CD7D-9DD3-4383-9A11-71F4F84D076F}" type="sibTrans">
      <dgm:prSet/>
      <dgm:spPr/>
      <dgm:t>
        <a:bodyPr/>
        <a:p>
          <a:endParaRPr lang="en-US"/>
        </a:p>
      </dgm:t>
    </dgm:pt>
    <dgm:pt modelId="{32C577E3-B2E7-4F50-83DE-6F01CC88C9C5}" type="pres">
      <dgm:prSet presAssocID="{CD2C63A4-9D5D-47CE-8D74-13AD5720E5D9}" presName="hierChild1" presStyleCnt="0">
        <dgm:presLayoutVars>
          <dgm:chPref val="1"/>
          <dgm:dir/>
          <dgm:animOne val="branch"/>
          <dgm:animLvl val="lvl"/>
          <dgm:resizeHandles/>
        </dgm:presLayoutVars>
      </dgm:prSet>
      <dgm:spPr/>
    </dgm:pt>
    <dgm:pt modelId="{127C500C-4887-40E4-B187-5B52545DCD7D}" type="pres">
      <dgm:prSet presAssocID="{42D42628-864C-41D6-833F-2DBB342F4DB0}" presName="hierRoot1" presStyleCnt="0"/>
      <dgm:spPr/>
    </dgm:pt>
    <dgm:pt modelId="{365B431B-456E-4B1C-A19C-568423617177}" type="pres">
      <dgm:prSet presAssocID="{42D42628-864C-41D6-833F-2DBB342F4DB0}" presName="composite" presStyleCnt="0"/>
      <dgm:spPr/>
    </dgm:pt>
    <dgm:pt modelId="{5CB9CF2E-F8C1-427A-832C-73E3C9485AF5}" type="pres">
      <dgm:prSet presAssocID="{42D42628-864C-41D6-833F-2DBB342F4DB0}" presName="background" presStyleLbl="node0" presStyleIdx="0" presStyleCnt="1"/>
      <dgm:spPr/>
    </dgm:pt>
    <dgm:pt modelId="{9EA914DE-A312-4852-926F-356E365C8677}" type="pres">
      <dgm:prSet presAssocID="{42D42628-864C-41D6-833F-2DBB342F4DB0}" presName="text" presStyleLbl="fgAcc0" presStyleIdx="0" presStyleCnt="1">
        <dgm:presLayoutVars>
          <dgm:chPref val="3"/>
        </dgm:presLayoutVars>
      </dgm:prSet>
      <dgm:spPr/>
    </dgm:pt>
    <dgm:pt modelId="{7996B813-D5A1-416C-BFD3-D8CB23FE7818}" type="pres">
      <dgm:prSet presAssocID="{42D42628-864C-41D6-833F-2DBB342F4DB0}" presName="hierChild2" presStyleCnt="0"/>
      <dgm:spPr/>
    </dgm:pt>
    <dgm:pt modelId="{09E7BBA0-5F8D-4D96-A214-A0567596BDAF}" type="pres">
      <dgm:prSet presAssocID="{B025E324-1C01-4543-8D06-F931E0E78FF4}" presName="Name10" presStyleLbl="parChTrans1D2" presStyleIdx="0" presStyleCnt="2"/>
      <dgm:spPr/>
    </dgm:pt>
    <dgm:pt modelId="{8D56CC28-91EB-4D35-B97C-A0CE4C54B480}" type="pres">
      <dgm:prSet presAssocID="{1FC1C8C3-63CB-4E55-BD49-AA552B8440D8}" presName="hierRoot2" presStyleCnt="0"/>
      <dgm:spPr/>
    </dgm:pt>
    <dgm:pt modelId="{1A27D8D0-0CEA-4DF6-B14F-FEB4FC25CED3}" type="pres">
      <dgm:prSet presAssocID="{1FC1C8C3-63CB-4E55-BD49-AA552B8440D8}" presName="composite2" presStyleCnt="0"/>
      <dgm:spPr/>
    </dgm:pt>
    <dgm:pt modelId="{A34195EE-C43D-4F9B-A621-CBE3CC21780D}" type="pres">
      <dgm:prSet presAssocID="{1FC1C8C3-63CB-4E55-BD49-AA552B8440D8}" presName="background2" presStyleLbl="node2" presStyleIdx="0" presStyleCnt="2"/>
      <dgm:spPr/>
    </dgm:pt>
    <dgm:pt modelId="{0EA44707-A464-4EC8-A803-F76ACC6D424E}" type="pres">
      <dgm:prSet presAssocID="{1FC1C8C3-63CB-4E55-BD49-AA552B8440D8}" presName="text2" presStyleLbl="fgAcc2" presStyleIdx="0" presStyleCnt="2">
        <dgm:presLayoutVars>
          <dgm:chPref val="3"/>
        </dgm:presLayoutVars>
      </dgm:prSet>
      <dgm:spPr/>
    </dgm:pt>
    <dgm:pt modelId="{6B6A2946-5A7E-4FF4-AF36-E3D5F63CFE3D}" type="pres">
      <dgm:prSet presAssocID="{1FC1C8C3-63CB-4E55-BD49-AA552B8440D8}" presName="hierChild3" presStyleCnt="0"/>
      <dgm:spPr/>
    </dgm:pt>
    <dgm:pt modelId="{558A19F4-A64F-40E5-82A0-E8FA6D0D2F35}" type="pres">
      <dgm:prSet presAssocID="{3B533E93-AA45-4AC9-9CB7-4EF287AB96B6}" presName="Name10" presStyleLbl="parChTrans1D2" presStyleIdx="1" presStyleCnt="2"/>
      <dgm:spPr/>
    </dgm:pt>
    <dgm:pt modelId="{0E934F16-8941-405B-8601-29FC10B8D7A0}" type="pres">
      <dgm:prSet presAssocID="{A05D3806-5723-4FF6-989A-CFBBE505DD4B}" presName="hierRoot2" presStyleCnt="0"/>
      <dgm:spPr/>
    </dgm:pt>
    <dgm:pt modelId="{940CC847-5B2B-4831-A167-B9F242FC0F5A}" type="pres">
      <dgm:prSet presAssocID="{A05D3806-5723-4FF6-989A-CFBBE505DD4B}" presName="composite2" presStyleCnt="0"/>
      <dgm:spPr/>
    </dgm:pt>
    <dgm:pt modelId="{9BFD9D87-8C19-4DBE-8296-0309769DBFD0}" type="pres">
      <dgm:prSet presAssocID="{A05D3806-5723-4FF6-989A-CFBBE505DD4B}" presName="background2" presStyleLbl="node2" presStyleIdx="1" presStyleCnt="2"/>
      <dgm:spPr/>
    </dgm:pt>
    <dgm:pt modelId="{C9EEDAB6-9D89-4307-9A78-74562B5413C5}" type="pres">
      <dgm:prSet presAssocID="{A05D3806-5723-4FF6-989A-CFBBE505DD4B}" presName="text2" presStyleLbl="fgAcc2" presStyleIdx="1" presStyleCnt="2">
        <dgm:presLayoutVars>
          <dgm:chPref val="3"/>
        </dgm:presLayoutVars>
      </dgm:prSet>
      <dgm:spPr/>
    </dgm:pt>
    <dgm:pt modelId="{2D93EB03-7AEA-4FDD-B804-687235FEF6BB}" type="pres">
      <dgm:prSet presAssocID="{A05D3806-5723-4FF6-989A-CFBBE505DD4B}" presName="hierChild3" presStyleCnt="0"/>
      <dgm:spPr/>
    </dgm:pt>
  </dgm:ptLst>
  <dgm:cxnLst>
    <dgm:cxn modelId="{4D6700D8-0275-48F6-ABAF-19BAAD6B248E}" srcId="{CD2C63A4-9D5D-47CE-8D74-13AD5720E5D9}" destId="{42D42628-864C-41D6-833F-2DBB342F4DB0}" srcOrd="0" destOrd="0" parTransId="{C7195306-E1B1-4ECE-8382-424ACA226556}" sibTransId="{33D8AA3E-DAD3-412E-80E1-09AFD3B5EAF9}"/>
    <dgm:cxn modelId="{169CC84B-3C99-45E1-8971-3A7EB8579596}" srcId="{42D42628-864C-41D6-833F-2DBB342F4DB0}" destId="{1FC1C8C3-63CB-4E55-BD49-AA552B8440D8}" srcOrd="0" destOrd="0" parTransId="{B025E324-1C01-4543-8D06-F931E0E78FF4}" sibTransId="{588AC07E-4185-4602-8798-37B6E219CC88}"/>
    <dgm:cxn modelId="{EB83CD7D-9DD3-4383-9A11-71F4F84D076F}" srcId="{42D42628-864C-41D6-833F-2DBB342F4DB0}" destId="{A05D3806-5723-4FF6-989A-CFBBE505DD4B}" srcOrd="1" destOrd="0" parTransId="{3B533E93-AA45-4AC9-9CB7-4EF287AB96B6}" sibTransId="{C1E7C596-43DD-4C48-95F5-50523BA11C29}"/>
    <dgm:cxn modelId="{B69F7F7C-C16E-4F50-B408-7DFF70B8B3ED}" type="presOf" srcId="{CD2C63A4-9D5D-47CE-8D74-13AD5720E5D9}" destId="{32C577E3-B2E7-4F50-83DE-6F01CC88C9C5}" srcOrd="0" destOrd="0" presId="urn:microsoft.com/office/officeart/2005/8/layout/hierarchy1"/>
    <dgm:cxn modelId="{90B54D4D-FBE8-421D-A835-5D1FAA8678C7}" type="presParOf" srcId="{32C577E3-B2E7-4F50-83DE-6F01CC88C9C5}" destId="{127C500C-4887-40E4-B187-5B52545DCD7D}" srcOrd="0" destOrd="0" presId="urn:microsoft.com/office/officeart/2005/8/layout/hierarchy1"/>
    <dgm:cxn modelId="{D66781BB-4D17-4594-9C3C-FA702EDC3A1A}" type="presParOf" srcId="{127C500C-4887-40E4-B187-5B52545DCD7D}" destId="{365B431B-456E-4B1C-A19C-568423617177}" srcOrd="0" destOrd="0" presId="urn:microsoft.com/office/officeart/2005/8/layout/hierarchy1"/>
    <dgm:cxn modelId="{297D9180-6B5A-4F0B-B9E1-46B82B80C567}" type="presParOf" srcId="{365B431B-456E-4B1C-A19C-568423617177}" destId="{5CB9CF2E-F8C1-427A-832C-73E3C9485AF5}" srcOrd="0" destOrd="0" presId="urn:microsoft.com/office/officeart/2005/8/layout/hierarchy1"/>
    <dgm:cxn modelId="{1A81C9C5-0EBB-4DCF-A0B2-AE9C2521D3F1}" type="presParOf" srcId="{365B431B-456E-4B1C-A19C-568423617177}" destId="{9EA914DE-A312-4852-926F-356E365C8677}" srcOrd="1" destOrd="0" presId="urn:microsoft.com/office/officeart/2005/8/layout/hierarchy1"/>
    <dgm:cxn modelId="{E90401A5-4118-4E6B-958A-1318D3091043}" type="presOf" srcId="{42D42628-864C-41D6-833F-2DBB342F4DB0}" destId="{9EA914DE-A312-4852-926F-356E365C8677}" srcOrd="0" destOrd="0" presId="urn:microsoft.com/office/officeart/2005/8/layout/hierarchy1"/>
    <dgm:cxn modelId="{AD123BB8-E089-41D5-9707-7DA96F423B27}" type="presParOf" srcId="{127C500C-4887-40E4-B187-5B52545DCD7D}" destId="{7996B813-D5A1-416C-BFD3-D8CB23FE7818}" srcOrd="1" destOrd="0" presId="urn:microsoft.com/office/officeart/2005/8/layout/hierarchy1"/>
    <dgm:cxn modelId="{15562752-C911-4312-98C1-C6D1ADCEC3EF}" type="presParOf" srcId="{7996B813-D5A1-416C-BFD3-D8CB23FE7818}" destId="{09E7BBA0-5F8D-4D96-A214-A0567596BDAF}" srcOrd="0" destOrd="1" presId="urn:microsoft.com/office/officeart/2005/8/layout/hierarchy1"/>
    <dgm:cxn modelId="{3A2A9E95-07B0-4483-B86F-F49F829AA051}" type="presOf" srcId="{B025E324-1C01-4543-8D06-F931E0E78FF4}" destId="{09E7BBA0-5F8D-4D96-A214-A0567596BDAF}" srcOrd="0" destOrd="0" presId="urn:microsoft.com/office/officeart/2005/8/layout/hierarchy1"/>
    <dgm:cxn modelId="{DAAE4635-24AB-49B9-8030-7B8EFA1048EA}" type="presParOf" srcId="{7996B813-D5A1-416C-BFD3-D8CB23FE7818}" destId="{8D56CC28-91EB-4D35-B97C-A0CE4C54B480}" srcOrd="1" destOrd="1" presId="urn:microsoft.com/office/officeart/2005/8/layout/hierarchy1"/>
    <dgm:cxn modelId="{DFFBBE3B-A9EB-4104-8385-4880051C116C}" type="presParOf" srcId="{8D56CC28-91EB-4D35-B97C-A0CE4C54B480}" destId="{1A27D8D0-0CEA-4DF6-B14F-FEB4FC25CED3}" srcOrd="0" destOrd="1" presId="urn:microsoft.com/office/officeart/2005/8/layout/hierarchy1"/>
    <dgm:cxn modelId="{C60A5E58-7618-4AE1-8D7B-AD25F5A45599}" type="presParOf" srcId="{1A27D8D0-0CEA-4DF6-B14F-FEB4FC25CED3}" destId="{A34195EE-C43D-4F9B-A621-CBE3CC21780D}" srcOrd="0" destOrd="0" presId="urn:microsoft.com/office/officeart/2005/8/layout/hierarchy1"/>
    <dgm:cxn modelId="{F174DE1B-E92A-41F3-B54D-486E3A28B5CB}" type="presParOf" srcId="{1A27D8D0-0CEA-4DF6-B14F-FEB4FC25CED3}" destId="{0EA44707-A464-4EC8-A803-F76ACC6D424E}" srcOrd="1" destOrd="0" presId="urn:microsoft.com/office/officeart/2005/8/layout/hierarchy1"/>
    <dgm:cxn modelId="{0F04D0F1-1A64-484B-A0CD-E574F7656A9D}" type="presOf" srcId="{1FC1C8C3-63CB-4E55-BD49-AA552B8440D8}" destId="{0EA44707-A464-4EC8-A803-F76ACC6D424E}" srcOrd="0" destOrd="0" presId="urn:microsoft.com/office/officeart/2005/8/layout/hierarchy1"/>
    <dgm:cxn modelId="{91F9F94A-29B1-49C2-879E-DBD0768A67C8}" type="presParOf" srcId="{8D56CC28-91EB-4D35-B97C-A0CE4C54B480}" destId="{6B6A2946-5A7E-4FF4-AF36-E3D5F63CFE3D}" srcOrd="1" destOrd="1" presId="urn:microsoft.com/office/officeart/2005/8/layout/hierarchy1"/>
    <dgm:cxn modelId="{65F3CB63-1C74-4293-976F-EF98B06D49DE}" type="presParOf" srcId="{7996B813-D5A1-416C-BFD3-D8CB23FE7818}" destId="{558A19F4-A64F-40E5-82A0-E8FA6D0D2F35}" srcOrd="2" destOrd="1" presId="urn:microsoft.com/office/officeart/2005/8/layout/hierarchy1"/>
    <dgm:cxn modelId="{C338374C-BD12-4262-8FDB-DEE588FD5693}" type="presOf" srcId="{3B533E93-AA45-4AC9-9CB7-4EF287AB96B6}" destId="{558A19F4-A64F-40E5-82A0-E8FA6D0D2F35}" srcOrd="0" destOrd="0" presId="urn:microsoft.com/office/officeart/2005/8/layout/hierarchy1"/>
    <dgm:cxn modelId="{EE501A56-44F6-4795-9B99-8D0ABCA2579E}" type="presParOf" srcId="{7996B813-D5A1-416C-BFD3-D8CB23FE7818}" destId="{0E934F16-8941-405B-8601-29FC10B8D7A0}" srcOrd="3" destOrd="1" presId="urn:microsoft.com/office/officeart/2005/8/layout/hierarchy1"/>
    <dgm:cxn modelId="{355D2916-E42E-4F57-B1D4-EFB8F444D47B}" type="presParOf" srcId="{0E934F16-8941-405B-8601-29FC10B8D7A0}" destId="{940CC847-5B2B-4831-A167-B9F242FC0F5A}" srcOrd="0" destOrd="3" presId="urn:microsoft.com/office/officeart/2005/8/layout/hierarchy1"/>
    <dgm:cxn modelId="{DBA31F40-63B3-4D00-8481-A865E1020CF9}" type="presParOf" srcId="{940CC847-5B2B-4831-A167-B9F242FC0F5A}" destId="{9BFD9D87-8C19-4DBE-8296-0309769DBFD0}" srcOrd="0" destOrd="0" presId="urn:microsoft.com/office/officeart/2005/8/layout/hierarchy1"/>
    <dgm:cxn modelId="{D0DF934D-5B64-45FB-A39D-7A91E987F7A1}" type="presParOf" srcId="{940CC847-5B2B-4831-A167-B9F242FC0F5A}" destId="{C9EEDAB6-9D89-4307-9A78-74562B5413C5}" srcOrd="1" destOrd="0" presId="urn:microsoft.com/office/officeart/2005/8/layout/hierarchy1"/>
    <dgm:cxn modelId="{2660DF0D-6583-4E3E-8A9E-52D4E5EBA631}" type="presOf" srcId="{A05D3806-5723-4FF6-989A-CFBBE505DD4B}" destId="{C9EEDAB6-9D89-4307-9A78-74562B5413C5}" srcOrd="0" destOrd="0" presId="urn:microsoft.com/office/officeart/2005/8/layout/hierarchy1"/>
    <dgm:cxn modelId="{2017D96B-EF4B-4645-96C9-71DEFE3FF2E5}" type="presParOf" srcId="{0E934F16-8941-405B-8601-29FC10B8D7A0}" destId="{2D93EB03-7AEA-4FDD-B804-687235FEF6BB}" srcOrd="1" destOrd="3"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4302760" cy="3046730"/>
        <a:chOff x="0" y="0"/>
        <a:chExt cx="4302760" cy="3046730"/>
      </a:xfrm>
    </dsp:grpSpPr>
    <dsp:sp modelId="{09E7BBA0-5F8D-4D96-A214-A0567596BDAF}">
      <dsp:nvSpPr>
        <dsp:cNvPr id="5" name="Freeform 4"/>
        <dsp:cNvSpPr/>
      </dsp:nvSpPr>
      <dsp:spPr bwMode="white">
        <a:xfrm>
          <a:off x="933297" y="1160732"/>
          <a:ext cx="1116576" cy="532404"/>
        </a:xfrm>
        <a:custGeom>
          <a:avLst/>
          <a:gdLst/>
          <a:ahLst/>
          <a:cxnLst/>
          <a:pathLst>
            <a:path w="1758" h="838">
              <a:moveTo>
                <a:pt x="1758" y="0"/>
              </a:moveTo>
              <a:lnTo>
                <a:pt x="1758" y="679"/>
              </a:lnTo>
              <a:lnTo>
                <a:pt x="0" y="679"/>
              </a:lnTo>
              <a:lnTo>
                <a:pt x="0" y="838"/>
              </a:lnTo>
            </a:path>
          </a:pathLst>
        </a:custGeom>
      </dsp:spPr>
      <dsp:style>
        <a:lnRef idx="2">
          <a:schemeClr val="accent1">
            <a:tint val="90000"/>
          </a:schemeClr>
        </a:lnRef>
        <a:fillRef idx="0">
          <a:schemeClr val="accent1">
            <a:tint val="90000"/>
          </a:schemeClr>
        </a:fillRef>
        <a:effectRef idx="0">
          <a:scrgbClr r="0" g="0" b="0"/>
        </a:effectRef>
        <a:fontRef idx="minor"/>
      </dsp:style>
      <dsp:txXfrm>
        <a:off x="933297" y="1160732"/>
        <a:ext cx="1116576" cy="532404"/>
      </dsp:txXfrm>
    </dsp:sp>
    <dsp:sp modelId="{558A19F4-A64F-40E5-82A0-E8FA6D0D2F35}">
      <dsp:nvSpPr>
        <dsp:cNvPr id="14" name="Freeform 13"/>
        <dsp:cNvSpPr/>
      </dsp:nvSpPr>
      <dsp:spPr bwMode="white">
        <a:xfrm>
          <a:off x="2049873" y="1160732"/>
          <a:ext cx="1116576" cy="532404"/>
        </a:xfrm>
        <a:custGeom>
          <a:avLst/>
          <a:gdLst/>
          <a:ahLst/>
          <a:cxnLst/>
          <a:pathLst>
            <a:path w="1758" h="838">
              <a:moveTo>
                <a:pt x="0" y="0"/>
              </a:moveTo>
              <a:lnTo>
                <a:pt x="0" y="679"/>
              </a:lnTo>
              <a:lnTo>
                <a:pt x="1758" y="679"/>
              </a:lnTo>
              <a:lnTo>
                <a:pt x="1758" y="838"/>
              </a:lnTo>
            </a:path>
          </a:pathLst>
        </a:custGeom>
      </dsp:spPr>
      <dsp:style>
        <a:lnRef idx="2">
          <a:schemeClr val="accent1">
            <a:tint val="90000"/>
          </a:schemeClr>
        </a:lnRef>
        <a:fillRef idx="0">
          <a:schemeClr val="accent1">
            <a:tint val="90000"/>
          </a:schemeClr>
        </a:fillRef>
        <a:effectRef idx="0">
          <a:scrgbClr r="0" g="0" b="0"/>
        </a:effectRef>
        <a:fontRef idx="minor"/>
      </dsp:style>
      <dsp:txXfrm>
        <a:off x="2049873" y="1160732"/>
        <a:ext cx="1116576" cy="532404"/>
      </dsp:txXfrm>
    </dsp:sp>
    <dsp:sp modelId="{5CB9CF2E-F8C1-427A-832C-73E3C9485AF5}">
      <dsp:nvSpPr>
        <dsp:cNvPr id="3" name="Rounded Rectangle 2"/>
        <dsp:cNvSpPr/>
      </dsp:nvSpPr>
      <dsp:spPr bwMode="white">
        <a:xfrm>
          <a:off x="1136311" y="508"/>
          <a:ext cx="1827124" cy="1160224"/>
        </a:xfrm>
        <a:prstGeom prst="roundRect">
          <a:avLst>
            <a:gd name="adj" fmla="val 10000"/>
          </a:avLst>
        </a:prstGeom>
      </dsp:spPr>
      <dsp:style>
        <a:lnRef idx="2">
          <a:schemeClr val="lt1"/>
        </a:lnRef>
        <a:fillRef idx="1">
          <a:schemeClr val="accent1">
            <a:alpha val="80000"/>
            <a:hueOff val="0"/>
            <a:satOff val="0"/>
            <a:lumOff val="0"/>
            <a:alpha val="80000"/>
          </a:schemeClr>
        </a:fillRef>
        <a:effectRef idx="0">
          <a:scrgbClr r="0" g="0" b="0"/>
        </a:effectRef>
        <a:fontRef idx="minor">
          <a:schemeClr val="lt1"/>
        </a:fontRef>
      </dsp:style>
      <dsp:txXfrm>
        <a:off x="1136311" y="508"/>
        <a:ext cx="1827124" cy="1160224"/>
      </dsp:txXfrm>
    </dsp:sp>
    <dsp:sp modelId="{9EA914DE-A312-4852-926F-356E365C8677}">
      <dsp:nvSpPr>
        <dsp:cNvPr id="4" name="Rounded Rectangle 3"/>
        <dsp:cNvSpPr/>
      </dsp:nvSpPr>
      <dsp:spPr bwMode="white">
        <a:xfrm>
          <a:off x="1339325" y="193371"/>
          <a:ext cx="1827124" cy="1160224"/>
        </a:xfrm>
        <a:prstGeom prst="roundRect">
          <a:avLst>
            <a:gd name="adj" fmla="val 10000"/>
          </a:avLst>
        </a:prstGeom>
      </dsp:spPr>
      <dsp:style>
        <a:lnRef idx="2">
          <a:schemeClr val="accent1">
            <a:shade val="80000"/>
          </a:schemeClr>
        </a:lnRef>
        <a:fillRef idx="1">
          <a:schemeClr val="lt1">
            <a:alpha val="90000"/>
          </a:schemeClr>
        </a:fillRef>
        <a:effectRef idx="0">
          <a:scrgbClr r="0" g="0" b="0"/>
        </a:effectRef>
        <a:fontRef idx="minor"/>
      </dsp:style>
      <dsp:txBody>
        <a:bodyPr vert="horz" wrap="square" lIns="53340" tIns="53340" rIns="53340" bIns="5334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en-US" b="1">
              <a:solidFill>
                <a:srgbClr val="000000"/>
              </a:solidFill>
              <a:latin typeface="Times New Roman" panose="02020603050405020304" charset="0"/>
              <a:ea typeface="DM Sans Bold"/>
              <a:cs typeface="Times New Roman" panose="02020603050405020304" charset="0"/>
              <a:sym typeface="DM Sans Bold"/>
            </a:rPr>
            <a:t>The two main components of a transformation </a:t>
          </a:r>
          <a:endParaRPr lang="en-US" altLang="en-US" b="1">
            <a:solidFill>
              <a:srgbClr val="000000"/>
            </a:solidFill>
            <a:latin typeface="Times New Roman" panose="02020603050405020304" charset="0"/>
            <a:ea typeface="DM Sans Bold"/>
            <a:cs typeface="Times New Roman" panose="02020603050405020304" charset="0"/>
            <a:sym typeface="DM Sans Bold"/>
          </a:endParaRPr>
        </a:p>
        <a:p>
          <a:pPr lvl="0">
            <a:lnSpc>
              <a:spcPct val="100000"/>
            </a:lnSpc>
            <a:spcBef>
              <a:spcPct val="0"/>
            </a:spcBef>
            <a:spcAft>
              <a:spcPct val="35000"/>
            </a:spcAft>
          </a:pPr>
          <a:r>
            <a:rPr lang="en-US" altLang="en-US" b="1">
              <a:solidFill>
                <a:srgbClr val="000000"/>
              </a:solidFill>
              <a:latin typeface="Times New Roman" panose="02020603050405020304" charset="0"/>
              <a:ea typeface="DM Sans Bold"/>
              <a:cs typeface="Times New Roman" panose="02020603050405020304" charset="0"/>
              <a:sym typeface="DM Sans Bold"/>
            </a:rPr>
            <a:t> </a:t>
          </a:r>
          <a:endParaRPr lang="en-US">
            <a:solidFill>
              <a:schemeClr val="dk1"/>
            </a:solidFill>
          </a:endParaRPr>
        </a:p>
      </dsp:txBody>
      <dsp:txXfrm>
        <a:off x="1339325" y="193371"/>
        <a:ext cx="1827124" cy="1160224"/>
      </dsp:txXfrm>
    </dsp:sp>
    <dsp:sp modelId="{A34195EE-C43D-4F9B-A621-CBE3CC21780D}">
      <dsp:nvSpPr>
        <dsp:cNvPr id="6" name="Rounded Rectangle 5"/>
        <dsp:cNvSpPr/>
      </dsp:nvSpPr>
      <dsp:spPr bwMode="white">
        <a:xfrm>
          <a:off x="19735" y="1693135"/>
          <a:ext cx="1827124" cy="1160224"/>
        </a:xfrm>
        <a:prstGeom prst="roundRect">
          <a:avLst>
            <a:gd name="adj" fmla="val 10000"/>
          </a:avLst>
        </a:prstGeom>
      </dsp:spPr>
      <dsp:style>
        <a:lnRef idx="2">
          <a:schemeClr val="lt1"/>
        </a:lnRef>
        <a:fillRef idx="1">
          <a:schemeClr val="accent1">
            <a:alpha val="70000"/>
            <a:hueOff val="0"/>
            <a:satOff val="0"/>
            <a:lumOff val="0"/>
            <a:alpha val="70196"/>
          </a:schemeClr>
        </a:fillRef>
        <a:effectRef idx="0">
          <a:scrgbClr r="0" g="0" b="0"/>
        </a:effectRef>
        <a:fontRef idx="minor">
          <a:schemeClr val="lt1"/>
        </a:fontRef>
      </dsp:style>
      <dsp:txXfrm>
        <a:off x="19735" y="1693135"/>
        <a:ext cx="1827124" cy="1160224"/>
      </dsp:txXfrm>
    </dsp:sp>
    <dsp:sp modelId="{0EA44707-A464-4EC8-A803-F76ACC6D424E}">
      <dsp:nvSpPr>
        <dsp:cNvPr id="7" name="Rounded Rectangle 6"/>
        <dsp:cNvSpPr/>
      </dsp:nvSpPr>
      <dsp:spPr bwMode="white">
        <a:xfrm>
          <a:off x="222749" y="1885998"/>
          <a:ext cx="1827124" cy="1160224"/>
        </a:xfrm>
        <a:prstGeom prst="roundRect">
          <a:avLst>
            <a:gd name="adj" fmla="val 10000"/>
          </a:avLst>
        </a:prstGeom>
      </dsp:spPr>
      <dsp:style>
        <a:lnRef idx="2">
          <a:schemeClr val="accent1">
            <a:tint val="90000"/>
          </a:schemeClr>
        </a:lnRef>
        <a:fillRef idx="1">
          <a:schemeClr val="lt1">
            <a:alpha val="90000"/>
          </a:schemeClr>
        </a:fillRef>
        <a:effectRef idx="0">
          <a:scrgbClr r="0" g="0" b="0"/>
        </a:effectRef>
        <a:fontRef idx="minor"/>
      </dsp:style>
      <dsp:txBody>
        <a:bodyPr vert="horz" wrap="square" lIns="76200" tIns="76200" rIns="76200" bIns="7620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sz="2000" b="1">
              <a:solidFill>
                <a:schemeClr val="dk1"/>
              </a:solidFill>
            </a:rPr>
            <a:t>Steps</a:t>
          </a:r>
          <a:endParaRPr lang="en-US" sz="2000" b="1">
            <a:solidFill>
              <a:schemeClr val="dk1"/>
            </a:solidFill>
          </a:endParaRPr>
        </a:p>
      </dsp:txBody>
      <dsp:txXfrm>
        <a:off x="222749" y="1885998"/>
        <a:ext cx="1827124" cy="1160224"/>
      </dsp:txXfrm>
    </dsp:sp>
    <dsp:sp modelId="{9BFD9D87-8C19-4DBE-8296-0309769DBFD0}">
      <dsp:nvSpPr>
        <dsp:cNvPr id="15" name="Rounded Rectangle 14"/>
        <dsp:cNvSpPr/>
      </dsp:nvSpPr>
      <dsp:spPr bwMode="white">
        <a:xfrm>
          <a:off x="2252887" y="1693135"/>
          <a:ext cx="1827124" cy="1160224"/>
        </a:xfrm>
        <a:prstGeom prst="roundRect">
          <a:avLst>
            <a:gd name="adj" fmla="val 10000"/>
          </a:avLst>
        </a:prstGeom>
      </dsp:spPr>
      <dsp:style>
        <a:lnRef idx="2">
          <a:schemeClr val="lt1"/>
        </a:lnRef>
        <a:fillRef idx="1">
          <a:schemeClr val="accent1">
            <a:alpha val="70000"/>
            <a:hueOff val="0"/>
            <a:satOff val="0"/>
            <a:lumOff val="0"/>
            <a:alpha val="70196"/>
          </a:schemeClr>
        </a:fillRef>
        <a:effectRef idx="0">
          <a:scrgbClr r="0" g="0" b="0"/>
        </a:effectRef>
        <a:fontRef idx="minor">
          <a:schemeClr val="lt1"/>
        </a:fontRef>
      </dsp:style>
      <dsp:txXfrm>
        <a:off x="2252887" y="1693135"/>
        <a:ext cx="1827124" cy="1160224"/>
      </dsp:txXfrm>
    </dsp:sp>
    <dsp:sp modelId="{C9EEDAB6-9D89-4307-9A78-74562B5413C5}">
      <dsp:nvSpPr>
        <dsp:cNvPr id="16" name="Rounded Rectangle 15"/>
        <dsp:cNvSpPr/>
      </dsp:nvSpPr>
      <dsp:spPr bwMode="white">
        <a:xfrm>
          <a:off x="2455901" y="1885998"/>
          <a:ext cx="1827124" cy="1160224"/>
        </a:xfrm>
        <a:prstGeom prst="roundRect">
          <a:avLst>
            <a:gd name="adj" fmla="val 10000"/>
          </a:avLst>
        </a:prstGeom>
      </dsp:spPr>
      <dsp:style>
        <a:lnRef idx="2">
          <a:schemeClr val="accent1">
            <a:tint val="90000"/>
          </a:schemeClr>
        </a:lnRef>
        <a:fillRef idx="1">
          <a:schemeClr val="lt1">
            <a:alpha val="90000"/>
          </a:schemeClr>
        </a:fillRef>
        <a:effectRef idx="0">
          <a:scrgbClr r="0" g="0" b="0"/>
        </a:effectRef>
        <a:fontRef idx="minor"/>
      </dsp:style>
      <dsp:txBody>
        <a:bodyPr vert="horz" wrap="square" lIns="76200" tIns="76200" rIns="76200" bIns="76200" anchor="ctr"/>
        <a:lstStyle>
          <a:lvl1pPr algn="ctr">
            <a:defRPr sz="14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sz="2000" b="1">
              <a:solidFill>
                <a:schemeClr val="dk1"/>
              </a:solidFill>
            </a:rPr>
            <a:t>Hops</a:t>
          </a:r>
          <a:endParaRPr lang="en-US" sz="2000" b="1">
            <a:solidFill>
              <a:schemeClr val="dk1"/>
            </a:solidFill>
          </a:endParaRPr>
        </a:p>
      </dsp:txBody>
      <dsp:txXfrm>
        <a:off x="2455901" y="1885998"/>
        <a:ext cx="1827124" cy="11602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2.svg"/><Relationship Id="rId4" Type="http://schemas.openxmlformats.org/officeDocument/2006/relationships/image" Target="../media/image1.png"/><Relationship Id="rId35" Type="http://schemas.openxmlformats.org/officeDocument/2006/relationships/slideLayout" Target="../slideLayouts/slideLayout7.xml"/><Relationship Id="rId34" Type="http://schemas.openxmlformats.org/officeDocument/2006/relationships/tags" Target="../tags/tag18.xml"/><Relationship Id="rId33" Type="http://schemas.openxmlformats.org/officeDocument/2006/relationships/tags" Target="../tags/tag17.xml"/><Relationship Id="rId32" Type="http://schemas.openxmlformats.org/officeDocument/2006/relationships/tags" Target="../tags/tag16.xml"/><Relationship Id="rId31" Type="http://schemas.openxmlformats.org/officeDocument/2006/relationships/tags" Target="../tags/tag15.xml"/><Relationship Id="rId30" Type="http://schemas.openxmlformats.org/officeDocument/2006/relationships/tags" Target="../tags/tag14.xml"/><Relationship Id="rId3" Type="http://schemas.openxmlformats.org/officeDocument/2006/relationships/tags" Target="../tags/tag3.xml"/><Relationship Id="rId29" Type="http://schemas.openxmlformats.org/officeDocument/2006/relationships/tags" Target="../tags/tag13.xml"/><Relationship Id="rId28" Type="http://schemas.openxmlformats.org/officeDocument/2006/relationships/image" Target="../media/image16.svg"/><Relationship Id="rId27" Type="http://schemas.openxmlformats.org/officeDocument/2006/relationships/image" Target="../media/image15.png"/><Relationship Id="rId26" Type="http://schemas.openxmlformats.org/officeDocument/2006/relationships/tags" Target="../tags/tag12.xml"/><Relationship Id="rId25" Type="http://schemas.openxmlformats.org/officeDocument/2006/relationships/image" Target="../media/image14.svg"/><Relationship Id="rId24" Type="http://schemas.openxmlformats.org/officeDocument/2006/relationships/image" Target="../media/image13.png"/><Relationship Id="rId23" Type="http://schemas.openxmlformats.org/officeDocument/2006/relationships/image" Target="../media/image12.svg"/><Relationship Id="rId22" Type="http://schemas.openxmlformats.org/officeDocument/2006/relationships/image" Target="../media/image11.png"/><Relationship Id="rId21" Type="http://schemas.openxmlformats.org/officeDocument/2006/relationships/image" Target="../media/image10.svg"/><Relationship Id="rId20" Type="http://schemas.openxmlformats.org/officeDocument/2006/relationships/image" Target="../media/image9.png"/><Relationship Id="rId2" Type="http://schemas.openxmlformats.org/officeDocument/2006/relationships/tags" Target="../tags/tag2.xml"/><Relationship Id="rId19" Type="http://schemas.openxmlformats.org/officeDocument/2006/relationships/tags" Target="../tags/tag11.xml"/><Relationship Id="rId18" Type="http://schemas.openxmlformats.org/officeDocument/2006/relationships/image" Target="../media/image8.svg"/><Relationship Id="rId17" Type="http://schemas.openxmlformats.org/officeDocument/2006/relationships/image" Target="../media/image7.png"/><Relationship Id="rId16" Type="http://schemas.openxmlformats.org/officeDocument/2006/relationships/tags" Target="../tags/tag10.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image" Target="../media/image4.sv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image" Target="../media/image14.svg"/><Relationship Id="rId13" Type="http://schemas.openxmlformats.org/officeDocument/2006/relationships/slideLayout" Target="../slideLayouts/slideLayout7.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9" Type="http://schemas.microsoft.com/office/2007/relationships/diagramDrawing" Target="../diagrams/drawing1.xml"/><Relationship Id="rId8" Type="http://schemas.openxmlformats.org/officeDocument/2006/relationships/diagramColors" Target="../diagrams/colors1.xml"/><Relationship Id="rId7" Type="http://schemas.openxmlformats.org/officeDocument/2006/relationships/diagramQuickStyle" Target="../diagrams/quickStyle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0" Type="http://schemas.openxmlformats.org/officeDocument/2006/relationships/slideLayout" Target="../slideLayouts/slideLayout7.xml"/><Relationship Id="rId1" Type="http://schemas.openxmlformats.org/officeDocument/2006/relationships/image" Target="../media/image11.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svg"/><Relationship Id="rId3" Type="http://schemas.openxmlformats.org/officeDocument/2006/relationships/image" Target="../media/image19.png"/><Relationship Id="rId2" Type="http://schemas.openxmlformats.org/officeDocument/2006/relationships/image" Target="../media/image21.svg"/><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svg"/><Relationship Id="rId3" Type="http://schemas.openxmlformats.org/officeDocument/2006/relationships/image" Target="../media/image19.png"/><Relationship Id="rId2" Type="http://schemas.openxmlformats.org/officeDocument/2006/relationships/image" Target="../media/image23.svg"/><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5" Type="http://schemas.openxmlformats.org/officeDocument/2006/relationships/slideLayout" Target="../slideLayouts/slideLayout7.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svg"/><Relationship Id="rId3" Type="http://schemas.openxmlformats.org/officeDocument/2006/relationships/image" Target="../media/image19.png"/><Relationship Id="rId2" Type="http://schemas.openxmlformats.org/officeDocument/2006/relationships/image" Target="../media/image21.sv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svg"/><Relationship Id="rId3" Type="http://schemas.openxmlformats.org/officeDocument/2006/relationships/image" Target="../media/image19.png"/><Relationship Id="rId2" Type="http://schemas.openxmlformats.org/officeDocument/2006/relationships/image" Target="../media/image23.sv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image" Target="../media/image22.svg"/><Relationship Id="rId3" Type="http://schemas.openxmlformats.org/officeDocument/2006/relationships/image" Target="../media/image19.png"/><Relationship Id="rId2" Type="http://schemas.openxmlformats.org/officeDocument/2006/relationships/image" Target="../media/image21.svg"/><Relationship Id="rId15" Type="http://schemas.openxmlformats.org/officeDocument/2006/relationships/slideLayout" Target="../slideLayouts/slideLayout7.xml"/><Relationship Id="rId14" Type="http://schemas.openxmlformats.org/officeDocument/2006/relationships/tags" Target="../tags/tag48.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tags" Target="../tags/tag44.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19.png"/><Relationship Id="rId2" Type="http://schemas.openxmlformats.org/officeDocument/2006/relationships/image" Target="../media/image27.sv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8.svg"/><Relationship Id="rId3" Type="http://schemas.openxmlformats.org/officeDocument/2006/relationships/image" Target="../media/image19.png"/><Relationship Id="rId2" Type="http://schemas.openxmlformats.org/officeDocument/2006/relationships/image" Target="../media/image27.svg"/><Relationship Id="rId1"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custDataLst>
              <p:tags r:id="rId1"/>
            </p:custDataLst>
          </p:nvPr>
        </p:nvGrpSpPr>
        <p:grpSpPr>
          <a:xfrm rot="0">
            <a:off x="1943035" y="4370580"/>
            <a:ext cx="4195333" cy="3849184"/>
            <a:chOff x="0" y="0"/>
            <a:chExt cx="1104944" cy="1013777"/>
          </a:xfrm>
        </p:grpSpPr>
        <p:sp>
          <p:nvSpPr>
            <p:cNvPr id="3" name="Freeform 3"/>
            <p:cNvSpPr/>
            <p:nvPr>
              <p:custDataLst>
                <p:tags r:id="rId2"/>
              </p:custDataLst>
            </p:nvPr>
          </p:nvSpPr>
          <p:spPr>
            <a:xfrm>
              <a:off x="0" y="0"/>
              <a:ext cx="1104944" cy="1013777"/>
            </a:xfrm>
            <a:custGeom>
              <a:avLst/>
              <a:gdLst/>
              <a:ahLst/>
              <a:cxnLst/>
              <a:rect l="l" t="t" r="r" b="b"/>
              <a:pathLst>
                <a:path w="1104944" h="1013777">
                  <a:moveTo>
                    <a:pt x="27680" y="0"/>
                  </a:moveTo>
                  <a:lnTo>
                    <a:pt x="1077263" y="0"/>
                  </a:lnTo>
                  <a:cubicBezTo>
                    <a:pt x="1084605" y="0"/>
                    <a:pt x="1091645" y="2916"/>
                    <a:pt x="1096836" y="8107"/>
                  </a:cubicBezTo>
                  <a:cubicBezTo>
                    <a:pt x="1102027" y="13299"/>
                    <a:pt x="1104944" y="20339"/>
                    <a:pt x="1104944" y="27680"/>
                  </a:cubicBezTo>
                  <a:lnTo>
                    <a:pt x="1104944" y="986096"/>
                  </a:lnTo>
                  <a:cubicBezTo>
                    <a:pt x="1104944" y="993438"/>
                    <a:pt x="1102027" y="1000478"/>
                    <a:pt x="1096836" y="1005669"/>
                  </a:cubicBezTo>
                  <a:cubicBezTo>
                    <a:pt x="1091645" y="1010860"/>
                    <a:pt x="1084605" y="1013777"/>
                    <a:pt x="1077263" y="1013777"/>
                  </a:cubicBezTo>
                  <a:lnTo>
                    <a:pt x="27680" y="1013777"/>
                  </a:lnTo>
                  <a:cubicBezTo>
                    <a:pt x="20339" y="1013777"/>
                    <a:pt x="13299" y="1010860"/>
                    <a:pt x="8107" y="1005669"/>
                  </a:cubicBezTo>
                  <a:cubicBezTo>
                    <a:pt x="2916" y="1000478"/>
                    <a:pt x="0" y="993438"/>
                    <a:pt x="0" y="986096"/>
                  </a:cubicBezTo>
                  <a:lnTo>
                    <a:pt x="0" y="27680"/>
                  </a:lnTo>
                  <a:cubicBezTo>
                    <a:pt x="0" y="20339"/>
                    <a:pt x="2916" y="13299"/>
                    <a:pt x="8107" y="8107"/>
                  </a:cubicBezTo>
                  <a:cubicBezTo>
                    <a:pt x="13299" y="2916"/>
                    <a:pt x="20339" y="0"/>
                    <a:pt x="27680" y="0"/>
                  </a:cubicBezTo>
                  <a:close/>
                </a:path>
              </a:pathLst>
            </a:custGeom>
            <a:solidFill>
              <a:srgbClr val="E6E6E6"/>
            </a:solidFill>
          </p:spPr>
        </p:sp>
        <p:sp>
          <p:nvSpPr>
            <p:cNvPr id="4" name="TextBox 4"/>
            <p:cNvSpPr txBox="1"/>
            <p:nvPr/>
          </p:nvSpPr>
          <p:spPr>
            <a:xfrm>
              <a:off x="0" y="28575"/>
              <a:ext cx="1104944" cy="985202"/>
            </a:xfrm>
            <a:prstGeom prst="rect">
              <a:avLst/>
            </a:prstGeom>
          </p:spPr>
          <p:txBody>
            <a:bodyPr lIns="50800" tIns="50800" rIns="50800" bIns="50800" rtlCol="0" anchor="ctr"/>
            <a:lstStyle/>
            <a:p>
              <a:pPr algn="ctr">
                <a:lnSpc>
                  <a:spcPts val="2100"/>
                </a:lnSpc>
              </a:pPr>
            </a:p>
          </p:txBody>
        </p:sp>
      </p:grpSp>
      <p:sp>
        <p:nvSpPr>
          <p:cNvPr id="5" name="Freeform 5"/>
          <p:cNvSpPr/>
          <p:nvPr>
            <p:custDataLst>
              <p:tags r:id="rId3"/>
            </p:custDataLst>
          </p:nvPr>
        </p:nvSpPr>
        <p:spPr>
          <a:xfrm>
            <a:off x="1832079" y="3597659"/>
            <a:ext cx="4449164" cy="1545841"/>
          </a:xfrm>
          <a:custGeom>
            <a:avLst/>
            <a:gdLst/>
            <a:ahLst/>
            <a:cxnLst/>
            <a:rect l="l" t="t" r="r" b="b"/>
            <a:pathLst>
              <a:path w="4449164" h="1545841">
                <a:moveTo>
                  <a:pt x="0" y="0"/>
                </a:moveTo>
                <a:lnTo>
                  <a:pt x="4449164" y="0"/>
                </a:lnTo>
                <a:lnTo>
                  <a:pt x="4449164" y="1545841"/>
                </a:lnTo>
                <a:lnTo>
                  <a:pt x="0" y="15458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6" name="Group 6"/>
          <p:cNvGrpSpPr/>
          <p:nvPr>
            <p:custDataLst>
              <p:tags r:id="rId6"/>
            </p:custDataLst>
          </p:nvPr>
        </p:nvGrpSpPr>
        <p:grpSpPr>
          <a:xfrm rot="0">
            <a:off x="7046333" y="4370580"/>
            <a:ext cx="4195333" cy="3849184"/>
            <a:chOff x="0" y="0"/>
            <a:chExt cx="1104944" cy="1013777"/>
          </a:xfrm>
        </p:grpSpPr>
        <p:sp>
          <p:nvSpPr>
            <p:cNvPr id="7" name="Freeform 7"/>
            <p:cNvSpPr/>
            <p:nvPr>
              <p:custDataLst>
                <p:tags r:id="rId7"/>
              </p:custDataLst>
            </p:nvPr>
          </p:nvSpPr>
          <p:spPr>
            <a:xfrm>
              <a:off x="0" y="0"/>
              <a:ext cx="1104944" cy="1013777"/>
            </a:xfrm>
            <a:custGeom>
              <a:avLst/>
              <a:gdLst/>
              <a:ahLst/>
              <a:cxnLst/>
              <a:rect l="l" t="t" r="r" b="b"/>
              <a:pathLst>
                <a:path w="1104944" h="1013777">
                  <a:moveTo>
                    <a:pt x="27680" y="0"/>
                  </a:moveTo>
                  <a:lnTo>
                    <a:pt x="1077263" y="0"/>
                  </a:lnTo>
                  <a:cubicBezTo>
                    <a:pt x="1084605" y="0"/>
                    <a:pt x="1091645" y="2916"/>
                    <a:pt x="1096836" y="8107"/>
                  </a:cubicBezTo>
                  <a:cubicBezTo>
                    <a:pt x="1102027" y="13299"/>
                    <a:pt x="1104944" y="20339"/>
                    <a:pt x="1104944" y="27680"/>
                  </a:cubicBezTo>
                  <a:lnTo>
                    <a:pt x="1104944" y="986096"/>
                  </a:lnTo>
                  <a:cubicBezTo>
                    <a:pt x="1104944" y="993438"/>
                    <a:pt x="1102027" y="1000478"/>
                    <a:pt x="1096836" y="1005669"/>
                  </a:cubicBezTo>
                  <a:cubicBezTo>
                    <a:pt x="1091645" y="1010860"/>
                    <a:pt x="1084605" y="1013777"/>
                    <a:pt x="1077263" y="1013777"/>
                  </a:cubicBezTo>
                  <a:lnTo>
                    <a:pt x="27680" y="1013777"/>
                  </a:lnTo>
                  <a:cubicBezTo>
                    <a:pt x="20339" y="1013777"/>
                    <a:pt x="13299" y="1010860"/>
                    <a:pt x="8107" y="1005669"/>
                  </a:cubicBezTo>
                  <a:cubicBezTo>
                    <a:pt x="2916" y="1000478"/>
                    <a:pt x="0" y="993438"/>
                    <a:pt x="0" y="986096"/>
                  </a:cubicBezTo>
                  <a:lnTo>
                    <a:pt x="0" y="27680"/>
                  </a:lnTo>
                  <a:cubicBezTo>
                    <a:pt x="0" y="20339"/>
                    <a:pt x="2916" y="13299"/>
                    <a:pt x="8107" y="8107"/>
                  </a:cubicBezTo>
                  <a:cubicBezTo>
                    <a:pt x="13299" y="2916"/>
                    <a:pt x="20339" y="0"/>
                    <a:pt x="27680" y="0"/>
                  </a:cubicBezTo>
                  <a:close/>
                </a:path>
              </a:pathLst>
            </a:custGeom>
            <a:solidFill>
              <a:srgbClr val="E6E6E6"/>
            </a:solidFill>
          </p:spPr>
        </p:sp>
        <p:sp>
          <p:nvSpPr>
            <p:cNvPr id="8" name="TextBox 8"/>
            <p:cNvSpPr txBox="1"/>
            <p:nvPr/>
          </p:nvSpPr>
          <p:spPr>
            <a:xfrm>
              <a:off x="0" y="28575"/>
              <a:ext cx="1104944" cy="985202"/>
            </a:xfrm>
            <a:prstGeom prst="rect">
              <a:avLst/>
            </a:prstGeom>
          </p:spPr>
          <p:txBody>
            <a:bodyPr lIns="50800" tIns="50800" rIns="50800" bIns="50800" rtlCol="0" anchor="ctr"/>
            <a:lstStyle/>
            <a:p>
              <a:pPr algn="ctr">
                <a:lnSpc>
                  <a:spcPts val="2100"/>
                </a:lnSpc>
              </a:pPr>
            </a:p>
          </p:txBody>
        </p:sp>
      </p:grpSp>
      <p:sp>
        <p:nvSpPr>
          <p:cNvPr id="9" name="Freeform 9"/>
          <p:cNvSpPr/>
          <p:nvPr>
            <p:custDataLst>
              <p:tags r:id="rId8"/>
            </p:custDataLst>
          </p:nvPr>
        </p:nvSpPr>
        <p:spPr>
          <a:xfrm>
            <a:off x="6919418" y="3597659"/>
            <a:ext cx="4449164" cy="1545841"/>
          </a:xfrm>
          <a:custGeom>
            <a:avLst/>
            <a:gdLst/>
            <a:ahLst/>
            <a:cxnLst/>
            <a:rect l="l" t="t" r="r" b="b"/>
            <a:pathLst>
              <a:path w="4449164" h="1545841">
                <a:moveTo>
                  <a:pt x="0" y="0"/>
                </a:moveTo>
                <a:lnTo>
                  <a:pt x="4449164" y="0"/>
                </a:lnTo>
                <a:lnTo>
                  <a:pt x="4449164" y="1545841"/>
                </a:lnTo>
                <a:lnTo>
                  <a:pt x="0" y="154584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0" name="Group 10"/>
          <p:cNvGrpSpPr/>
          <p:nvPr>
            <p:custDataLst>
              <p:tags r:id="rId11"/>
            </p:custDataLst>
          </p:nvPr>
        </p:nvGrpSpPr>
        <p:grpSpPr>
          <a:xfrm rot="0">
            <a:off x="12130582" y="4370580"/>
            <a:ext cx="4195333" cy="3849184"/>
            <a:chOff x="0" y="0"/>
            <a:chExt cx="1104944" cy="1013777"/>
          </a:xfrm>
        </p:grpSpPr>
        <p:sp>
          <p:nvSpPr>
            <p:cNvPr id="11" name="Freeform 11"/>
            <p:cNvSpPr/>
            <p:nvPr>
              <p:custDataLst>
                <p:tags r:id="rId12"/>
              </p:custDataLst>
            </p:nvPr>
          </p:nvSpPr>
          <p:spPr>
            <a:xfrm>
              <a:off x="0" y="0"/>
              <a:ext cx="1104944" cy="1013777"/>
            </a:xfrm>
            <a:custGeom>
              <a:avLst/>
              <a:gdLst/>
              <a:ahLst/>
              <a:cxnLst/>
              <a:rect l="l" t="t" r="r" b="b"/>
              <a:pathLst>
                <a:path w="1104944" h="1013777">
                  <a:moveTo>
                    <a:pt x="27680" y="0"/>
                  </a:moveTo>
                  <a:lnTo>
                    <a:pt x="1077263" y="0"/>
                  </a:lnTo>
                  <a:cubicBezTo>
                    <a:pt x="1084605" y="0"/>
                    <a:pt x="1091645" y="2916"/>
                    <a:pt x="1096836" y="8107"/>
                  </a:cubicBezTo>
                  <a:cubicBezTo>
                    <a:pt x="1102027" y="13299"/>
                    <a:pt x="1104944" y="20339"/>
                    <a:pt x="1104944" y="27680"/>
                  </a:cubicBezTo>
                  <a:lnTo>
                    <a:pt x="1104944" y="986096"/>
                  </a:lnTo>
                  <a:cubicBezTo>
                    <a:pt x="1104944" y="993438"/>
                    <a:pt x="1102027" y="1000478"/>
                    <a:pt x="1096836" y="1005669"/>
                  </a:cubicBezTo>
                  <a:cubicBezTo>
                    <a:pt x="1091645" y="1010860"/>
                    <a:pt x="1084605" y="1013777"/>
                    <a:pt x="1077263" y="1013777"/>
                  </a:cubicBezTo>
                  <a:lnTo>
                    <a:pt x="27680" y="1013777"/>
                  </a:lnTo>
                  <a:cubicBezTo>
                    <a:pt x="20339" y="1013777"/>
                    <a:pt x="13299" y="1010860"/>
                    <a:pt x="8107" y="1005669"/>
                  </a:cubicBezTo>
                  <a:cubicBezTo>
                    <a:pt x="2916" y="1000478"/>
                    <a:pt x="0" y="993438"/>
                    <a:pt x="0" y="986096"/>
                  </a:cubicBezTo>
                  <a:lnTo>
                    <a:pt x="0" y="27680"/>
                  </a:lnTo>
                  <a:cubicBezTo>
                    <a:pt x="0" y="20339"/>
                    <a:pt x="2916" y="13299"/>
                    <a:pt x="8107" y="8107"/>
                  </a:cubicBezTo>
                  <a:cubicBezTo>
                    <a:pt x="13299" y="2916"/>
                    <a:pt x="20339" y="0"/>
                    <a:pt x="27680" y="0"/>
                  </a:cubicBezTo>
                  <a:close/>
                </a:path>
              </a:pathLst>
            </a:custGeom>
            <a:solidFill>
              <a:srgbClr val="E6E6E6"/>
            </a:solidFill>
          </p:spPr>
        </p:sp>
        <p:sp>
          <p:nvSpPr>
            <p:cNvPr id="12" name="TextBox 12"/>
            <p:cNvSpPr txBox="1"/>
            <p:nvPr/>
          </p:nvSpPr>
          <p:spPr>
            <a:xfrm>
              <a:off x="0" y="28575"/>
              <a:ext cx="1104944" cy="985202"/>
            </a:xfrm>
            <a:prstGeom prst="rect">
              <a:avLst/>
            </a:prstGeom>
          </p:spPr>
          <p:txBody>
            <a:bodyPr lIns="50800" tIns="50800" rIns="50800" bIns="50800" rtlCol="0" anchor="ctr"/>
            <a:lstStyle/>
            <a:p>
              <a:pPr algn="ctr">
                <a:lnSpc>
                  <a:spcPts val="2100"/>
                </a:lnSpc>
              </a:pPr>
            </a:p>
          </p:txBody>
        </p:sp>
      </p:grpSp>
      <p:sp>
        <p:nvSpPr>
          <p:cNvPr id="13" name="Freeform 13"/>
          <p:cNvSpPr/>
          <p:nvPr>
            <p:custDataLst>
              <p:tags r:id="rId13"/>
            </p:custDataLst>
          </p:nvPr>
        </p:nvSpPr>
        <p:spPr>
          <a:xfrm>
            <a:off x="12006757" y="3597659"/>
            <a:ext cx="4449164" cy="1545841"/>
          </a:xfrm>
          <a:custGeom>
            <a:avLst/>
            <a:gdLst/>
            <a:ahLst/>
            <a:cxnLst/>
            <a:rect l="l" t="t" r="r" b="b"/>
            <a:pathLst>
              <a:path w="4449164" h="1545841">
                <a:moveTo>
                  <a:pt x="0" y="0"/>
                </a:moveTo>
                <a:lnTo>
                  <a:pt x="4449164" y="0"/>
                </a:lnTo>
                <a:lnTo>
                  <a:pt x="4449164" y="1545841"/>
                </a:lnTo>
                <a:lnTo>
                  <a:pt x="0" y="15458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4" name="Freeform 14"/>
          <p:cNvSpPr/>
          <p:nvPr>
            <p:custDataLst>
              <p:tags r:id="rId16"/>
            </p:custDataLst>
          </p:nvPr>
        </p:nvSpPr>
        <p:spPr>
          <a:xfrm>
            <a:off x="2323854" y="4077210"/>
            <a:ext cx="586740" cy="586740"/>
          </a:xfrm>
          <a:custGeom>
            <a:avLst/>
            <a:gdLst/>
            <a:ahLst/>
            <a:cxnLst/>
            <a:rect l="l" t="t" r="r" b="b"/>
            <a:pathLst>
              <a:path w="586740" h="586740">
                <a:moveTo>
                  <a:pt x="0" y="0"/>
                </a:moveTo>
                <a:lnTo>
                  <a:pt x="586740" y="0"/>
                </a:lnTo>
                <a:lnTo>
                  <a:pt x="586740" y="586740"/>
                </a:lnTo>
                <a:lnTo>
                  <a:pt x="0" y="58674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15" name="Freeform 15"/>
          <p:cNvSpPr/>
          <p:nvPr>
            <p:custDataLst>
              <p:tags r:id="rId19"/>
            </p:custDataLst>
          </p:nvPr>
        </p:nvSpPr>
        <p:spPr>
          <a:xfrm>
            <a:off x="7448657" y="4143446"/>
            <a:ext cx="417651" cy="454268"/>
          </a:xfrm>
          <a:custGeom>
            <a:avLst/>
            <a:gdLst/>
            <a:ahLst/>
            <a:cxnLst/>
            <a:rect l="l" t="t" r="r" b="b"/>
            <a:pathLst>
              <a:path w="417651" h="454268">
                <a:moveTo>
                  <a:pt x="0" y="0"/>
                </a:moveTo>
                <a:lnTo>
                  <a:pt x="417651" y="0"/>
                </a:lnTo>
                <a:lnTo>
                  <a:pt x="417651" y="454268"/>
                </a:lnTo>
                <a:lnTo>
                  <a:pt x="0" y="454268"/>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sp>
        <p:nvSpPr>
          <p:cNvPr id="16" name="Freeform 16"/>
          <p:cNvSpPr/>
          <p:nvPr/>
        </p:nvSpPr>
        <p:spPr>
          <a:xfrm>
            <a:off x="5597" y="0"/>
            <a:ext cx="2904997" cy="1728925"/>
          </a:xfrm>
          <a:custGeom>
            <a:avLst/>
            <a:gdLst/>
            <a:ahLst/>
            <a:cxnLst/>
            <a:rect l="l" t="t" r="r" b="b"/>
            <a:pathLst>
              <a:path w="2904997" h="1728925">
                <a:moveTo>
                  <a:pt x="0" y="0"/>
                </a:moveTo>
                <a:lnTo>
                  <a:pt x="2904997" y="0"/>
                </a:lnTo>
                <a:lnTo>
                  <a:pt x="2904997" y="1728925"/>
                </a:lnTo>
                <a:lnTo>
                  <a:pt x="0" y="172892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sp>
        <p:nvSpPr>
          <p:cNvPr id="17" name="Freeform 17"/>
          <p:cNvSpPr/>
          <p:nvPr/>
        </p:nvSpPr>
        <p:spPr>
          <a:xfrm>
            <a:off x="15441757" y="8543543"/>
            <a:ext cx="2846243" cy="1733621"/>
          </a:xfrm>
          <a:custGeom>
            <a:avLst/>
            <a:gdLst/>
            <a:ahLst/>
            <a:cxnLst/>
            <a:rect l="l" t="t" r="r" b="b"/>
            <a:pathLst>
              <a:path w="2846243" h="1733621">
                <a:moveTo>
                  <a:pt x="0" y="0"/>
                </a:moveTo>
                <a:lnTo>
                  <a:pt x="2846243" y="0"/>
                </a:lnTo>
                <a:lnTo>
                  <a:pt x="2846243" y="1733620"/>
                </a:lnTo>
                <a:lnTo>
                  <a:pt x="0" y="1733620"/>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sp>
        <p:nvSpPr>
          <p:cNvPr id="18" name="Freeform 18"/>
          <p:cNvSpPr/>
          <p:nvPr>
            <p:custDataLst>
              <p:tags r:id="rId26"/>
            </p:custDataLst>
          </p:nvPr>
        </p:nvSpPr>
        <p:spPr>
          <a:xfrm>
            <a:off x="12535360" y="4110082"/>
            <a:ext cx="520995" cy="520995"/>
          </a:xfrm>
          <a:custGeom>
            <a:avLst/>
            <a:gdLst/>
            <a:ahLst/>
            <a:cxnLst/>
            <a:rect l="l" t="t" r="r" b="b"/>
            <a:pathLst>
              <a:path w="520995" h="520995">
                <a:moveTo>
                  <a:pt x="0" y="0"/>
                </a:moveTo>
                <a:lnTo>
                  <a:pt x="520994" y="0"/>
                </a:lnTo>
                <a:lnTo>
                  <a:pt x="520994" y="520995"/>
                </a:lnTo>
                <a:lnTo>
                  <a:pt x="0" y="520995"/>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9" name="TextBox 19"/>
          <p:cNvSpPr txBox="1"/>
          <p:nvPr/>
        </p:nvSpPr>
        <p:spPr>
          <a:xfrm>
            <a:off x="3096981" y="1065914"/>
            <a:ext cx="11716793" cy="1508125"/>
          </a:xfrm>
          <a:prstGeom prst="rect">
            <a:avLst/>
          </a:prstGeom>
        </p:spPr>
        <p:txBody>
          <a:bodyPr lIns="0" tIns="0" rIns="0" bIns="0" rtlCol="0" anchor="t">
            <a:spAutoFit/>
          </a:bodyPr>
          <a:lstStyle/>
          <a:p>
            <a:pPr algn="ctr">
              <a:lnSpc>
                <a:spcPts val="5880"/>
              </a:lnSpc>
            </a:pPr>
            <a:r>
              <a:rPr lang="en-US" sz="4200" b="1">
                <a:solidFill>
                  <a:srgbClr val="000000"/>
                </a:solidFill>
                <a:latin typeface="Times New Roman" panose="02020603050405020304" charset="0"/>
                <a:ea typeface="DM Sans Bold"/>
                <a:cs typeface="Times New Roman" panose="02020603050405020304" charset="0"/>
                <a:sym typeface="DM Sans Bold"/>
              </a:rPr>
              <a:t>Understanding ETL &amp; Orchestration Tools: Pentaho vs Apache Airflow vs Dagster</a:t>
            </a:r>
            <a:endParaRPr lang="en-US" sz="4200" b="1">
              <a:solidFill>
                <a:srgbClr val="000000"/>
              </a:solidFill>
              <a:latin typeface="Times New Roman" panose="02020603050405020304" charset="0"/>
              <a:ea typeface="DM Sans Bold"/>
              <a:cs typeface="Times New Roman" panose="02020603050405020304" charset="0"/>
              <a:sym typeface="DM Sans Bold"/>
            </a:endParaRPr>
          </a:p>
        </p:txBody>
      </p:sp>
      <p:sp>
        <p:nvSpPr>
          <p:cNvPr id="20" name="TextBox 20"/>
          <p:cNvSpPr txBox="1"/>
          <p:nvPr>
            <p:custDataLst>
              <p:tags r:id="rId29"/>
            </p:custDataLst>
          </p:nvPr>
        </p:nvSpPr>
        <p:spPr>
          <a:xfrm>
            <a:off x="3200224" y="4239331"/>
            <a:ext cx="2718434" cy="269240"/>
          </a:xfrm>
          <a:prstGeom prst="rect">
            <a:avLst/>
          </a:prstGeom>
        </p:spPr>
        <p:txBody>
          <a:bodyPr lIns="0" tIns="0" rIns="0" bIns="0" rtlCol="0" anchor="t">
            <a:spAutoFit/>
          </a:bodyPr>
          <a:lstStyle/>
          <a:p>
            <a:pPr algn="ctr">
              <a:lnSpc>
                <a:spcPts val="2100"/>
              </a:lnSpc>
            </a:pPr>
            <a:r>
              <a:rPr lang="en-US" sz="2100" b="1">
                <a:solidFill>
                  <a:srgbClr val="000000"/>
                </a:solidFill>
                <a:latin typeface="Times New Roman" panose="02020603050405020304" charset="0"/>
                <a:ea typeface="DM Sans Bold"/>
                <a:cs typeface="Times New Roman" panose="02020603050405020304" charset="0"/>
                <a:sym typeface="DM Sans Bold"/>
              </a:rPr>
              <a:t>Penta</a:t>
            </a:r>
            <a:r>
              <a:rPr lang="en-US" sz="2100" b="1">
                <a:solidFill>
                  <a:srgbClr val="000000"/>
                </a:solidFill>
                <a:latin typeface="Times New Roman" panose="02020603050405020304" charset="0"/>
                <a:ea typeface="DM Sans Bold"/>
                <a:cs typeface="Times New Roman" panose="02020603050405020304" charset="0"/>
                <a:sym typeface="DM Sans Bold"/>
              </a:rPr>
              <a:t>ho</a:t>
            </a:r>
            <a:endParaRPr lang="en-US" sz="2100" b="1">
              <a:solidFill>
                <a:srgbClr val="000000"/>
              </a:solidFill>
              <a:latin typeface="Times New Roman" panose="02020603050405020304" charset="0"/>
              <a:ea typeface="DM Sans Bold"/>
              <a:cs typeface="Times New Roman" panose="02020603050405020304" charset="0"/>
              <a:sym typeface="DM Sans Bold"/>
            </a:endParaRPr>
          </a:p>
        </p:txBody>
      </p:sp>
      <p:sp>
        <p:nvSpPr>
          <p:cNvPr id="21" name="TextBox 21"/>
          <p:cNvSpPr txBox="1"/>
          <p:nvPr>
            <p:custDataLst>
              <p:tags r:id="rId30"/>
            </p:custDataLst>
          </p:nvPr>
        </p:nvSpPr>
        <p:spPr>
          <a:xfrm>
            <a:off x="8437245" y="4239135"/>
            <a:ext cx="2718434" cy="269240"/>
          </a:xfrm>
          <a:prstGeom prst="rect">
            <a:avLst/>
          </a:prstGeom>
        </p:spPr>
        <p:txBody>
          <a:bodyPr lIns="0" tIns="0" rIns="0" bIns="0" rtlCol="0" anchor="t">
            <a:spAutoFit/>
          </a:bodyPr>
          <a:lstStyle/>
          <a:p>
            <a:pPr algn="ctr">
              <a:lnSpc>
                <a:spcPts val="2100"/>
              </a:lnSpc>
            </a:pPr>
            <a:r>
              <a:rPr lang="en-US" sz="2100" b="1">
                <a:solidFill>
                  <a:srgbClr val="000000"/>
                </a:solidFill>
                <a:latin typeface="Times New Roman" panose="02020603050405020304" charset="0"/>
                <a:ea typeface="DM Sans Bold"/>
                <a:cs typeface="Times New Roman" panose="02020603050405020304" charset="0"/>
                <a:sym typeface="DM Sans Bold"/>
              </a:rPr>
              <a:t>Apache Airflow</a:t>
            </a:r>
            <a:endParaRPr lang="en-US" sz="2100" b="1">
              <a:solidFill>
                <a:srgbClr val="FFFFFF"/>
              </a:solidFill>
              <a:latin typeface="DM Sans Bold"/>
              <a:ea typeface="DM Sans Bold"/>
              <a:cs typeface="DM Sans Bold"/>
              <a:sym typeface="DM Sans Bold"/>
            </a:endParaRPr>
          </a:p>
        </p:txBody>
      </p:sp>
      <p:sp>
        <p:nvSpPr>
          <p:cNvPr id="22" name="TextBox 22"/>
          <p:cNvSpPr txBox="1"/>
          <p:nvPr>
            <p:custDataLst>
              <p:tags r:id="rId31"/>
            </p:custDataLst>
          </p:nvPr>
        </p:nvSpPr>
        <p:spPr>
          <a:xfrm>
            <a:off x="13454557" y="4239135"/>
            <a:ext cx="2718434" cy="269240"/>
          </a:xfrm>
          <a:prstGeom prst="rect">
            <a:avLst/>
          </a:prstGeom>
        </p:spPr>
        <p:txBody>
          <a:bodyPr lIns="0" tIns="0" rIns="0" bIns="0" rtlCol="0" anchor="t">
            <a:spAutoFit/>
          </a:bodyPr>
          <a:lstStyle/>
          <a:p>
            <a:pPr algn="ctr">
              <a:lnSpc>
                <a:spcPts val="2100"/>
              </a:lnSpc>
            </a:pPr>
            <a:r>
              <a:rPr lang="en-US" sz="2100" b="1">
                <a:solidFill>
                  <a:srgbClr val="000000"/>
                </a:solidFill>
                <a:latin typeface="Times New Roman" panose="02020603050405020304" charset="0"/>
                <a:ea typeface="DM Sans Bold"/>
                <a:cs typeface="Times New Roman" panose="02020603050405020304" charset="0"/>
                <a:sym typeface="DM Sans Bold"/>
              </a:rPr>
              <a:t>Da</a:t>
            </a:r>
            <a:r>
              <a:rPr lang="en-US" sz="2100" b="1">
                <a:solidFill>
                  <a:srgbClr val="000000"/>
                </a:solidFill>
                <a:latin typeface="Times New Roman" panose="02020603050405020304" charset="0"/>
                <a:ea typeface="DM Sans Bold"/>
                <a:cs typeface="Times New Roman" panose="02020603050405020304" charset="0"/>
                <a:sym typeface="DM Sans Bold"/>
              </a:rPr>
              <a:t>gster</a:t>
            </a:r>
            <a:endParaRPr lang="en-US" sz="2100" b="1">
              <a:solidFill>
                <a:srgbClr val="000000"/>
              </a:solidFill>
              <a:latin typeface="Times New Roman" panose="02020603050405020304" charset="0"/>
              <a:ea typeface="DM Sans Bold"/>
              <a:cs typeface="Times New Roman" panose="02020603050405020304" charset="0"/>
              <a:sym typeface="DM Sans Bold"/>
            </a:endParaRPr>
          </a:p>
        </p:txBody>
      </p:sp>
      <p:sp>
        <p:nvSpPr>
          <p:cNvPr id="23" name="TextBox 23"/>
          <p:cNvSpPr txBox="1"/>
          <p:nvPr>
            <p:custDataLst>
              <p:tags r:id="rId32"/>
            </p:custDataLst>
          </p:nvPr>
        </p:nvSpPr>
        <p:spPr>
          <a:xfrm>
            <a:off x="2495426" y="5811788"/>
            <a:ext cx="3122470" cy="941071"/>
          </a:xfrm>
          <a:prstGeom prst="rect">
            <a:avLst/>
          </a:prstGeom>
        </p:spPr>
        <p:txBody>
          <a:bodyPr lIns="0" tIns="0" rIns="0" bIns="0" rtlCol="0" anchor="t">
            <a:spAutoFit/>
          </a:bodyPr>
          <a:lstStyle/>
          <a:p>
            <a:pPr algn="l">
              <a:lnSpc>
                <a:spcPts val="3780"/>
              </a:lnSpc>
            </a:pPr>
            <a:r>
              <a:rPr lang="en-US" sz="2700">
                <a:solidFill>
                  <a:srgbClr val="545454"/>
                </a:solidFill>
                <a:latin typeface="Canva Sans" panose="020B0503030501040103"/>
                <a:ea typeface="Canva Sans" panose="020B0503030501040103"/>
                <a:cs typeface="Canva Sans" panose="020B0503030501040103"/>
                <a:sym typeface="Canva Sans" panose="020B0503030501040103"/>
              </a:rPr>
              <a:t>GU</a:t>
            </a:r>
            <a:r>
              <a:rPr lang="en-US" sz="2700">
                <a:solidFill>
                  <a:srgbClr val="545454"/>
                </a:solidFill>
                <a:latin typeface="Canva Sans" panose="020B0503030501040103"/>
                <a:ea typeface="Canva Sans" panose="020B0503030501040103"/>
                <a:cs typeface="Canva Sans" panose="020B0503030501040103"/>
                <a:sym typeface="Canva Sans" panose="020B0503030501040103"/>
              </a:rPr>
              <a:t>I-based ETL (drag-and-drop)</a:t>
            </a:r>
            <a:endParaRPr lang="en-US" sz="2700">
              <a:solidFill>
                <a:srgbClr val="545454"/>
              </a:solidFill>
              <a:latin typeface="Canva Sans" panose="020B0503030501040103"/>
              <a:ea typeface="Canva Sans" panose="020B0503030501040103"/>
              <a:cs typeface="Canva Sans" panose="020B0503030501040103"/>
              <a:sym typeface="Canva Sans" panose="020B0503030501040103"/>
            </a:endParaRPr>
          </a:p>
        </p:txBody>
      </p:sp>
      <p:sp>
        <p:nvSpPr>
          <p:cNvPr id="24" name="TextBox 24"/>
          <p:cNvSpPr txBox="1"/>
          <p:nvPr>
            <p:custDataLst>
              <p:tags r:id="rId33"/>
            </p:custDataLst>
          </p:nvPr>
        </p:nvSpPr>
        <p:spPr>
          <a:xfrm>
            <a:off x="7657483" y="5811788"/>
            <a:ext cx="3219150" cy="1417321"/>
          </a:xfrm>
          <a:prstGeom prst="rect">
            <a:avLst/>
          </a:prstGeom>
        </p:spPr>
        <p:txBody>
          <a:bodyPr lIns="0" tIns="0" rIns="0" bIns="0" rtlCol="0" anchor="t">
            <a:spAutoFit/>
          </a:bodyPr>
          <a:lstStyle/>
          <a:p>
            <a:pPr algn="l">
              <a:lnSpc>
                <a:spcPts val="3780"/>
              </a:lnSpc>
            </a:pPr>
            <a:r>
              <a:rPr lang="en-US" sz="2700">
                <a:solidFill>
                  <a:srgbClr val="545454"/>
                </a:solidFill>
                <a:latin typeface="Canva Sans" panose="020B0503030501040103"/>
                <a:ea typeface="Canva Sans" panose="020B0503030501040103"/>
                <a:cs typeface="Canva Sans" panose="020B0503030501040103"/>
                <a:sym typeface="Canva Sans" panose="020B0503030501040103"/>
              </a:rPr>
              <a:t>W</a:t>
            </a:r>
            <a:r>
              <a:rPr lang="en-US" sz="2700">
                <a:solidFill>
                  <a:srgbClr val="545454"/>
                </a:solidFill>
                <a:latin typeface="Canva Sans" panose="020B0503030501040103"/>
                <a:ea typeface="Canva Sans" panose="020B0503030501040103"/>
                <a:cs typeface="Canva Sans" panose="020B0503030501040103"/>
                <a:sym typeface="Canva Sans" panose="020B0503030501040103"/>
              </a:rPr>
              <a:t>orkflow orchestration using DAGs (Python)</a:t>
            </a:r>
            <a:endParaRPr lang="en-US" sz="2700">
              <a:solidFill>
                <a:srgbClr val="545454"/>
              </a:solidFill>
              <a:latin typeface="Canva Sans" panose="020B0503030501040103"/>
              <a:ea typeface="Canva Sans" panose="020B0503030501040103"/>
              <a:cs typeface="Canva Sans" panose="020B0503030501040103"/>
              <a:sym typeface="Canva Sans" panose="020B0503030501040103"/>
            </a:endParaRPr>
          </a:p>
        </p:txBody>
      </p:sp>
      <p:sp>
        <p:nvSpPr>
          <p:cNvPr id="25" name="TextBox 25"/>
          <p:cNvSpPr txBox="1"/>
          <p:nvPr>
            <p:custDataLst>
              <p:tags r:id="rId34"/>
            </p:custDataLst>
          </p:nvPr>
        </p:nvSpPr>
        <p:spPr>
          <a:xfrm>
            <a:off x="12570573" y="5684152"/>
            <a:ext cx="3602419" cy="1893571"/>
          </a:xfrm>
          <a:prstGeom prst="rect">
            <a:avLst/>
          </a:prstGeom>
        </p:spPr>
        <p:txBody>
          <a:bodyPr lIns="0" tIns="0" rIns="0" bIns="0" rtlCol="0" anchor="t">
            <a:spAutoFit/>
          </a:bodyPr>
          <a:lstStyle/>
          <a:p>
            <a:pPr algn="l">
              <a:lnSpc>
                <a:spcPts val="3780"/>
              </a:lnSpc>
            </a:pPr>
            <a:r>
              <a:rPr lang="en-US" sz="2700">
                <a:solidFill>
                  <a:srgbClr val="545454"/>
                </a:solidFill>
                <a:latin typeface="Canva Sans" panose="020B0503030501040103"/>
                <a:ea typeface="Canva Sans" panose="020B0503030501040103"/>
                <a:cs typeface="Canva Sans" panose="020B0503030501040103"/>
                <a:sym typeface="Canva Sans" panose="020B0503030501040103"/>
              </a:rPr>
              <a:t>Mo</a:t>
            </a:r>
            <a:r>
              <a:rPr lang="en-US" sz="2700">
                <a:solidFill>
                  <a:srgbClr val="545454"/>
                </a:solidFill>
                <a:latin typeface="Canva Sans" panose="020B0503030501040103"/>
                <a:ea typeface="Canva Sans" panose="020B0503030501040103"/>
                <a:cs typeface="Canva Sans" panose="020B0503030501040103"/>
                <a:sym typeface="Canva Sans" panose="020B0503030501040103"/>
              </a:rPr>
              <a:t>dern data orchestration with strong data validation</a:t>
            </a:r>
            <a:endParaRPr lang="en-US" sz="2700">
              <a:solidFill>
                <a:srgbClr val="545454"/>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6165" y="723900"/>
            <a:ext cx="5541010" cy="753745"/>
          </a:xfrm>
          <a:prstGeom prst="rect">
            <a:avLst/>
          </a:prstGeom>
        </p:spPr>
        <p:txBody>
          <a:bodyPr wrap="square" lIns="0" tIns="0" rIns="0" bIns="0" rtlCol="0" anchor="t">
            <a:spAutoFit/>
          </a:bodyPr>
          <a:lstStyle/>
          <a:p>
            <a:pPr algn="ctr">
              <a:lnSpc>
                <a:spcPts val="5880"/>
              </a:lnSpc>
            </a:pPr>
            <a:r>
              <a:rPr lang="en-US" sz="4200" b="1">
                <a:solidFill>
                  <a:srgbClr val="000000"/>
                </a:solidFill>
                <a:latin typeface="DM Sans Bold"/>
                <a:ea typeface="DM Sans Bold"/>
                <a:cs typeface="DM Sans Bold"/>
                <a:sym typeface="DM Sans Bold"/>
              </a:rPr>
              <a:t> Pentaho</a:t>
            </a:r>
            <a:endParaRPr lang="en-US" sz="4200" b="1">
              <a:solidFill>
                <a:srgbClr val="000000"/>
              </a:solidFill>
              <a:latin typeface="DM Sans Bold"/>
              <a:ea typeface="DM Sans Bold"/>
              <a:cs typeface="DM Sans Bold"/>
              <a:sym typeface="DM Sans Bold"/>
            </a:endParaRPr>
          </a:p>
        </p:txBody>
      </p:sp>
      <p:sp>
        <p:nvSpPr>
          <p:cNvPr id="3" name="Freeform 3"/>
          <p:cNvSpPr/>
          <p:nvPr/>
        </p:nvSpPr>
        <p:spPr>
          <a:xfrm flipV="1">
            <a:off x="15441757" y="0"/>
            <a:ext cx="2846243" cy="1733621"/>
          </a:xfrm>
          <a:custGeom>
            <a:avLst/>
            <a:gdLst/>
            <a:ahLst/>
            <a:cxnLst/>
            <a:rect l="l" t="t" r="r" b="b"/>
            <a:pathLst>
              <a:path w="2846243" h="1733621">
                <a:moveTo>
                  <a:pt x="0" y="1733621"/>
                </a:moveTo>
                <a:lnTo>
                  <a:pt x="2846243" y="1733621"/>
                </a:lnTo>
                <a:lnTo>
                  <a:pt x="2846243" y="0"/>
                </a:lnTo>
                <a:lnTo>
                  <a:pt x="0" y="0"/>
                </a:lnTo>
                <a:lnTo>
                  <a:pt x="0" y="1733621"/>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85800" y="1866900"/>
            <a:ext cx="15838805" cy="807720"/>
          </a:xfrm>
          <a:prstGeom prst="rect">
            <a:avLst/>
          </a:prstGeom>
        </p:spPr>
        <p:txBody>
          <a:bodyPr wrap="square" lIns="0" tIns="0" rIns="0" bIns="0" rtlCol="0" anchor="t">
            <a:spAutoFit/>
          </a:bodyPr>
          <a:lstStyle/>
          <a:p>
            <a:pPr marL="342900" indent="-342900" algn="ctr">
              <a:lnSpc>
                <a:spcPts val="2100"/>
              </a:lnSpc>
              <a:spcBef>
                <a:spcPct val="0"/>
              </a:spcBef>
              <a:buFont typeface="Arial" panose="020B0604020202020204" pitchFamily="34" charset="0"/>
              <a:buChar char="•"/>
            </a:pPr>
            <a:r>
              <a:rPr lang="en-US" sz="2100" b="1">
                <a:solidFill>
                  <a:srgbClr val="000000"/>
                </a:solidFill>
                <a:latin typeface="Times New Roman" panose="02020603050405020304" charset="0"/>
                <a:ea typeface="DM Sans Bold"/>
                <a:cs typeface="Times New Roman" panose="02020603050405020304" charset="0"/>
                <a:sym typeface="DM Sans Bold"/>
              </a:rPr>
              <a:t>Pentaho Data Integration(PDI)- uses a workflow metaphor as building blocks for transforming your data and other tasks. Workflows are built using steps or entries as you create transformations and jobs. Each step or entry is joined by a hop which passes the flow of data from one item to the next.</a:t>
            </a:r>
            <a:endParaRPr lang="en-US" sz="2100" b="1">
              <a:solidFill>
                <a:srgbClr val="000000"/>
              </a:solidFill>
              <a:latin typeface="Times New Roman" panose="02020603050405020304" charset="0"/>
              <a:ea typeface="DM Sans Bold"/>
              <a:cs typeface="Times New Roman" panose="02020603050405020304" charset="0"/>
              <a:sym typeface="DM Sans Bold"/>
            </a:endParaRPr>
          </a:p>
        </p:txBody>
      </p:sp>
      <p:sp>
        <p:nvSpPr>
          <p:cNvPr id="5" name="Text Box 4"/>
          <p:cNvSpPr txBox="1"/>
          <p:nvPr/>
        </p:nvSpPr>
        <p:spPr>
          <a:xfrm>
            <a:off x="762000" y="2933700"/>
            <a:ext cx="16000730" cy="6270625"/>
          </a:xfrm>
          <a:prstGeom prst="rect">
            <a:avLst/>
          </a:prstGeom>
        </p:spPr>
        <p:txBody>
          <a:bodyPr>
            <a:noAutofit/>
          </a:bodyPr>
          <a:p>
            <a:r>
              <a:rPr sz="2600" b="1">
                <a:latin typeface="Times New Roman" panose="02020603050405020304" charset="0"/>
                <a:cs typeface="Times New Roman" panose="02020603050405020304" charset="0"/>
              </a:rPr>
              <a:t>How PDI Works</a:t>
            </a:r>
            <a:r>
              <a:rPr lang="en-US" sz="2600" b="1">
                <a:latin typeface="Times New Roman" panose="02020603050405020304" charset="0"/>
                <a:cs typeface="Times New Roman" panose="02020603050405020304" charset="0"/>
              </a:rPr>
              <a:t>?</a:t>
            </a:r>
            <a:endParaRPr lang="en-US" sz="2600"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endParaRPr lang="en-US"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300" b="1">
                <a:latin typeface="Times New Roman" panose="02020603050405020304" charset="0"/>
                <a:cs typeface="Times New Roman" panose="02020603050405020304" charset="0"/>
              </a:rPr>
              <a:t>Source: Where data comes from</a:t>
            </a:r>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300" b="1">
                <a:latin typeface="Times New Roman" panose="02020603050405020304" charset="0"/>
                <a:cs typeface="Times New Roman" panose="02020603050405020304" charset="0"/>
              </a:rPr>
              <a:t>Transformation: How data is processed</a:t>
            </a:r>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300" b="1">
                <a:latin typeface="Times New Roman" panose="02020603050405020304" charset="0"/>
                <a:cs typeface="Times New Roman" panose="02020603050405020304" charset="0"/>
              </a:rPr>
              <a:t>Target: Where data is finally stored</a:t>
            </a:r>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sz="2300" b="1">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rPr>
              <a:t>➡CSV File → </a:t>
            </a:r>
            <a:r>
              <a:rPr lang="zh-CN" altLang="en-US" sz="2300" b="1">
                <a:latin typeface="Times New Roman" panose="02020603050405020304" charset="0"/>
                <a:cs typeface="Times New Roman" panose="02020603050405020304" charset="0"/>
              </a:rPr>
              <a:t>⚙</a:t>
            </a:r>
            <a:r>
              <a:rPr lang="en-US" altLang="en-US" sz="2300" b="1">
                <a:latin typeface="Times New Roman" panose="02020603050405020304" charset="0"/>
                <a:cs typeface="Times New Roman" panose="02020603050405020304" charset="0"/>
              </a:rPr>
              <a:t>Transformation → </a:t>
            </a:r>
            <a:r>
              <a:rPr lang="zh-CN" altLang="en-US" sz="2300" b="1">
                <a:latin typeface="Times New Roman" panose="02020603050405020304" charset="0"/>
                <a:cs typeface="Times New Roman" panose="02020603050405020304" charset="0"/>
              </a:rPr>
              <a:t>🗄</a:t>
            </a:r>
            <a:r>
              <a:rPr lang="en-US" altLang="zh-CN" sz="2300" b="1">
                <a:latin typeface="Times New Roman" panose="02020603050405020304" charset="0"/>
                <a:cs typeface="Times New Roman" panose="02020603050405020304" charset="0"/>
              </a:rPr>
              <a:t> </a:t>
            </a:r>
            <a:r>
              <a:rPr lang="en-US" altLang="en-US" sz="2300" b="1">
                <a:latin typeface="Times New Roman" panose="02020603050405020304" charset="0"/>
                <a:cs typeface="Times New Roman" panose="02020603050405020304" charset="0"/>
              </a:rPr>
              <a:t>Database</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2300" b="1">
                <a:latin typeface="Times New Roman" panose="02020603050405020304" charset="0"/>
                <a:cs typeface="Times New Roman" panose="02020603050405020304" charset="0"/>
              </a:rPr>
              <a:t>Spoon is the design tool in Pentaho that allows users to create, edit, and execute ETL pipelines using a graphical interface.</a:t>
            </a:r>
            <a:endParaRPr lang="en-US" altLang="en-US" sz="2300" b="1">
              <a:latin typeface="Times New Roman" panose="02020603050405020304" charset="0"/>
              <a:cs typeface="Times New Roman" panose="02020603050405020304" charset="0"/>
            </a:endParaRPr>
          </a:p>
        </p:txBody>
      </p:sp>
      <p:grpSp>
        <p:nvGrpSpPr>
          <p:cNvPr id="6" name="Group 2"/>
          <p:cNvGrpSpPr/>
          <p:nvPr>
            <p:custDataLst>
              <p:tags r:id="rId3"/>
            </p:custDataLst>
          </p:nvPr>
        </p:nvGrpSpPr>
        <p:grpSpPr>
          <a:xfrm rot="0">
            <a:off x="1322791" y="3954578"/>
            <a:ext cx="3766865" cy="937925"/>
            <a:chOff x="0" y="0"/>
            <a:chExt cx="992096" cy="247026"/>
          </a:xfrm>
        </p:grpSpPr>
        <p:sp>
          <p:nvSpPr>
            <p:cNvPr id="7" name="Freeform 3"/>
            <p:cNvSpPr/>
            <p:nvPr>
              <p:custDataLst>
                <p:tags r:id="rId4"/>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3FBA64"/>
            </a:solidFill>
          </p:spPr>
        </p:sp>
        <p:sp>
          <p:nvSpPr>
            <p:cNvPr id="8" name="TextBox 4"/>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9" name="TextBox 6"/>
          <p:cNvSpPr txBox="1"/>
          <p:nvPr>
            <p:custDataLst>
              <p:tags r:id="rId5"/>
            </p:custDataLst>
          </p:nvPr>
        </p:nvSpPr>
        <p:spPr>
          <a:xfrm>
            <a:off x="2173006" y="4289555"/>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Source</a:t>
            </a:r>
            <a:endParaRPr lang="en-US" sz="2100" b="1">
              <a:solidFill>
                <a:srgbClr val="000000"/>
              </a:solidFill>
              <a:latin typeface="DM Sans Bold"/>
              <a:ea typeface="DM Sans Bold"/>
              <a:cs typeface="DM Sans Bold"/>
              <a:sym typeface="DM Sans Bold"/>
            </a:endParaRPr>
          </a:p>
        </p:txBody>
      </p:sp>
      <p:sp>
        <p:nvSpPr>
          <p:cNvPr id="10" name="AutoShape 8"/>
          <p:cNvSpPr/>
          <p:nvPr>
            <p:custDataLst>
              <p:tags r:id="rId6"/>
            </p:custDataLst>
          </p:nvPr>
        </p:nvSpPr>
        <p:spPr>
          <a:xfrm>
            <a:off x="5089656" y="4423540"/>
            <a:ext cx="7337951" cy="0"/>
          </a:xfrm>
          <a:prstGeom prst="line">
            <a:avLst/>
          </a:prstGeom>
          <a:ln w="38100" cap="flat">
            <a:solidFill>
              <a:srgbClr val="A6A6A6"/>
            </a:solidFill>
            <a:prstDash val="solid"/>
            <a:headEnd type="none" w="sm" len="sm"/>
            <a:tailEnd type="none" w="sm" len="sm"/>
          </a:ln>
        </p:spPr>
      </p:sp>
      <p:grpSp>
        <p:nvGrpSpPr>
          <p:cNvPr id="11" name="Group 9"/>
          <p:cNvGrpSpPr/>
          <p:nvPr>
            <p:custDataLst>
              <p:tags r:id="rId7"/>
            </p:custDataLst>
          </p:nvPr>
        </p:nvGrpSpPr>
        <p:grpSpPr>
          <a:xfrm rot="0">
            <a:off x="6489042" y="3954578"/>
            <a:ext cx="3766865" cy="937925"/>
            <a:chOff x="0" y="0"/>
            <a:chExt cx="992096" cy="247026"/>
          </a:xfrm>
        </p:grpSpPr>
        <p:sp>
          <p:nvSpPr>
            <p:cNvPr id="12" name="Freeform 10"/>
            <p:cNvSpPr/>
            <p:nvPr>
              <p:custDataLst>
                <p:tags r:id="rId8"/>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5950C5"/>
            </a:solidFill>
          </p:spPr>
        </p:sp>
        <p:sp>
          <p:nvSpPr>
            <p:cNvPr id="13" name="TextBox 11"/>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14" name="TextBox 12"/>
          <p:cNvSpPr txBox="1"/>
          <p:nvPr>
            <p:custDataLst>
              <p:tags r:id="rId9"/>
            </p:custDataLst>
          </p:nvPr>
        </p:nvSpPr>
        <p:spPr>
          <a:xfrm>
            <a:off x="7381802" y="4289555"/>
            <a:ext cx="2037669" cy="269240"/>
          </a:xfrm>
          <a:prstGeom prst="rect">
            <a:avLst/>
          </a:prstGeom>
        </p:spPr>
        <p:txBody>
          <a:bodyPr lIns="0" tIns="0" rIns="0" bIns="0" rtlCol="0" anchor="t">
            <a:spAutoFit/>
          </a:bodyPr>
          <a:lstStyle/>
          <a:p>
            <a:pPr algn="ctr">
              <a:lnSpc>
                <a:spcPts val="2100"/>
              </a:lnSpc>
            </a:pPr>
            <a:r>
              <a:rPr lang="en-US" sz="2100" b="1">
                <a:solidFill>
                  <a:schemeClr val="tx1"/>
                </a:solidFill>
                <a:latin typeface="DM Sans Bold"/>
                <a:ea typeface="DM Sans Bold"/>
                <a:cs typeface="DM Sans Bold"/>
                <a:sym typeface="DM Sans Bold"/>
              </a:rPr>
              <a:t>Transformation</a:t>
            </a:r>
            <a:endParaRPr lang="en-US" sz="2100" b="1">
              <a:solidFill>
                <a:schemeClr val="tx1"/>
              </a:solidFill>
              <a:latin typeface="DM Sans Bold"/>
              <a:ea typeface="DM Sans Bold"/>
              <a:cs typeface="DM Sans Bold"/>
              <a:sym typeface="DM Sans Bold"/>
            </a:endParaRPr>
          </a:p>
        </p:txBody>
      </p:sp>
      <p:grpSp>
        <p:nvGrpSpPr>
          <p:cNvPr id="15" name="Group 14"/>
          <p:cNvGrpSpPr/>
          <p:nvPr>
            <p:custDataLst>
              <p:tags r:id="rId10"/>
            </p:custDataLst>
          </p:nvPr>
        </p:nvGrpSpPr>
        <p:grpSpPr>
          <a:xfrm rot="0">
            <a:off x="11656083" y="3954578"/>
            <a:ext cx="3766865" cy="937925"/>
            <a:chOff x="0" y="0"/>
            <a:chExt cx="992096" cy="247026"/>
          </a:xfrm>
        </p:grpSpPr>
        <p:sp>
          <p:nvSpPr>
            <p:cNvPr id="16" name="Freeform 15"/>
            <p:cNvSpPr/>
            <p:nvPr>
              <p:custDataLst>
                <p:tags r:id="rId11"/>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F47C2A"/>
            </a:solidFill>
          </p:spPr>
        </p:sp>
        <p:sp>
          <p:nvSpPr>
            <p:cNvPr id="17" name="TextBox 16"/>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18" name="TextBox 17"/>
          <p:cNvSpPr txBox="1"/>
          <p:nvPr>
            <p:custDataLst>
              <p:tags r:id="rId12"/>
            </p:custDataLst>
          </p:nvPr>
        </p:nvSpPr>
        <p:spPr>
          <a:xfrm>
            <a:off x="12572973" y="4289555"/>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Target</a:t>
            </a:r>
            <a:endParaRPr lang="en-US" sz="2100" b="1">
              <a:solidFill>
                <a:srgbClr val="000000"/>
              </a:solidFill>
              <a:latin typeface="DM Sans Bold"/>
              <a:ea typeface="DM Sans Bold"/>
              <a:cs typeface="DM Sans Bold"/>
              <a:sym typeface="DM Sans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228600" y="1790700"/>
            <a:ext cx="6790055" cy="782320"/>
          </a:xfrm>
          <a:prstGeom prst="rect">
            <a:avLst/>
          </a:prstGeom>
        </p:spPr>
        <p:txBody>
          <a:bodyPr lIns="0" tIns="0" rIns="0" bIns="0" rtlCol="0" anchor="t">
            <a:noAutofit/>
          </a:bodyPr>
          <a:lstStyle/>
          <a:p>
            <a:pPr algn="ctr">
              <a:lnSpc>
                <a:spcPts val="5880"/>
              </a:lnSpc>
            </a:pPr>
            <a:r>
              <a:rPr lang="en-US" altLang="en-US" sz="4200" b="1">
                <a:solidFill>
                  <a:srgbClr val="000000"/>
                </a:solidFill>
                <a:latin typeface="Times New Roman" panose="02020603050405020304" charset="0"/>
                <a:ea typeface="DM Sans Bold"/>
                <a:cs typeface="Times New Roman" panose="02020603050405020304" charset="0"/>
                <a:sym typeface="DM Sans Bold"/>
              </a:rPr>
              <a:t>What is a Transformation?</a:t>
            </a:r>
            <a:r>
              <a:rPr lang="en-US" sz="4200" b="1">
                <a:solidFill>
                  <a:srgbClr val="000000"/>
                </a:solidFill>
                <a:latin typeface="DM Sans Bold"/>
                <a:ea typeface="DM Sans Bold"/>
                <a:cs typeface="DM Sans Bold"/>
                <a:sym typeface="DM Sans Bold"/>
              </a:rPr>
              <a:t> </a:t>
            </a:r>
            <a:endParaRPr lang="en-US" sz="4200" b="1">
              <a:solidFill>
                <a:srgbClr val="000000"/>
              </a:solidFill>
              <a:latin typeface="DM Sans Bold"/>
              <a:ea typeface="DM Sans Bold"/>
              <a:cs typeface="DM Sans Bold"/>
              <a:sym typeface="DM Sans Bold"/>
            </a:endParaRPr>
          </a:p>
        </p:txBody>
      </p:sp>
      <p:sp>
        <p:nvSpPr>
          <p:cNvPr id="35" name="Freeform 35"/>
          <p:cNvSpPr/>
          <p:nvPr/>
        </p:nvSpPr>
        <p:spPr>
          <a:xfrm flipH="1" flipV="1">
            <a:off x="15383003" y="8558075"/>
            <a:ext cx="2904997" cy="1728925"/>
          </a:xfrm>
          <a:custGeom>
            <a:avLst/>
            <a:gdLst/>
            <a:ahLst/>
            <a:cxnLst/>
            <a:rect l="l" t="t" r="r" b="b"/>
            <a:pathLst>
              <a:path w="2904997" h="1728925">
                <a:moveTo>
                  <a:pt x="2904997" y="1728925"/>
                </a:moveTo>
                <a:lnTo>
                  <a:pt x="0" y="1728925"/>
                </a:lnTo>
                <a:lnTo>
                  <a:pt x="0" y="0"/>
                </a:lnTo>
                <a:lnTo>
                  <a:pt x="2904997" y="0"/>
                </a:lnTo>
                <a:lnTo>
                  <a:pt x="2904997" y="172892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6" name="Freeform 36"/>
          <p:cNvSpPr/>
          <p:nvPr/>
        </p:nvSpPr>
        <p:spPr>
          <a:xfrm flipH="1" flipV="1">
            <a:off x="0" y="-4695"/>
            <a:ext cx="2846243" cy="1733621"/>
          </a:xfrm>
          <a:custGeom>
            <a:avLst/>
            <a:gdLst/>
            <a:ahLst/>
            <a:cxnLst/>
            <a:rect l="l" t="t" r="r" b="b"/>
            <a:pathLst>
              <a:path w="2846243" h="1733621">
                <a:moveTo>
                  <a:pt x="2846243" y="1733620"/>
                </a:moveTo>
                <a:lnTo>
                  <a:pt x="0" y="1733620"/>
                </a:lnTo>
                <a:lnTo>
                  <a:pt x="0" y="0"/>
                </a:lnTo>
                <a:lnTo>
                  <a:pt x="2846243" y="0"/>
                </a:lnTo>
                <a:lnTo>
                  <a:pt x="2846243" y="173362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7" name="Text Box 36"/>
          <p:cNvSpPr txBox="1"/>
          <p:nvPr/>
        </p:nvSpPr>
        <p:spPr>
          <a:xfrm>
            <a:off x="644525" y="2668905"/>
            <a:ext cx="15939135" cy="6932295"/>
          </a:xfrm>
          <a:prstGeom prst="rect">
            <a:avLst/>
          </a:prstGeom>
          <a:noFill/>
        </p:spPr>
        <p:txBody>
          <a:bodyPr wrap="square" rtlCol="0" anchor="t">
            <a:noAutofit/>
          </a:bodyPr>
          <a:p>
            <a:r>
              <a:rPr lang="en-US" altLang="en-US" sz="2300">
                <a:latin typeface="Times New Roman" panose="02020603050405020304" charset="0"/>
                <a:cs typeface="Times New Roman" panose="02020603050405020304" charset="0"/>
              </a:rPr>
              <a:t>A transformation in Pentaho Data Integration (PDI) represents a data flow made up of a network of logical tasks called steps. It defines how data moves from a source to a destination while undergoing different processing operations. In simple terms, transformations describe what happens to the data.</a:t>
            </a:r>
            <a:endParaRPr lang="en-US" altLang="en-US" sz="2300">
              <a:latin typeface="Times New Roman" panose="02020603050405020304" charset="0"/>
              <a:cs typeface="Times New Roman" panose="02020603050405020304" charset="0"/>
            </a:endParaRPr>
          </a:p>
          <a:p>
            <a:endParaRPr 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A transformation can perform tasks such as reading data from a flat file, filtering records, sorting data, and loading it into a relational database table. </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If an error occurs during processing, instead of discarding the data using a Dummy step, the data can be logged back into a database table. This shows that transformations can also handle error management and logging. Technically, a transformation is a directed graph that represents the flow of data between different processing steps.</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All transformation files are saved with the .ktr file extension.</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300" b="1">
              <a:solidFill>
                <a:srgbClr val="000000"/>
              </a:solidFill>
              <a:latin typeface="Times New Roman" panose="02020603050405020304" charset="0"/>
              <a:ea typeface="DM Sans Bold"/>
              <a:cs typeface="Times New Roman" panose="02020603050405020304" charset="0"/>
              <a:sym typeface="DM Sans Bold"/>
            </a:endParaRPr>
          </a:p>
          <a:p>
            <a:pPr indent="0">
              <a:buFont typeface="Arial" panose="020B0604020202020204" pitchFamily="34" charset="0"/>
              <a:buNone/>
            </a:pP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300">
              <a:latin typeface="Times New Roman" panose="02020603050405020304" charset="0"/>
              <a:cs typeface="Times New Roman" panose="02020603050405020304" charset="0"/>
            </a:endParaRPr>
          </a:p>
        </p:txBody>
      </p:sp>
      <p:graphicFrame>
        <p:nvGraphicFramePr>
          <p:cNvPr id="38" name="Diagram 37"/>
          <p:cNvGraphicFramePr/>
          <p:nvPr/>
        </p:nvGraphicFramePr>
        <p:xfrm>
          <a:off x="6019800" y="6667500"/>
          <a:ext cx="4302760" cy="30467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5"/>
          <p:cNvSpPr/>
          <p:nvPr/>
        </p:nvSpPr>
        <p:spPr>
          <a:xfrm flipH="1" flipV="1">
            <a:off x="15383003" y="8558075"/>
            <a:ext cx="2904997" cy="1728925"/>
          </a:xfrm>
          <a:custGeom>
            <a:avLst/>
            <a:gdLst/>
            <a:ahLst/>
            <a:cxnLst/>
            <a:rect l="l" t="t" r="r" b="b"/>
            <a:pathLst>
              <a:path w="2904997" h="1728925">
                <a:moveTo>
                  <a:pt x="2904997" y="1728925"/>
                </a:moveTo>
                <a:lnTo>
                  <a:pt x="0" y="1728925"/>
                </a:lnTo>
                <a:lnTo>
                  <a:pt x="0" y="0"/>
                </a:lnTo>
                <a:lnTo>
                  <a:pt x="2904997" y="0"/>
                </a:lnTo>
                <a:lnTo>
                  <a:pt x="2904997" y="172892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6" name="Freeform 36"/>
          <p:cNvSpPr/>
          <p:nvPr/>
        </p:nvSpPr>
        <p:spPr>
          <a:xfrm flipH="1" flipV="1">
            <a:off x="1270" y="-29210"/>
            <a:ext cx="2692400" cy="1344295"/>
          </a:xfrm>
          <a:custGeom>
            <a:avLst/>
            <a:gdLst/>
            <a:ahLst/>
            <a:cxnLst/>
            <a:rect l="l" t="t" r="r" b="b"/>
            <a:pathLst>
              <a:path w="2846243" h="1733621">
                <a:moveTo>
                  <a:pt x="2846243" y="1733620"/>
                </a:moveTo>
                <a:lnTo>
                  <a:pt x="0" y="1733620"/>
                </a:lnTo>
                <a:lnTo>
                  <a:pt x="0" y="0"/>
                </a:lnTo>
                <a:lnTo>
                  <a:pt x="2846243" y="0"/>
                </a:lnTo>
                <a:lnTo>
                  <a:pt x="2846243" y="173362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 Box 2"/>
          <p:cNvSpPr txBox="1"/>
          <p:nvPr/>
        </p:nvSpPr>
        <p:spPr>
          <a:xfrm>
            <a:off x="213995" y="1369695"/>
            <a:ext cx="16613505" cy="8296275"/>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rPr>
              <a:t>Steps (Core Processing Units):</a:t>
            </a:r>
            <a:endParaRPr lang="en-US" altLang="en-US" sz="2300" b="1">
              <a:latin typeface="Times New Roman" panose="02020603050405020304" charset="0"/>
              <a:cs typeface="Times New Roman" panose="02020603050405020304" charset="0"/>
            </a:endParaRPr>
          </a:p>
          <a:p>
            <a:endParaRPr lang="en-US" altLang="en-US"/>
          </a:p>
          <a:p>
            <a:r>
              <a:rPr lang="en-US" altLang="en-US" sz="2300">
                <a:latin typeface="Times New Roman" panose="02020603050405020304" charset="0"/>
                <a:cs typeface="Times New Roman" panose="02020603050405020304" charset="0"/>
              </a:rPr>
              <a:t>Steps are the building blocks of a transformation. Each step is designed to perform one specific task, such as:</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Reading data from a text or flat file</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Filtering rows</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Sorting data</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Writing data to a database</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predefined steps:Input, Output, and Scripting.</a:t>
            </a:r>
            <a:endParaRPr lang="en-US" altLang="en-US" sz="2300">
              <a:latin typeface="Times New Roman" panose="02020603050405020304" charset="0"/>
              <a:cs typeface="Times New Roman" panose="02020603050405020304" charset="0"/>
            </a:endParaRPr>
          </a:p>
          <a:p>
            <a:pPr indent="0">
              <a:buFont typeface="Arial" panose="020B0604020202020204" pitchFamily="34" charset="0"/>
              <a:buNone/>
            </a:pP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sz="2300">
              <a:latin typeface="Times New Roman" panose="02020603050405020304" charset="0"/>
              <a:cs typeface="Times New Roman" panose="02020603050405020304" charset="0"/>
            </a:endParaRPr>
          </a:p>
          <a:p>
            <a:pPr indent="0">
              <a:buFont typeface="Arial" panose="020B0604020202020204" pitchFamily="34" charset="0"/>
              <a:buNone/>
            </a:pPr>
            <a:r>
              <a:rPr lang="en-US" altLang="en-US" sz="2300" b="1">
                <a:latin typeface="Times New Roman" panose="02020603050405020304" charset="0"/>
                <a:cs typeface="Times New Roman" panose="02020603050405020304" charset="0"/>
              </a:rPr>
              <a:t>Hops (Data Flow Connectors):</a:t>
            </a:r>
            <a:endParaRPr lang="en-US" altLang="en-US" sz="2300" b="1">
              <a:latin typeface="Times New Roman" panose="02020603050405020304" charset="0"/>
              <a:cs typeface="Times New Roman" panose="02020603050405020304" charset="0"/>
            </a:endParaRPr>
          </a:p>
          <a:p>
            <a:pPr indent="0">
              <a:buFont typeface="Arial" panose="020B0604020202020204" pitchFamily="34" charset="0"/>
              <a:buNone/>
            </a:pPr>
            <a:endParaRPr lang="en-US" altLang="en-US" sz="2300" b="1">
              <a:latin typeface="Times New Roman" panose="02020603050405020304" charset="0"/>
              <a:cs typeface="Times New Roman" panose="02020603050405020304" charset="0"/>
            </a:endParaRPr>
          </a:p>
          <a:p>
            <a:pPr indent="0">
              <a:buFont typeface="Arial" panose="020B0604020202020204" pitchFamily="34" charset="0"/>
              <a:buNone/>
            </a:pPr>
            <a:r>
              <a:rPr lang="en-US" altLang="en-US" sz="2300">
                <a:latin typeface="Times New Roman" panose="02020603050405020304" charset="0"/>
                <a:cs typeface="Times New Roman" panose="02020603050405020304" charset="0"/>
              </a:rPr>
              <a:t>Hops are the connections between steps and act as data pathways. They allow both data and schema metadata to pass from one step to another. In Spoon, hops are represented as arrows that show the direction of data flow.</a:t>
            </a:r>
            <a:endParaRPr lang="en-US" altLang="en-US" sz="23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5"/>
          <p:cNvSpPr/>
          <p:nvPr/>
        </p:nvSpPr>
        <p:spPr>
          <a:xfrm flipH="1" flipV="1">
            <a:off x="15383003" y="8558075"/>
            <a:ext cx="2904997" cy="1728925"/>
          </a:xfrm>
          <a:custGeom>
            <a:avLst/>
            <a:gdLst/>
            <a:ahLst/>
            <a:cxnLst/>
            <a:rect l="l" t="t" r="r" b="b"/>
            <a:pathLst>
              <a:path w="2904997" h="1728925">
                <a:moveTo>
                  <a:pt x="2904997" y="1728925"/>
                </a:moveTo>
                <a:lnTo>
                  <a:pt x="0" y="1728925"/>
                </a:lnTo>
                <a:lnTo>
                  <a:pt x="0" y="0"/>
                </a:lnTo>
                <a:lnTo>
                  <a:pt x="2904997" y="0"/>
                </a:lnTo>
                <a:lnTo>
                  <a:pt x="2904997" y="172892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6" name="Freeform 36"/>
          <p:cNvSpPr/>
          <p:nvPr/>
        </p:nvSpPr>
        <p:spPr>
          <a:xfrm flipH="1" flipV="1">
            <a:off x="1270" y="-29210"/>
            <a:ext cx="2692400" cy="1344295"/>
          </a:xfrm>
          <a:custGeom>
            <a:avLst/>
            <a:gdLst/>
            <a:ahLst/>
            <a:cxnLst/>
            <a:rect l="l" t="t" r="r" b="b"/>
            <a:pathLst>
              <a:path w="2846243" h="1733621">
                <a:moveTo>
                  <a:pt x="2846243" y="1733620"/>
                </a:moveTo>
                <a:lnTo>
                  <a:pt x="0" y="1733620"/>
                </a:lnTo>
                <a:lnTo>
                  <a:pt x="0" y="0"/>
                </a:lnTo>
                <a:lnTo>
                  <a:pt x="2846243" y="0"/>
                </a:lnTo>
                <a:lnTo>
                  <a:pt x="2846243" y="173362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 Box 2"/>
          <p:cNvSpPr txBox="1"/>
          <p:nvPr/>
        </p:nvSpPr>
        <p:spPr>
          <a:xfrm>
            <a:off x="213995" y="1369695"/>
            <a:ext cx="16613505" cy="8296275"/>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rPr>
              <a:t>What is a Job?</a:t>
            </a:r>
            <a:endParaRPr lang="en-US" altLang="en-US" sz="2300" b="1">
              <a:latin typeface="Times New Roman" panose="02020603050405020304" charset="0"/>
              <a:cs typeface="Times New Roman" panose="02020603050405020304" charset="0"/>
            </a:endParaRPr>
          </a:p>
          <a:p>
            <a:endParaRPr lang="en-US" altLang="en-US"/>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A Job in Pentaho Data Integration is used to control and coordinate ETL workflows. While transformations focus on data flow, jobs focus on process flow and execution order.</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The main building blocks of a job are Job Entries. Each job entry performs one specific task. The same job entry can be reused multiple times in a job with different configurations.</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Jobs use Job Hops to control execution order and decision-making. Job hops do not carry data—they only decide what runs next, based on success or failure of the previous job entry.</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rPr>
              <a:t>Jobs are saved with the .kjb file extension.</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5"/>
          <p:cNvSpPr/>
          <p:nvPr/>
        </p:nvSpPr>
        <p:spPr>
          <a:xfrm flipH="1" flipV="1">
            <a:off x="15383003" y="8558075"/>
            <a:ext cx="2904997" cy="1728925"/>
          </a:xfrm>
          <a:custGeom>
            <a:avLst/>
            <a:gdLst/>
            <a:ahLst/>
            <a:cxnLst/>
            <a:rect l="l" t="t" r="r" b="b"/>
            <a:pathLst>
              <a:path w="2904997" h="1728925">
                <a:moveTo>
                  <a:pt x="2904997" y="1728925"/>
                </a:moveTo>
                <a:lnTo>
                  <a:pt x="0" y="1728925"/>
                </a:lnTo>
                <a:lnTo>
                  <a:pt x="0" y="0"/>
                </a:lnTo>
                <a:lnTo>
                  <a:pt x="2904997" y="0"/>
                </a:lnTo>
                <a:lnTo>
                  <a:pt x="2904997" y="1728925"/>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6" name="Freeform 36"/>
          <p:cNvSpPr/>
          <p:nvPr/>
        </p:nvSpPr>
        <p:spPr>
          <a:xfrm flipH="1" flipV="1">
            <a:off x="1270" y="-29210"/>
            <a:ext cx="2692400" cy="1344295"/>
          </a:xfrm>
          <a:custGeom>
            <a:avLst/>
            <a:gdLst/>
            <a:ahLst/>
            <a:cxnLst/>
            <a:rect l="l" t="t" r="r" b="b"/>
            <a:pathLst>
              <a:path w="2846243" h="1733621">
                <a:moveTo>
                  <a:pt x="2846243" y="1733620"/>
                </a:moveTo>
                <a:lnTo>
                  <a:pt x="0" y="1733620"/>
                </a:lnTo>
                <a:lnTo>
                  <a:pt x="0" y="0"/>
                </a:lnTo>
                <a:lnTo>
                  <a:pt x="2846243" y="0"/>
                </a:lnTo>
                <a:lnTo>
                  <a:pt x="2846243" y="173362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Text Box 2"/>
          <p:cNvSpPr txBox="1"/>
          <p:nvPr/>
        </p:nvSpPr>
        <p:spPr>
          <a:xfrm>
            <a:off x="213995" y="1369695"/>
            <a:ext cx="16613505" cy="8296275"/>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rPr>
              <a:t>Apache Airflow </a:t>
            </a:r>
            <a:endParaRPr lang="en-US" altLang="en-US" sz="2300" b="1">
              <a:latin typeface="Times New Roman" panose="02020603050405020304" charset="0"/>
              <a:cs typeface="Times New Roman" panose="02020603050405020304" charset="0"/>
            </a:endParaRPr>
          </a:p>
          <a:p>
            <a:endParaRPr lang="en-US" altLang="en-US"/>
          </a:p>
          <a:p>
            <a:r>
              <a:rPr lang="en-US" altLang="en-US" sz="2300">
                <a:latin typeface="Times New Roman" panose="02020603050405020304" charset="0"/>
                <a:cs typeface="Times New Roman" panose="02020603050405020304" charset="0"/>
              </a:rPr>
              <a:t>Apache Airflow is a workflow orchestration platform that allows you to define, schedule, and monitor complex data pipelines as code. Instead of using UI-based workflow builders, Airflow uses Python to define Directed Acyclic Graphs (DAGs) representing your workflows.</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5"/>
          <a:srcRect b="17875"/>
          <a:stretch>
            <a:fillRect/>
          </a:stretch>
        </p:blipFill>
        <p:spPr>
          <a:xfrm>
            <a:off x="5105400" y="3314700"/>
            <a:ext cx="6858000" cy="63963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466090" y="794385"/>
            <a:ext cx="17299940" cy="8450580"/>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sym typeface="+mn-ea"/>
              </a:rPr>
              <a:t>What is a DAG?</a:t>
            </a:r>
            <a:endParaRPr lang="en-US" altLang="en-US" sz="23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endParaRPr>
          </a:p>
          <a:p>
            <a:r>
              <a:rPr lang="en-US" altLang="en-US" sz="2300">
                <a:latin typeface="Times New Roman" panose="02020603050405020304" charset="0"/>
                <a:cs typeface="Times New Roman" panose="02020603050405020304" charset="0"/>
                <a:sym typeface="+mn-ea"/>
              </a:rPr>
              <a:t>A DAG (Directed Acyclic Graph) is the fundamental unit in Airflow. It represents:</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Directed: Tasks execute in specific direction (flow from A → B → C)</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Acyclic: No circular dependencies allowed (prevents infinite loops)</a:t>
            </a:r>
            <a:endParaRPr lang="en-US" altLang="en-US" sz="23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Graph: Visual representation of tasks and relationships</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a:p>
            <a:r>
              <a:rPr lang="en-US" altLang="en-US" sz="2300">
                <a:latin typeface="Times New Roman" panose="02020603050405020304" charset="0"/>
                <a:cs typeface="Times New Roman" panose="02020603050405020304" charset="0"/>
                <a:sym typeface="+mn-ea"/>
              </a:rPr>
              <a:t>Dag is a collection of tasks organized in a way that reflects their relationships and dependencies. It’s like a roadmap for your workflow, showing how each task connects to the others.</a:t>
            </a:r>
            <a:endParaRPr lang="en-US" altLang="en-US" sz="2300">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endParaRPr>
          </a:p>
          <a:p>
            <a:r>
              <a:rPr lang="en-US" altLang="en-US" sz="2300" b="1">
                <a:latin typeface="Times New Roman" panose="02020603050405020304" charset="0"/>
                <a:cs typeface="Times New Roman" panose="02020603050405020304" charset="0"/>
                <a:sym typeface="+mn-ea"/>
              </a:rPr>
              <a:t>What is Task?</a:t>
            </a:r>
            <a:endParaRPr lang="en-US" altLang="en-US" sz="2300">
              <a:latin typeface="Times New Roman" panose="02020603050405020304" charset="0"/>
              <a:cs typeface="Times New Roman" panose="02020603050405020304" charset="0"/>
            </a:endParaRPr>
          </a:p>
          <a:p>
            <a:r>
              <a:rPr lang="en-US" altLang="en-US" sz="2300">
                <a:latin typeface="Times New Roman" panose="02020603050405020304" charset="0"/>
                <a:cs typeface="Times New Roman" panose="02020603050405020304" charset="0"/>
                <a:sym typeface="+mn-ea"/>
              </a:rPr>
              <a:t>Task: a node in the dag represents a task.which are units of work in the airflow. each task can be an operator,sensor,or a hook.</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how to define dag:</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1.import modules </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2. define default arguments </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3. initiate the dag </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4. define task </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5. define dependencies</a:t>
            </a:r>
            <a:endParaRPr lang="en-US" altLang="en-US" sz="2300">
              <a:latin typeface="Times New Roman" panose="02020603050405020304" charset="0"/>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466090" y="794385"/>
            <a:ext cx="11801475" cy="1047115"/>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rPr>
              <a:t>How Airflow Works?</a:t>
            </a:r>
            <a:endParaRPr lang="en-US" altLang="en-US" sz="2300" b="1">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sym typeface="+mn-ea"/>
            </a:endParaRPr>
          </a:p>
        </p:txBody>
      </p:sp>
      <p:grpSp>
        <p:nvGrpSpPr>
          <p:cNvPr id="2" name="Group 2"/>
          <p:cNvGrpSpPr/>
          <p:nvPr>
            <p:custDataLst>
              <p:tags r:id="rId5"/>
            </p:custDataLst>
          </p:nvPr>
        </p:nvGrpSpPr>
        <p:grpSpPr>
          <a:xfrm rot="0">
            <a:off x="1560916" y="2751253"/>
            <a:ext cx="3766865" cy="937925"/>
            <a:chOff x="0" y="0"/>
            <a:chExt cx="992096" cy="247026"/>
          </a:xfrm>
        </p:grpSpPr>
        <p:sp>
          <p:nvSpPr>
            <p:cNvPr id="3" name="Freeform 3"/>
            <p:cNvSpPr/>
            <p:nvPr>
              <p:custDataLst>
                <p:tags r:id="rId6"/>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3FBA64"/>
            </a:solidFill>
          </p:spPr>
        </p:sp>
        <p:sp>
          <p:nvSpPr>
            <p:cNvPr id="4" name="TextBox 4"/>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5" name="TextBox 6"/>
          <p:cNvSpPr txBox="1"/>
          <p:nvPr>
            <p:custDataLst>
              <p:tags r:id="rId7"/>
            </p:custDataLst>
          </p:nvPr>
        </p:nvSpPr>
        <p:spPr>
          <a:xfrm>
            <a:off x="2411131" y="3086230"/>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Task-1</a:t>
            </a:r>
            <a:endParaRPr lang="en-US" sz="2100" b="1">
              <a:solidFill>
                <a:srgbClr val="000000"/>
              </a:solidFill>
              <a:latin typeface="DM Sans Bold"/>
              <a:ea typeface="DM Sans Bold"/>
              <a:cs typeface="DM Sans Bold"/>
              <a:sym typeface="DM Sans Bold"/>
            </a:endParaRPr>
          </a:p>
        </p:txBody>
      </p:sp>
      <p:sp>
        <p:nvSpPr>
          <p:cNvPr id="19" name="AutoShape 8"/>
          <p:cNvSpPr/>
          <p:nvPr>
            <p:custDataLst>
              <p:tags r:id="rId8"/>
            </p:custDataLst>
          </p:nvPr>
        </p:nvSpPr>
        <p:spPr>
          <a:xfrm>
            <a:off x="5327781" y="3220215"/>
            <a:ext cx="7337951" cy="0"/>
          </a:xfrm>
          <a:prstGeom prst="line">
            <a:avLst/>
          </a:prstGeom>
          <a:ln w="38100" cap="flat">
            <a:solidFill>
              <a:srgbClr val="A6A6A6"/>
            </a:solidFill>
            <a:prstDash val="solid"/>
            <a:headEnd type="none" w="sm" len="sm"/>
            <a:tailEnd type="none" w="sm" len="sm"/>
          </a:ln>
        </p:spPr>
      </p:sp>
      <p:grpSp>
        <p:nvGrpSpPr>
          <p:cNvPr id="20" name="Group 9"/>
          <p:cNvGrpSpPr/>
          <p:nvPr>
            <p:custDataLst>
              <p:tags r:id="rId9"/>
            </p:custDataLst>
          </p:nvPr>
        </p:nvGrpSpPr>
        <p:grpSpPr>
          <a:xfrm rot="0">
            <a:off x="6727167" y="2751253"/>
            <a:ext cx="3766865" cy="937925"/>
            <a:chOff x="0" y="0"/>
            <a:chExt cx="992096" cy="247026"/>
          </a:xfrm>
        </p:grpSpPr>
        <p:sp>
          <p:nvSpPr>
            <p:cNvPr id="21" name="Freeform 10"/>
            <p:cNvSpPr/>
            <p:nvPr>
              <p:custDataLst>
                <p:tags r:id="rId10"/>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5950C5"/>
            </a:solidFill>
          </p:spPr>
        </p:sp>
        <p:sp>
          <p:nvSpPr>
            <p:cNvPr id="22" name="TextBox 11"/>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23" name="TextBox 12"/>
          <p:cNvSpPr txBox="1"/>
          <p:nvPr>
            <p:custDataLst>
              <p:tags r:id="rId11"/>
            </p:custDataLst>
          </p:nvPr>
        </p:nvSpPr>
        <p:spPr>
          <a:xfrm>
            <a:off x="7619927" y="3086230"/>
            <a:ext cx="2037669" cy="269240"/>
          </a:xfrm>
          <a:prstGeom prst="rect">
            <a:avLst/>
          </a:prstGeom>
        </p:spPr>
        <p:txBody>
          <a:bodyPr lIns="0" tIns="0" rIns="0" bIns="0" rtlCol="0" anchor="t">
            <a:spAutoFit/>
          </a:bodyPr>
          <a:lstStyle/>
          <a:p>
            <a:pPr algn="ctr">
              <a:lnSpc>
                <a:spcPts val="2100"/>
              </a:lnSpc>
            </a:pPr>
            <a:r>
              <a:rPr lang="en-US" sz="2100" b="1">
                <a:solidFill>
                  <a:schemeClr val="tx1"/>
                </a:solidFill>
                <a:latin typeface="DM Sans Bold"/>
                <a:ea typeface="DM Sans Bold"/>
                <a:cs typeface="DM Sans Bold"/>
                <a:sym typeface="DM Sans Bold"/>
              </a:rPr>
              <a:t>Task-2</a:t>
            </a:r>
            <a:endParaRPr lang="en-US" sz="2100" b="1">
              <a:solidFill>
                <a:schemeClr val="tx1"/>
              </a:solidFill>
              <a:latin typeface="DM Sans Bold"/>
              <a:ea typeface="DM Sans Bold"/>
              <a:cs typeface="DM Sans Bold"/>
              <a:sym typeface="DM Sans Bold"/>
            </a:endParaRPr>
          </a:p>
        </p:txBody>
      </p:sp>
      <p:grpSp>
        <p:nvGrpSpPr>
          <p:cNvPr id="24" name="Group 23"/>
          <p:cNvGrpSpPr/>
          <p:nvPr>
            <p:custDataLst>
              <p:tags r:id="rId12"/>
            </p:custDataLst>
          </p:nvPr>
        </p:nvGrpSpPr>
        <p:grpSpPr>
          <a:xfrm rot="0">
            <a:off x="11894208" y="2751253"/>
            <a:ext cx="3766865" cy="937925"/>
            <a:chOff x="0" y="0"/>
            <a:chExt cx="992096" cy="247026"/>
          </a:xfrm>
        </p:grpSpPr>
        <p:sp>
          <p:nvSpPr>
            <p:cNvPr id="25" name="Freeform 24"/>
            <p:cNvSpPr/>
            <p:nvPr>
              <p:custDataLst>
                <p:tags r:id="rId13"/>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F47C2A"/>
            </a:solidFill>
          </p:spPr>
        </p:sp>
        <p:sp>
          <p:nvSpPr>
            <p:cNvPr id="26" name="TextBox 16"/>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27" name="TextBox 17"/>
          <p:cNvSpPr txBox="1"/>
          <p:nvPr>
            <p:custDataLst>
              <p:tags r:id="rId14"/>
            </p:custDataLst>
          </p:nvPr>
        </p:nvSpPr>
        <p:spPr>
          <a:xfrm>
            <a:off x="12811098" y="3086230"/>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Task-3</a:t>
            </a:r>
            <a:endParaRPr lang="en-US" sz="2100" b="1">
              <a:solidFill>
                <a:srgbClr val="000000"/>
              </a:solidFill>
              <a:latin typeface="DM Sans Bold"/>
              <a:ea typeface="DM Sans Bold"/>
              <a:cs typeface="DM Sans Bold"/>
              <a:sym typeface="DM Sans Bold"/>
            </a:endParaRPr>
          </a:p>
        </p:txBody>
      </p:sp>
      <p:sp>
        <p:nvSpPr>
          <p:cNvPr id="28" name="Text Box 27"/>
          <p:cNvSpPr txBox="1"/>
          <p:nvPr/>
        </p:nvSpPr>
        <p:spPr>
          <a:xfrm>
            <a:off x="963295" y="4610100"/>
            <a:ext cx="9857105" cy="2568575"/>
          </a:xfrm>
          <a:prstGeom prst="rect">
            <a:avLst/>
          </a:prstGeom>
          <a:noFill/>
        </p:spPr>
        <p:txBody>
          <a:bodyPr wrap="square" rtlCol="0" anchor="t">
            <a:spAutoFit/>
          </a:bodyPr>
          <a:p>
            <a:r>
              <a:rPr lang="en-US" altLang="en-US" sz="2300" b="1">
                <a:latin typeface="Times New Roman" panose="02020603050405020304" charset="0"/>
                <a:cs typeface="Times New Roman" panose="02020603050405020304" charset="0"/>
              </a:rPr>
              <a:t>Example:</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pPr marL="342900" indent="-342900">
              <a:buAutoNum type="arabicPeriod"/>
            </a:pPr>
            <a:r>
              <a:rPr lang="en-US" altLang="en-US" sz="2300" b="1">
                <a:latin typeface="Times New Roman" panose="02020603050405020304" charset="0"/>
                <a:cs typeface="Times New Roman" panose="02020603050405020304" charset="0"/>
              </a:rPr>
              <a:t>Extract script</a:t>
            </a:r>
            <a:endParaRPr lang="en-US" altLang="en-US" sz="2300" b="1">
              <a:latin typeface="Times New Roman" panose="02020603050405020304" charset="0"/>
              <a:cs typeface="Times New Roman" panose="02020603050405020304" charset="0"/>
            </a:endParaRPr>
          </a:p>
          <a:p>
            <a:pPr marL="342900" indent="-342900">
              <a:buAutoNum type="arabicPeriod"/>
            </a:pPr>
            <a:endParaRPr lang="en-US" altLang="en-US" sz="2300" b="1">
              <a:latin typeface="Times New Roman" panose="02020603050405020304" charset="0"/>
              <a:cs typeface="Times New Roman" panose="02020603050405020304" charset="0"/>
            </a:endParaRPr>
          </a:p>
          <a:p>
            <a:pPr marL="342900" indent="-342900">
              <a:buAutoNum type="arabicPeriod"/>
            </a:pPr>
            <a:r>
              <a:rPr lang="en-US" altLang="en-US" sz="2300" b="1">
                <a:latin typeface="Times New Roman" panose="02020603050405020304" charset="0"/>
                <a:cs typeface="Times New Roman" panose="02020603050405020304" charset="0"/>
              </a:rPr>
              <a:t>Transform script</a:t>
            </a:r>
            <a:endParaRPr lang="en-US" altLang="en-US" sz="2300" b="1">
              <a:latin typeface="Times New Roman" panose="02020603050405020304" charset="0"/>
              <a:cs typeface="Times New Roman" panose="02020603050405020304" charset="0"/>
            </a:endParaRPr>
          </a:p>
          <a:p>
            <a:pPr marL="342900" indent="-342900">
              <a:buAutoNum type="arabicPeriod"/>
            </a:pPr>
            <a:endParaRPr lang="en-US" altLang="en-US" sz="2300" b="1">
              <a:latin typeface="Times New Roman" panose="02020603050405020304" charset="0"/>
              <a:cs typeface="Times New Roman" panose="02020603050405020304" charset="0"/>
            </a:endParaRPr>
          </a:p>
          <a:p>
            <a:pPr marL="342900" indent="-342900">
              <a:buAutoNum type="arabicPeriod"/>
            </a:pPr>
            <a:r>
              <a:rPr lang="en-US" altLang="en-US" sz="2300" b="1">
                <a:latin typeface="Times New Roman" panose="02020603050405020304" charset="0"/>
                <a:cs typeface="Times New Roman" panose="02020603050405020304" charset="0"/>
              </a:rPr>
              <a:t>Load script</a:t>
            </a:r>
            <a:endParaRPr lang="en-US" sz="2300" b="1">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466090" y="794385"/>
            <a:ext cx="17299940" cy="8450580"/>
          </a:xfrm>
          <a:prstGeom prst="rect">
            <a:avLst/>
          </a:prstGeom>
          <a:noFill/>
        </p:spPr>
        <p:txBody>
          <a:bodyPr wrap="square" rtlCol="0" anchor="t">
            <a:noAutofit/>
          </a:bodyPr>
          <a:p>
            <a:r>
              <a:rPr lang="en-US" altLang="en-US" sz="2800" b="1">
                <a:latin typeface="Times New Roman" panose="02020603050405020304" charset="0"/>
                <a:cs typeface="Times New Roman" panose="02020603050405020304" charset="0"/>
                <a:sym typeface="+mn-ea"/>
              </a:rPr>
              <a:t>Dagster</a:t>
            </a:r>
            <a:endParaRPr lang="en-US" altLang="en-US" sz="28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endParaRPr>
          </a:p>
          <a:p>
            <a:r>
              <a:rPr lang="en-US" altLang="en-US" sz="2300">
                <a:latin typeface="Times New Roman" panose="02020603050405020304" charset="0"/>
                <a:cs typeface="Times New Roman" panose="02020603050405020304" charset="0"/>
                <a:sym typeface="+mn-ea"/>
              </a:rPr>
              <a:t>What is Dagster?</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Dagster is a modern data orchestration tool</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It helps build, run, and monitor data pipelines</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endParaRPr lang="en-US" altLang="en-US" sz="2300">
              <a:latin typeface="Times New Roman" panose="02020603050405020304" charset="0"/>
              <a:cs typeface="Times New Roman" panose="02020603050405020304" charset="0"/>
              <a:sym typeface="+mn-ea"/>
            </a:endParaRPr>
          </a:p>
          <a:p>
            <a:pPr indent="0">
              <a:buFont typeface="Arial" panose="020B0604020202020204" pitchFamily="34" charset="0"/>
              <a:buNone/>
            </a:pPr>
            <a:r>
              <a:rPr lang="en-US" altLang="en-US" sz="2300" b="1">
                <a:latin typeface="Times New Roman" panose="02020603050405020304" charset="0"/>
                <a:cs typeface="Times New Roman" panose="02020603050405020304" charset="0"/>
                <a:sym typeface="+mn-ea"/>
              </a:rPr>
              <a:t>Key Building Blocks in Dagster</a:t>
            </a:r>
            <a:endParaRPr lang="en-US" altLang="en-US" sz="2300" b="1">
              <a:latin typeface="Times New Roman" panose="02020603050405020304" charset="0"/>
              <a:cs typeface="Times New Roman" panose="02020603050405020304" charset="0"/>
              <a:sym typeface="+mn-ea"/>
            </a:endParaRPr>
          </a:p>
          <a:p>
            <a:pPr indent="0">
              <a:buFont typeface="Arial" panose="020B0604020202020204" pitchFamily="34" charset="0"/>
              <a:buNone/>
            </a:pPr>
            <a:r>
              <a:rPr lang="en-US" altLang="en-US" sz="2300">
                <a:latin typeface="Times New Roman" panose="02020603050405020304" charset="0"/>
                <a:cs typeface="Times New Roman" panose="02020603050405020304" charset="0"/>
                <a:sym typeface="+mn-ea"/>
              </a:rPr>
              <a:t>Assets ,Ops,Jobs,Runs</a:t>
            </a:r>
            <a:endParaRPr lang="en-US" altLang="en-US" sz="2300">
              <a:latin typeface="Times New Roman" panose="02020603050405020304" charset="0"/>
              <a:cs typeface="Times New Roman" panose="02020603050405020304" charset="0"/>
              <a:sym typeface="+mn-ea"/>
            </a:endParaRPr>
          </a:p>
          <a:p>
            <a:pPr indent="0">
              <a:buFont typeface="Arial" panose="020B0604020202020204" pitchFamily="34" charset="0"/>
              <a:buNone/>
            </a:pPr>
            <a:endParaRPr lang="en-US" altLang="en-US" sz="2300" b="1">
              <a:latin typeface="Times New Roman" panose="02020603050405020304" charset="0"/>
              <a:cs typeface="Times New Roman" panose="02020603050405020304" charset="0"/>
              <a:sym typeface="+mn-ea"/>
            </a:endParaRPr>
          </a:p>
          <a:p>
            <a:pPr indent="0">
              <a:buFont typeface="Arial" panose="020B0604020202020204" pitchFamily="34" charset="0"/>
              <a:buNone/>
            </a:pPr>
            <a:r>
              <a:rPr lang="en-US" altLang="en-US" sz="2300" b="1">
                <a:latin typeface="Times New Roman" panose="02020603050405020304" charset="0"/>
                <a:cs typeface="Times New Roman" panose="02020603050405020304" charset="0"/>
                <a:sym typeface="+mn-ea"/>
              </a:rPr>
              <a:t>Assets:</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Software-defined assets are the primary building blocks in Dagster. They represent the underlying entities in our pipelines, such as database tables, machine learning models, or AI processes. Together, these assets form the data platform. </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All Dagster objects, such as assets, are added to the Definitions object that was created when you initialized your project.</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p:txBody>
      </p:sp>
      <p:pic>
        <p:nvPicPr>
          <p:cNvPr id="2" name="Picture 1"/>
          <p:cNvPicPr>
            <a:picLocks noChangeAspect="1"/>
          </p:cNvPicPr>
          <p:nvPr/>
        </p:nvPicPr>
        <p:blipFill>
          <a:blip r:embed="rId5"/>
          <a:srcRect l="21875" t="25926" r="30208" b="23148"/>
          <a:stretch>
            <a:fillRect/>
          </a:stretch>
        </p:blipFill>
        <p:spPr>
          <a:xfrm>
            <a:off x="5867400" y="6438900"/>
            <a:ext cx="5750560" cy="34378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466090" y="647700"/>
            <a:ext cx="17299940" cy="8450580"/>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sym typeface="+mn-ea"/>
              </a:rPr>
              <a:t>Ops:</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Ops are the core unit of computation in Dagster.</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An individual op should perform relatively simple tasks, such as</a:t>
            </a:r>
            <a:r>
              <a:rPr lang="en-US" altLang="en-US" sz="2300">
                <a:latin typeface="Times New Roman" panose="02020603050405020304" charset="0"/>
                <a:cs typeface="Times New Roman" panose="02020603050405020304" charset="0"/>
                <a:sym typeface="+mn-ea"/>
              </a:rPr>
              <a:t>:</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Deriving a dataset from other datasets</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Executing a database query</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Initiating a Spark job in a remote cluster</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Querying an API and storing the result in a data warehouse</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Sending an email or Slack message</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Jobs:</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Jobs are the main unit of execution and monitoring in Dagster. They allow you to execute a portion of a graph of asset definitions or ops based on a schedule or an external trigger.</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When a job begins, it kicks off a run. A run is a single execution of a job in Dagster. Runs can be launched and viewed in the Dagster UI.</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There are Two different jobs:</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Asset jobs</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Op jobs</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533400" y="952500"/>
            <a:ext cx="17299940" cy="8450580"/>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sym typeface="+mn-ea"/>
              </a:rPr>
              <a:t>Asset jobs:</a:t>
            </a:r>
            <a:endParaRPr lang="en-US" altLang="en-US" sz="23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An asset job is a type of job that targets a selection of assets and can be launched:</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Manually from the Dagster UI</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At fixed intervals, by schedules</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When external changes occur, using sensors</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To create an asset job, use the define_asset_job method. An asset-based job is based on the assets the job targets and their dependencies</a:t>
            </a:r>
            <a:r>
              <a:rPr lang="en-US" altLang="en-US" sz="2300" b="1">
                <a:latin typeface="Times New Roman" panose="02020603050405020304" charset="0"/>
                <a:cs typeface="Times New Roman" panose="02020603050405020304" charset="0"/>
                <a:sym typeface="+mn-ea"/>
              </a:rPr>
              <a:t>.</a:t>
            </a:r>
            <a:endParaRPr lang="en-US" altLang="en-US" sz="23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Op jobs:</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An op job executes a graph of ops.</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Op jobs can be launched in a few different ways:</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Manually from the Dagster UI</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At fixed intervals, by schedules</a:t>
            </a:r>
            <a:endParaRPr lang="en-US" altLang="en-US" sz="2300">
              <a:latin typeface="Times New Roman" panose="02020603050405020304" charset="0"/>
              <a:cs typeface="Times New Roman" panose="02020603050405020304" charset="0"/>
              <a:sym typeface="+mn-ea"/>
            </a:endParaRPr>
          </a:p>
          <a:p>
            <a:pPr marL="342900" indent="-342900">
              <a:buFont typeface="Arial" panose="020B0604020202020204" pitchFamily="34" charset="0"/>
              <a:buChar char="•"/>
            </a:pPr>
            <a:r>
              <a:rPr lang="en-US" altLang="en-US" sz="2300">
                <a:latin typeface="Times New Roman" panose="02020603050405020304" charset="0"/>
                <a:cs typeface="Times New Roman" panose="02020603050405020304" charset="0"/>
                <a:sym typeface="+mn-ea"/>
              </a:rPr>
              <a:t>When external changes occur, using sensors</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The simplest way to create an op job is to use the @dg.jobdecorator.</a:t>
            </a:r>
            <a:endParaRPr lang="en-US" altLang="en-US" sz="2300">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466090" y="794385"/>
            <a:ext cx="11801475" cy="1047115"/>
          </a:xfrm>
          <a:prstGeom prst="rect">
            <a:avLst/>
          </a:prstGeom>
          <a:noFill/>
        </p:spPr>
        <p:txBody>
          <a:bodyPr wrap="square" rtlCol="0" anchor="t">
            <a:noAutofit/>
          </a:bodyPr>
          <a:p>
            <a:r>
              <a:rPr lang="en-US" altLang="en-US" sz="2300" b="1">
                <a:latin typeface="Times New Roman" panose="02020603050405020304" charset="0"/>
                <a:cs typeface="Times New Roman" panose="02020603050405020304" charset="0"/>
              </a:rPr>
              <a:t>Dagster Flow</a:t>
            </a:r>
            <a:endParaRPr lang="en-US" altLang="en-US" sz="2300" b="1">
              <a:latin typeface="Times New Roman" panose="02020603050405020304" charset="0"/>
              <a:cs typeface="Times New Roman" panose="02020603050405020304" charset="0"/>
            </a:endParaRPr>
          </a:p>
          <a:p>
            <a:endParaRPr lang="en-US" altLang="en-US" sz="2300">
              <a:latin typeface="Times New Roman" panose="02020603050405020304" charset="0"/>
              <a:cs typeface="Times New Roman" panose="02020603050405020304" charset="0"/>
              <a:sym typeface="+mn-ea"/>
            </a:endParaRPr>
          </a:p>
        </p:txBody>
      </p:sp>
      <p:grpSp>
        <p:nvGrpSpPr>
          <p:cNvPr id="2" name="Group 2"/>
          <p:cNvGrpSpPr/>
          <p:nvPr>
            <p:custDataLst>
              <p:tags r:id="rId5"/>
            </p:custDataLst>
          </p:nvPr>
        </p:nvGrpSpPr>
        <p:grpSpPr>
          <a:xfrm rot="0">
            <a:off x="1560916" y="2751253"/>
            <a:ext cx="3766865" cy="937925"/>
            <a:chOff x="0" y="0"/>
            <a:chExt cx="992096" cy="247026"/>
          </a:xfrm>
        </p:grpSpPr>
        <p:sp>
          <p:nvSpPr>
            <p:cNvPr id="3" name="Freeform 3"/>
            <p:cNvSpPr/>
            <p:nvPr>
              <p:custDataLst>
                <p:tags r:id="rId6"/>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3FBA64"/>
            </a:solidFill>
          </p:spPr>
        </p:sp>
        <p:sp>
          <p:nvSpPr>
            <p:cNvPr id="4" name="TextBox 4"/>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5" name="TextBox 6"/>
          <p:cNvSpPr txBox="1"/>
          <p:nvPr>
            <p:custDataLst>
              <p:tags r:id="rId7"/>
            </p:custDataLst>
          </p:nvPr>
        </p:nvSpPr>
        <p:spPr>
          <a:xfrm>
            <a:off x="2411131" y="3086230"/>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Asset-A</a:t>
            </a:r>
            <a:endParaRPr lang="en-US" sz="2100" b="1">
              <a:solidFill>
                <a:srgbClr val="000000"/>
              </a:solidFill>
              <a:latin typeface="DM Sans Bold"/>
              <a:ea typeface="DM Sans Bold"/>
              <a:cs typeface="DM Sans Bold"/>
              <a:sym typeface="DM Sans Bold"/>
            </a:endParaRPr>
          </a:p>
        </p:txBody>
      </p:sp>
      <p:sp>
        <p:nvSpPr>
          <p:cNvPr id="19" name="AutoShape 8"/>
          <p:cNvSpPr/>
          <p:nvPr>
            <p:custDataLst>
              <p:tags r:id="rId8"/>
            </p:custDataLst>
          </p:nvPr>
        </p:nvSpPr>
        <p:spPr>
          <a:xfrm>
            <a:off x="5327781" y="3220215"/>
            <a:ext cx="7337951" cy="0"/>
          </a:xfrm>
          <a:prstGeom prst="line">
            <a:avLst/>
          </a:prstGeom>
          <a:ln w="38100" cap="flat">
            <a:solidFill>
              <a:srgbClr val="A6A6A6"/>
            </a:solidFill>
            <a:prstDash val="solid"/>
            <a:headEnd type="none" w="sm" len="sm"/>
            <a:tailEnd type="none" w="sm" len="sm"/>
          </a:ln>
        </p:spPr>
      </p:sp>
      <p:grpSp>
        <p:nvGrpSpPr>
          <p:cNvPr id="20" name="Group 9"/>
          <p:cNvGrpSpPr/>
          <p:nvPr>
            <p:custDataLst>
              <p:tags r:id="rId9"/>
            </p:custDataLst>
          </p:nvPr>
        </p:nvGrpSpPr>
        <p:grpSpPr>
          <a:xfrm rot="0">
            <a:off x="6727167" y="2751253"/>
            <a:ext cx="3766865" cy="937925"/>
            <a:chOff x="0" y="0"/>
            <a:chExt cx="992096" cy="247026"/>
          </a:xfrm>
        </p:grpSpPr>
        <p:sp>
          <p:nvSpPr>
            <p:cNvPr id="21" name="Freeform 10"/>
            <p:cNvSpPr/>
            <p:nvPr>
              <p:custDataLst>
                <p:tags r:id="rId10"/>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5950C5"/>
            </a:solidFill>
          </p:spPr>
        </p:sp>
        <p:sp>
          <p:nvSpPr>
            <p:cNvPr id="22" name="TextBox 11"/>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23" name="TextBox 12"/>
          <p:cNvSpPr txBox="1"/>
          <p:nvPr>
            <p:custDataLst>
              <p:tags r:id="rId11"/>
            </p:custDataLst>
          </p:nvPr>
        </p:nvSpPr>
        <p:spPr>
          <a:xfrm>
            <a:off x="7619927" y="3086230"/>
            <a:ext cx="2037669" cy="269240"/>
          </a:xfrm>
          <a:prstGeom prst="rect">
            <a:avLst/>
          </a:prstGeom>
        </p:spPr>
        <p:txBody>
          <a:bodyPr lIns="0" tIns="0" rIns="0" bIns="0" rtlCol="0" anchor="t">
            <a:spAutoFit/>
          </a:bodyPr>
          <a:lstStyle/>
          <a:p>
            <a:pPr algn="ctr">
              <a:lnSpc>
                <a:spcPts val="2100"/>
              </a:lnSpc>
            </a:pPr>
            <a:r>
              <a:rPr lang="en-US" sz="2100" b="1">
                <a:solidFill>
                  <a:schemeClr val="tx1"/>
                </a:solidFill>
                <a:latin typeface="DM Sans Bold"/>
                <a:ea typeface="DM Sans Bold"/>
                <a:cs typeface="DM Sans Bold"/>
                <a:sym typeface="DM Sans Bold"/>
              </a:rPr>
              <a:t>Asset-B</a:t>
            </a:r>
            <a:endParaRPr lang="en-US" sz="2100" b="1">
              <a:solidFill>
                <a:schemeClr val="tx1"/>
              </a:solidFill>
              <a:latin typeface="DM Sans Bold"/>
              <a:ea typeface="DM Sans Bold"/>
              <a:cs typeface="DM Sans Bold"/>
              <a:sym typeface="DM Sans Bold"/>
            </a:endParaRPr>
          </a:p>
        </p:txBody>
      </p:sp>
      <p:grpSp>
        <p:nvGrpSpPr>
          <p:cNvPr id="24" name="Group 23"/>
          <p:cNvGrpSpPr/>
          <p:nvPr>
            <p:custDataLst>
              <p:tags r:id="rId12"/>
            </p:custDataLst>
          </p:nvPr>
        </p:nvGrpSpPr>
        <p:grpSpPr>
          <a:xfrm rot="0">
            <a:off x="11894208" y="2751253"/>
            <a:ext cx="3766865" cy="937925"/>
            <a:chOff x="0" y="0"/>
            <a:chExt cx="992096" cy="247026"/>
          </a:xfrm>
        </p:grpSpPr>
        <p:sp>
          <p:nvSpPr>
            <p:cNvPr id="25" name="Freeform 24"/>
            <p:cNvSpPr/>
            <p:nvPr>
              <p:custDataLst>
                <p:tags r:id="rId13"/>
              </p:custDataLst>
            </p:nvPr>
          </p:nvSpPr>
          <p:spPr>
            <a:xfrm>
              <a:off x="0" y="0"/>
              <a:ext cx="992096" cy="247026"/>
            </a:xfrm>
            <a:custGeom>
              <a:avLst/>
              <a:gdLst/>
              <a:ahLst/>
              <a:cxnLst/>
              <a:rect l="l" t="t" r="r" b="b"/>
              <a:pathLst>
                <a:path w="992096" h="247026">
                  <a:moveTo>
                    <a:pt x="0" y="0"/>
                  </a:moveTo>
                  <a:lnTo>
                    <a:pt x="788896" y="0"/>
                  </a:lnTo>
                  <a:lnTo>
                    <a:pt x="992096" y="123513"/>
                  </a:lnTo>
                  <a:lnTo>
                    <a:pt x="788896" y="247026"/>
                  </a:lnTo>
                  <a:lnTo>
                    <a:pt x="0" y="247026"/>
                  </a:lnTo>
                  <a:lnTo>
                    <a:pt x="203200" y="123513"/>
                  </a:lnTo>
                  <a:lnTo>
                    <a:pt x="0" y="0"/>
                  </a:lnTo>
                  <a:close/>
                </a:path>
              </a:pathLst>
            </a:custGeom>
            <a:solidFill>
              <a:srgbClr val="F47C2A"/>
            </a:solidFill>
          </p:spPr>
        </p:sp>
        <p:sp>
          <p:nvSpPr>
            <p:cNvPr id="26" name="TextBox 16"/>
            <p:cNvSpPr txBox="1"/>
            <p:nvPr/>
          </p:nvSpPr>
          <p:spPr>
            <a:xfrm>
              <a:off x="177800" y="28575"/>
              <a:ext cx="738096" cy="218451"/>
            </a:xfrm>
            <a:prstGeom prst="rect">
              <a:avLst/>
            </a:prstGeom>
          </p:spPr>
          <p:txBody>
            <a:bodyPr lIns="50800" tIns="50800" rIns="50800" bIns="50800" rtlCol="0" anchor="ctr"/>
            <a:lstStyle/>
            <a:p>
              <a:pPr algn="ctr">
                <a:lnSpc>
                  <a:spcPts val="2100"/>
                </a:lnSpc>
              </a:pPr>
            </a:p>
          </p:txBody>
        </p:sp>
      </p:grpSp>
      <p:sp>
        <p:nvSpPr>
          <p:cNvPr id="27" name="TextBox 17"/>
          <p:cNvSpPr txBox="1"/>
          <p:nvPr>
            <p:custDataLst>
              <p:tags r:id="rId14"/>
            </p:custDataLst>
          </p:nvPr>
        </p:nvSpPr>
        <p:spPr>
          <a:xfrm>
            <a:off x="12811098" y="3086230"/>
            <a:ext cx="2037669" cy="269240"/>
          </a:xfrm>
          <a:prstGeom prst="rect">
            <a:avLst/>
          </a:prstGeom>
        </p:spPr>
        <p:txBody>
          <a:bodyPr lIns="0" tIns="0" rIns="0" bIns="0" rtlCol="0" anchor="t">
            <a:spAutoFit/>
          </a:bodyPr>
          <a:lstStyle/>
          <a:p>
            <a:pPr algn="ctr">
              <a:lnSpc>
                <a:spcPts val="2100"/>
              </a:lnSpc>
            </a:pPr>
            <a:r>
              <a:rPr lang="en-US" sz="2100" b="1">
                <a:solidFill>
                  <a:srgbClr val="000000"/>
                </a:solidFill>
                <a:latin typeface="DM Sans Bold"/>
                <a:ea typeface="DM Sans Bold"/>
                <a:cs typeface="DM Sans Bold"/>
                <a:sym typeface="DM Sans Bold"/>
              </a:rPr>
              <a:t>Asset-C</a:t>
            </a:r>
            <a:endParaRPr lang="en-US" sz="2100" b="1">
              <a:solidFill>
                <a:srgbClr val="000000"/>
              </a:solidFill>
              <a:latin typeface="DM Sans Bold"/>
              <a:ea typeface="DM Sans Bold"/>
              <a:cs typeface="DM Sans Bold"/>
              <a:sym typeface="DM Sans Bold"/>
            </a:endParaRPr>
          </a:p>
        </p:txBody>
      </p:sp>
      <p:sp>
        <p:nvSpPr>
          <p:cNvPr id="28" name="Text Box 27"/>
          <p:cNvSpPr txBox="1"/>
          <p:nvPr/>
        </p:nvSpPr>
        <p:spPr>
          <a:xfrm>
            <a:off x="963295" y="4610100"/>
            <a:ext cx="9857105" cy="2568575"/>
          </a:xfrm>
          <a:prstGeom prst="rect">
            <a:avLst/>
          </a:prstGeom>
          <a:noFill/>
        </p:spPr>
        <p:txBody>
          <a:bodyPr wrap="square" rtlCol="0" anchor="t">
            <a:spAutoFit/>
          </a:bodyPr>
          <a:p>
            <a:r>
              <a:rPr lang="en-US" altLang="en-US" sz="2300" b="1">
                <a:latin typeface="Times New Roman" panose="02020603050405020304" charset="0"/>
                <a:cs typeface="Times New Roman" panose="02020603050405020304" charset="0"/>
              </a:rPr>
              <a:t>Example:</a:t>
            </a:r>
            <a:endParaRPr lang="en-US" altLang="en-US" sz="2300" b="1">
              <a:latin typeface="Times New Roman" panose="02020603050405020304" charset="0"/>
              <a:cs typeface="Times New Roman" panose="02020603050405020304" charset="0"/>
            </a:endParaRPr>
          </a:p>
          <a:p>
            <a:endParaRPr lang="en-US" altLang="en-US" sz="2300" b="1">
              <a:latin typeface="Times New Roman" panose="02020603050405020304" charset="0"/>
              <a:cs typeface="Times New Roman" panose="02020603050405020304" charset="0"/>
            </a:endParaRPr>
          </a:p>
          <a:p>
            <a:pPr marL="457200" indent="-457200">
              <a:buFont typeface="+mj-lt"/>
              <a:buAutoNum type="alphaUcPeriod"/>
            </a:pPr>
            <a:r>
              <a:rPr lang="en-US" altLang="en-US" sz="2300" b="1">
                <a:latin typeface="Times New Roman" panose="02020603050405020304" charset="0"/>
                <a:cs typeface="Times New Roman" panose="02020603050405020304" charset="0"/>
              </a:rPr>
              <a:t>Raw data asset</a:t>
            </a:r>
            <a:endParaRPr lang="en-US" altLang="en-US" sz="2300" b="1">
              <a:latin typeface="Times New Roman" panose="02020603050405020304" charset="0"/>
              <a:cs typeface="Times New Roman" panose="02020603050405020304" charset="0"/>
            </a:endParaRPr>
          </a:p>
          <a:p>
            <a:pPr marL="457200" indent="-457200">
              <a:buFont typeface="+mj-lt"/>
              <a:buAutoNum type="alphaUcPeriod"/>
            </a:pPr>
            <a:endParaRPr lang="en-US" altLang="en-US" sz="2300" b="1">
              <a:latin typeface="Times New Roman" panose="02020603050405020304" charset="0"/>
              <a:cs typeface="Times New Roman" panose="02020603050405020304" charset="0"/>
            </a:endParaRPr>
          </a:p>
          <a:p>
            <a:pPr marL="457200" indent="-457200">
              <a:buFont typeface="+mj-lt"/>
              <a:buAutoNum type="alphaUcPeriod"/>
            </a:pPr>
            <a:r>
              <a:rPr lang="en-US" altLang="en-US" sz="2300" b="1">
                <a:latin typeface="Times New Roman" panose="02020603050405020304" charset="0"/>
                <a:cs typeface="Times New Roman" panose="02020603050405020304" charset="0"/>
              </a:rPr>
              <a:t>Cleaned data asset</a:t>
            </a:r>
            <a:endParaRPr lang="en-US" altLang="en-US" sz="2300" b="1">
              <a:latin typeface="Times New Roman" panose="02020603050405020304" charset="0"/>
              <a:cs typeface="Times New Roman" panose="02020603050405020304" charset="0"/>
            </a:endParaRPr>
          </a:p>
          <a:p>
            <a:pPr marL="457200" indent="-457200">
              <a:buFont typeface="+mj-lt"/>
              <a:buAutoNum type="alphaUcPeriod"/>
            </a:pPr>
            <a:endParaRPr lang="en-US" altLang="en-US" sz="2300" b="1">
              <a:latin typeface="Times New Roman" panose="02020603050405020304" charset="0"/>
              <a:cs typeface="Times New Roman" panose="02020603050405020304" charset="0"/>
            </a:endParaRPr>
          </a:p>
          <a:p>
            <a:pPr marL="457200" indent="-457200">
              <a:buFont typeface="+mj-lt"/>
              <a:buAutoNum type="alphaUcPeriod"/>
            </a:pPr>
            <a:r>
              <a:rPr lang="en-US" altLang="en-US" sz="2300" b="1">
                <a:latin typeface="Times New Roman" panose="02020603050405020304" charset="0"/>
                <a:cs typeface="Times New Roman" panose="02020603050405020304" charset="0"/>
              </a:rPr>
              <a:t>Aggregated data asset</a:t>
            </a:r>
            <a:endParaRPr lang="en-US" altLang="en-US" sz="2300" b="1">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533400" y="952500"/>
            <a:ext cx="17299940" cy="8450580"/>
          </a:xfrm>
          <a:prstGeom prst="rect">
            <a:avLst/>
          </a:prstGeom>
          <a:noFill/>
        </p:spPr>
        <p:txBody>
          <a:bodyPr wrap="square" rtlCol="0" anchor="t">
            <a:noAutofit/>
          </a:bodyPr>
          <a:p>
            <a:r>
              <a:rPr lang="zh-CN" altLang="en-US" sz="2300" b="1">
                <a:latin typeface="Times New Roman" panose="02020603050405020304" charset="0"/>
                <a:cs typeface="Times New Roman" panose="02020603050405020304" charset="0"/>
                <a:sym typeface="+mn-ea"/>
              </a:rPr>
              <a:t>🔹</a:t>
            </a:r>
            <a:r>
              <a:rPr lang="en-US" altLang="en-US" sz="2300" b="1">
                <a:latin typeface="Times New Roman" panose="02020603050405020304" charset="0"/>
                <a:cs typeface="Times New Roman" panose="02020603050405020304" charset="0"/>
                <a:sym typeface="+mn-ea"/>
              </a:rPr>
              <a:t> How Dagster, Airflow, and Pentaho Differ</a:t>
            </a:r>
            <a:endParaRPr lang="en-US" altLang="en-US" sz="2300" b="1">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Pentaho is like a visual ETL tool</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You see data moving from files to databases using drag-and-drop.</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Best when you want quick, simple data transformations without much coding.</a:t>
            </a:r>
            <a:endParaRPr lang="en-US" altLang="en-US" sz="2300">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Airflow is like a task scheduler</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It focuses on what task runs first and what runs next.</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Great for managing complex workflows, but it doesn’t deeply understand the data itself.</a:t>
            </a:r>
            <a:endParaRPr lang="en-US" altLang="en-US" sz="2300">
              <a:latin typeface="Times New Roman" panose="02020603050405020304" charset="0"/>
              <a:cs typeface="Times New Roman" panose="02020603050405020304" charset="0"/>
              <a:sym typeface="+mn-ea"/>
            </a:endParaRPr>
          </a:p>
          <a:p>
            <a:endParaRPr lang="en-US" altLang="en-US" sz="2300" b="1">
              <a:latin typeface="Times New Roman" panose="02020603050405020304" charset="0"/>
              <a:cs typeface="Times New Roman" panose="02020603050405020304" charset="0"/>
              <a:sym typeface="+mn-ea"/>
            </a:endParaRPr>
          </a:p>
          <a:p>
            <a:r>
              <a:rPr lang="en-US" altLang="en-US" sz="2300" b="1">
                <a:latin typeface="Times New Roman" panose="02020603050405020304" charset="0"/>
                <a:cs typeface="Times New Roman" panose="02020603050405020304" charset="0"/>
                <a:sym typeface="+mn-ea"/>
              </a:rPr>
              <a:t>Dagster is like a data-aware orchestrator</a:t>
            </a:r>
            <a:endParaRPr lang="en-US" altLang="en-US" sz="2300" b="1">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It focuses on what data exists, how it’s created, and whether it’s fresh.</a:t>
            </a:r>
            <a:endParaRPr lang="en-US" altLang="en-US" sz="2300">
              <a:latin typeface="Times New Roman" panose="02020603050405020304" charset="0"/>
              <a:cs typeface="Times New Roman" panose="02020603050405020304" charset="0"/>
              <a:sym typeface="+mn-ea"/>
            </a:endParaRPr>
          </a:p>
          <a:p>
            <a:r>
              <a:rPr lang="en-US" altLang="en-US" sz="2300">
                <a:latin typeface="Times New Roman" panose="02020603050405020304" charset="0"/>
                <a:cs typeface="Times New Roman" panose="02020603050405020304" charset="0"/>
                <a:sym typeface="+mn-ea"/>
              </a:rPr>
              <a:t>→ Helps teams understand, debug, and trust their data pipelines.</a:t>
            </a:r>
            <a:endParaRPr lang="en-US" altLang="en-US" sz="2300">
              <a:latin typeface="Times New Roman" panose="02020603050405020304" charset="0"/>
              <a:cs typeface="Times New Roman" panose="02020603050405020304" charset="0"/>
              <a:sym typeface="+mn-ea"/>
            </a:endParaRPr>
          </a:p>
          <a:p>
            <a:endParaRPr lang="en-US" altLang="en-US" sz="2300">
              <a:latin typeface="Times New Roman" panose="02020603050405020304" charset="0"/>
              <a:cs typeface="Times New Roman" panose="02020603050405020304" charset="0"/>
              <a:sym typeface="+mn-ea"/>
            </a:endParaRPr>
          </a:p>
        </p:txBody>
      </p:sp>
      <p:pic>
        <p:nvPicPr>
          <p:cNvPr id="2" name="Picture 1"/>
          <p:cNvPicPr>
            <a:picLocks noChangeAspect="1"/>
          </p:cNvPicPr>
          <p:nvPr/>
        </p:nvPicPr>
        <p:blipFill>
          <a:blip r:embed="rId5"/>
          <a:srcRect l="7813" t="19531" r="7357" b="23438"/>
          <a:stretch>
            <a:fillRect/>
          </a:stretch>
        </p:blipFill>
        <p:spPr>
          <a:xfrm>
            <a:off x="4953000" y="6057900"/>
            <a:ext cx="8816975" cy="3952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reeform 39"/>
          <p:cNvSpPr/>
          <p:nvPr/>
        </p:nvSpPr>
        <p:spPr>
          <a:xfrm flipH="1">
            <a:off x="15383003" y="0"/>
            <a:ext cx="2904997" cy="1728925"/>
          </a:xfrm>
          <a:custGeom>
            <a:avLst/>
            <a:gdLst/>
            <a:ahLst/>
            <a:cxnLst/>
            <a:rect l="l" t="t" r="r" b="b"/>
            <a:pathLst>
              <a:path w="2904997" h="1728925">
                <a:moveTo>
                  <a:pt x="2904997" y="0"/>
                </a:moveTo>
                <a:lnTo>
                  <a:pt x="0" y="0"/>
                </a:lnTo>
                <a:lnTo>
                  <a:pt x="0" y="1728925"/>
                </a:lnTo>
                <a:lnTo>
                  <a:pt x="2904997" y="1728925"/>
                </a:lnTo>
                <a:lnTo>
                  <a:pt x="2904997"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0" name="Freeform 40"/>
          <p:cNvSpPr/>
          <p:nvPr/>
        </p:nvSpPr>
        <p:spPr>
          <a:xfrm flipH="1">
            <a:off x="0" y="8543543"/>
            <a:ext cx="2846243" cy="1733621"/>
          </a:xfrm>
          <a:custGeom>
            <a:avLst/>
            <a:gdLst/>
            <a:ahLst/>
            <a:cxnLst/>
            <a:rect l="l" t="t" r="r" b="b"/>
            <a:pathLst>
              <a:path w="2846243" h="1733621">
                <a:moveTo>
                  <a:pt x="2846243" y="0"/>
                </a:moveTo>
                <a:lnTo>
                  <a:pt x="0" y="0"/>
                </a:lnTo>
                <a:lnTo>
                  <a:pt x="0" y="1733620"/>
                </a:lnTo>
                <a:lnTo>
                  <a:pt x="2846243" y="1733620"/>
                </a:lnTo>
                <a:lnTo>
                  <a:pt x="28462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1" name="Text Box 40"/>
          <p:cNvSpPr txBox="1"/>
          <p:nvPr/>
        </p:nvSpPr>
        <p:spPr>
          <a:xfrm>
            <a:off x="838200" y="3848100"/>
            <a:ext cx="17299940" cy="1581150"/>
          </a:xfrm>
          <a:prstGeom prst="rect">
            <a:avLst/>
          </a:prstGeom>
          <a:noFill/>
        </p:spPr>
        <p:txBody>
          <a:bodyPr wrap="square" rtlCol="0" anchor="t">
            <a:noAutofit/>
          </a:bodyPr>
          <a:p>
            <a:r>
              <a:rPr lang="en-US" altLang="en-US" sz="6000" b="1">
                <a:latin typeface="Arial Black" panose="020B0A04020102020204" charset="0"/>
                <a:cs typeface="Arial Black" panose="020B0A04020102020204" charset="0"/>
                <a:sym typeface="+mn-ea"/>
              </a:rPr>
              <a:t>                   THANK YOU</a:t>
            </a:r>
            <a:endParaRPr lang="en-US" altLang="en-US" sz="6000" b="1">
              <a:latin typeface="Arial Black" panose="020B0A04020102020204" charset="0"/>
              <a:cs typeface="Arial Black" panose="020B0A04020102020204" charset="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2.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3.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4.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5.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6.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7.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8.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9.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0.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1.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2.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3.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4.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5.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6.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7.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8.xml><?xml version="1.0" encoding="utf-8"?>
<p:tagLst xmlns:p="http://schemas.openxmlformats.org/presentationml/2006/main">
  <p:tag name="KSO_WM_DIAGRAM_VIRTUALLY_FRAME" val="{&quot;height&quot;:363.94527559055126,&quot;left&quot;:144.25818897637797,&quot;top&quot;:283.28023622047243,&quot;width&quot;:1151.483622047244}"/>
</p:tagLst>
</file>

<file path=ppt/tags/tag19.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0.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1.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2.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3.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4.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5.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6.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7.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8.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29.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0.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1.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2.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3.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4.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5.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6.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7.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8.xml><?xml version="1.0" encoding="utf-8"?>
<p:tagLst xmlns:p="http://schemas.openxmlformats.org/presentationml/2006/main">
  <p:tag name="KSO_WM_DIAGRAM_VIRTUALLY_FRAME" val="{&quot;height&quot;:95.24023622047248,&quot;left&quot;:164.90677165354327,&quot;top&quot;:238.234094488189,&quot;width&quot;:1110.2485826771656}"/>
</p:tagLst>
</file>

<file path=ppt/tags/tag39.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0.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1.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2.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3.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4.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5.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6.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7.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ags/tag48.xml><?xml version="1.0" encoding="utf-8"?>
<p:tagLst xmlns:p="http://schemas.openxmlformats.org/presentationml/2006/main">
  <p:tag name="KSO_WM_DIAGRAM_VIRTUALLY_FRAME" val="{&quot;height&quot;:116.84023622047248,&quot;left&quot;:122.9067716535433,&quot;top&quot;:216.63409448818896,&quot;width&quot;:1152.24858267716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6443</Words>
  <Application>WPS Presentation</Application>
  <PresentationFormat>On-screen Show (4:3)</PresentationFormat>
  <Paragraphs>217</Paragraphs>
  <Slides>14</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DM Sans Bold</vt:lpstr>
      <vt:lpstr>Canva Sans</vt:lpstr>
      <vt:lpstr>Calibri</vt:lpstr>
      <vt:lpstr>Microsoft YaHei</vt:lpstr>
      <vt:lpstr>Arial Unicode MS</vt:lpstr>
      <vt:lpstr>Times New Roman</vt:lpstr>
      <vt:lpstr>Algerian</vt:lpstr>
      <vt:lpstr>Arial Black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and Management Roadmap Presentation</dc:title>
  <dc:creator/>
  <cp:lastModifiedBy>05 Swapna</cp:lastModifiedBy>
  <cp:revision>3</cp:revision>
  <dcterms:created xsi:type="dcterms:W3CDTF">2006-08-16T00:00:00Z</dcterms:created>
  <dcterms:modified xsi:type="dcterms:W3CDTF">2026-01-13T08:55:03Z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3C5B11B5DFBA421DA0F5419CCD44903D_13</vt:lpwstr>
  </property>
  <property fmtid="{D5CDD505-2E9C-101B-9397-08002B2CF9AE}" pid="3" name="KSOProductBuildVer">
    <vt:lpwstr>1033-12.2.0.23196</vt:lpwstr>
  </property>
</Properties>
</file>