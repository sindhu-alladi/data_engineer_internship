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Gilda Display" charset="1" panose="02000000000000000000"/>
      <p:regular r:id="rId15"/>
    </p:embeddedFont>
    <p:embeddedFont>
      <p:font typeface="HK Grotesk Light" charset="1" panose="00000400000000000000"/>
      <p:regular r:id="rId16"/>
    </p:embeddedFont>
    <p:embeddedFont>
      <p:font typeface="Poppins Bold" charset="1" panose="00000800000000000000"/>
      <p:regular r:id="rId17"/>
    </p:embeddedFont>
    <p:embeddedFont>
      <p:font typeface="Times New Roman" charset="1" panose="02020603050405020304"/>
      <p:regular r:id="rId18"/>
    </p:embeddedFont>
    <p:embeddedFont>
      <p:font typeface="HK Grotesk Bold" charset="1" panose="00000800000000000000"/>
      <p:regular r:id="rId19"/>
    </p:embeddedFont>
    <p:embeddedFont>
      <p:font typeface="Times New Roman Bold" charset="1" panose="02020803070505020304"/>
      <p:regular r:id="rId20"/>
    </p:embeddedFont>
    <p:embeddedFont>
      <p:font typeface="HK Grotesk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11225" y="6787402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" y="666750"/>
            <a:ext cx="8629650" cy="8953500"/>
            <a:chOff x="0" y="0"/>
            <a:chExt cx="1336959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36959" cy="1387131"/>
            </a:xfrm>
            <a:custGeom>
              <a:avLst/>
              <a:gdLst/>
              <a:ahLst/>
              <a:cxnLst/>
              <a:rect r="r" b="b" t="t" l="l"/>
              <a:pathLst>
                <a:path h="1387131" w="1336959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99" r="0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633270" y="220416"/>
            <a:ext cx="7437277" cy="5672039"/>
            <a:chOff x="0" y="0"/>
            <a:chExt cx="9916370" cy="75627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3743343"/>
              <a:ext cx="9916370" cy="3819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308"/>
                </a:lnSpc>
              </a:pPr>
              <a:r>
                <a:rPr lang="en-US" sz="7308">
                  <a:solidFill>
                    <a:srgbClr val="0072C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Databricks Asset Bundles (DABs) &amp; Databricks CLI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47625"/>
              <a:ext cx="9182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514724"/>
            <a:chOff x="0" y="0"/>
            <a:chExt cx="11099800" cy="468629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2057399"/>
              <a:ext cx="11099800" cy="262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>
                  <a:solidFill>
                    <a:srgbClr val="2C3E50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Databricks Asset Bundles are a way to deploy Databricks jobs, notebooks, and pipelines using configuration files instead of manually creating them in the UI.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1450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0072C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Defining DABs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403035" y="4448325"/>
            <a:ext cx="8115300" cy="43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3"/>
              </a:lnSpc>
              <a:spcBef>
                <a:spcPct val="0"/>
              </a:spcBef>
            </a:pPr>
            <a:r>
              <a:rPr lang="en-US" b="true" sz="302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🔹 What Problem Do DABs Solve?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05400"/>
            <a:ext cx="5843111" cy="200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9"/>
              </a:lnSpc>
            </a:pPr>
            <a:r>
              <a:rPr lang="en-US" sz="2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DABs:</a:t>
            </a:r>
          </a:p>
          <a:p>
            <a:pPr algn="l" marL="525609" indent="-262804" lvl="1">
              <a:lnSpc>
                <a:spcPts val="3189"/>
              </a:lnSpc>
              <a:buFont typeface="Arial"/>
              <a:buChar char="•"/>
            </a:pPr>
            <a:r>
              <a:rPr lang="en-US" sz="2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job creation in UI</a:t>
            </a:r>
          </a:p>
          <a:p>
            <a:pPr algn="l" marL="525609" indent="-262804" lvl="1">
              <a:lnSpc>
                <a:spcPts val="3189"/>
              </a:lnSpc>
              <a:buFont typeface="Arial"/>
              <a:buChar char="•"/>
            </a:pPr>
            <a:r>
              <a:rPr lang="en-US" sz="2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 to maintain Dev/Prod consistency</a:t>
            </a:r>
          </a:p>
          <a:p>
            <a:pPr algn="l" marL="525609" indent="-262804" lvl="1">
              <a:lnSpc>
                <a:spcPts val="3189"/>
              </a:lnSpc>
              <a:buFont typeface="Arial"/>
              <a:buChar char="•"/>
            </a:pPr>
            <a:r>
              <a:rPr lang="en-US" sz="2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 to automate CI/CD</a:t>
            </a:r>
          </a:p>
          <a:p>
            <a:pPr algn="l" marL="525609" indent="-262804" lvl="1">
              <a:lnSpc>
                <a:spcPts val="3189"/>
              </a:lnSpc>
              <a:buFont typeface="Arial"/>
              <a:buChar char="•"/>
            </a:pPr>
            <a:r>
              <a:rPr lang="en-US" sz="243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Drift between environments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359763"/>
            <a:ext cx="6364843" cy="20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5"/>
              </a:lnSpc>
              <a:spcBef>
                <a:spcPct val="0"/>
              </a:spcBef>
            </a:pPr>
            <a:r>
              <a:rPr lang="en-US" sz="25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DABs:</a:t>
            </a:r>
          </a:p>
          <a:p>
            <a:pPr algn="l" marL="558165" indent="-279083" lvl="1">
              <a:lnSpc>
                <a:spcPts val="3386"/>
              </a:lnSpc>
              <a:buFont typeface="Arial"/>
              <a:buChar char="•"/>
            </a:pPr>
            <a:r>
              <a:rPr lang="en-US" sz="25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Everything defined in code (databricks.yml)</a:t>
            </a:r>
          </a:p>
          <a:p>
            <a:pPr algn="l" marL="558165" indent="-279083" lvl="1">
              <a:lnSpc>
                <a:spcPts val="3386"/>
              </a:lnSpc>
              <a:buFont typeface="Arial"/>
              <a:buChar char="•"/>
            </a:pPr>
            <a:r>
              <a:rPr lang="en-US" sz="25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Version controlled in Git</a:t>
            </a:r>
          </a:p>
          <a:p>
            <a:pPr algn="l" marL="558165" indent="-279083" lvl="1">
              <a:lnSpc>
                <a:spcPts val="3386"/>
              </a:lnSpc>
              <a:buFont typeface="Arial"/>
              <a:buChar char="•"/>
            </a:pPr>
            <a:r>
              <a:rPr lang="en-US" sz="25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Same bundle deployable to Dev, Test, Prod</a:t>
            </a:r>
          </a:p>
          <a:p>
            <a:pPr algn="l" marL="558165" indent="-279083" lvl="1">
              <a:lnSpc>
                <a:spcPts val="3386"/>
              </a:lnSpc>
              <a:buFont typeface="Arial"/>
              <a:buChar char="•"/>
            </a:pPr>
            <a:r>
              <a:rPr lang="en-US" sz="25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CI/CD pipelines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3282535"/>
            <a:ext cx="12639675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-1268288">
            <a:off x="14795639" y="5873497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1268288">
            <a:off x="-6005389" y="-6781594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2936642" y="493381"/>
            <a:ext cx="11653583" cy="9300238"/>
          </a:xfrm>
          <a:custGeom>
            <a:avLst/>
            <a:gdLst/>
            <a:ahLst/>
            <a:cxnLst/>
            <a:rect r="r" b="b" t="t" l="l"/>
            <a:pathLst>
              <a:path h="9300238" w="11653583">
                <a:moveTo>
                  <a:pt x="0" y="0"/>
                </a:moveTo>
                <a:lnTo>
                  <a:pt x="11653583" y="0"/>
                </a:lnTo>
                <a:lnTo>
                  <a:pt x="11653583" y="9300238"/>
                </a:lnTo>
                <a:lnTo>
                  <a:pt x="0" y="9300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150" y="755573"/>
            <a:ext cx="139255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DAB Project Structure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40708" y="2360975"/>
            <a:ext cx="6462353" cy="6452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```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dab_project/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├── databricks.yml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├── resources/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│   └── job.yml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├── src/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│   └── notebook.ipynb</a:t>
            </a:r>
          </a:p>
          <a:p>
            <a:pPr algn="l" marL="0" indent="0" lvl="0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└── .databricks/</a:t>
            </a:r>
          </a:p>
          <a:p>
            <a:pPr algn="l">
              <a:lnSpc>
                <a:spcPts val="5645"/>
              </a:lnSpc>
            </a:pPr>
            <a:r>
              <a:rPr lang="en-US" b="true" sz="4704">
                <a:solidFill>
                  <a:srgbClr val="0072C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```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3558925"/>
            <a:ext cx="7837333" cy="363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5"/>
              </a:lnSpc>
              <a:spcBef>
                <a:spcPct val="0"/>
              </a:spcBef>
            </a:pPr>
            <a:r>
              <a:rPr lang="en-US" sz="36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Folder Explanation:</a:t>
            </a:r>
          </a:p>
          <a:p>
            <a:pPr algn="l" marL="785349" indent="-392675" lvl="1">
              <a:lnSpc>
                <a:spcPts val="6693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databricks.yml → Main config</a:t>
            </a:r>
          </a:p>
          <a:p>
            <a:pPr algn="l" marL="785349" indent="-392675" lvl="1">
              <a:lnSpc>
                <a:spcPts val="4365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resources/ → Job definitions</a:t>
            </a:r>
          </a:p>
          <a:p>
            <a:pPr algn="l" marL="785349" indent="-392675" lvl="1">
              <a:lnSpc>
                <a:spcPts val="4365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src/ → Code (notebooks)</a:t>
            </a:r>
          </a:p>
          <a:p>
            <a:pPr algn="l" marL="785349" indent="-392675" lvl="1">
              <a:lnSpc>
                <a:spcPts val="4365"/>
              </a:lnSpc>
              <a:buFont typeface="Arial"/>
              <a:buChar char="•"/>
            </a:pPr>
            <a:r>
              <a:rPr lang="en-US" sz="363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.databricks/ → Internal deployment files (auto-generated)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838200"/>
            <a:ext cx="9150851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Co</a:t>
            </a: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re File in DAB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6252" y="2663725"/>
            <a:ext cx="9191349" cy="600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📁 databricks.yml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the heart of a DAB project.</a:t>
            </a:r>
          </a:p>
          <a:p>
            <a:pPr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defines: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name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Cluster configs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 / Prod environments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Parameters</a:t>
            </a:r>
          </a:p>
          <a:p>
            <a:pPr algn="l" marL="777240" indent="-388620" lvl="1">
              <a:lnSpc>
                <a:spcPts val="4320"/>
              </a:lnSpc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ensures the same configuration works across multiple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945975">
            <a:off x="15101778" y="-5016438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29875" y="1363252"/>
            <a:ext cx="6829425" cy="8502860"/>
            <a:chOff x="0" y="0"/>
            <a:chExt cx="1114132" cy="13871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4132" cy="1387131"/>
            </a:xfrm>
            <a:custGeom>
              <a:avLst/>
              <a:gdLst/>
              <a:ahLst/>
              <a:cxnLst/>
              <a:rect r="r" b="b" t="t" l="l"/>
              <a:pathLst>
                <a:path h="1387131" w="1114132">
                  <a:moveTo>
                    <a:pt x="45344" y="0"/>
                  </a:moveTo>
                  <a:lnTo>
                    <a:pt x="1068788" y="0"/>
                  </a:lnTo>
                  <a:cubicBezTo>
                    <a:pt x="1093831" y="0"/>
                    <a:pt x="1114132" y="20301"/>
                    <a:pt x="1114132" y="45344"/>
                  </a:cubicBezTo>
                  <a:lnTo>
                    <a:pt x="1114132" y="1341787"/>
                  </a:lnTo>
                  <a:cubicBezTo>
                    <a:pt x="1114132" y="1366830"/>
                    <a:pt x="1093831" y="1387131"/>
                    <a:pt x="1068788" y="1387131"/>
                  </a:cubicBezTo>
                  <a:lnTo>
                    <a:pt x="45344" y="1387131"/>
                  </a:lnTo>
                  <a:cubicBezTo>
                    <a:pt x="20301" y="1387131"/>
                    <a:pt x="0" y="1366830"/>
                    <a:pt x="0" y="1341787"/>
                  </a:cubicBezTo>
                  <a:lnTo>
                    <a:pt x="0" y="45344"/>
                  </a:lnTo>
                  <a:cubicBezTo>
                    <a:pt x="0" y="20301"/>
                    <a:pt x="20301" y="0"/>
                    <a:pt x="45344" y="0"/>
                  </a:cubicBezTo>
                  <a:close/>
                </a:path>
              </a:pathLst>
            </a:custGeom>
            <a:blipFill>
              <a:blip r:embed="rId4"/>
              <a:stretch>
                <a:fillRect l="-346" t="0" r="-346" b="0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666750" y="838173"/>
            <a:ext cx="8710317" cy="228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Wha</a:t>
            </a: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t is Databricks CLI?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7417" y="3281057"/>
            <a:ext cx="9274627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Databricks CLI (Command Line Interface) is a tool that allows you to interact with Databricks workspaces using terminal commands.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7417" y="5100332"/>
            <a:ext cx="63433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Why CLI is Required for DABs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3900" y="5805182"/>
            <a:ext cx="5685657" cy="345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1"/>
              </a:lnSpc>
              <a:spcBef>
                <a:spcPct val="0"/>
              </a:spcBef>
            </a:pPr>
            <a:r>
              <a:rPr lang="en-US" b="true" sz="2892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DABs cannot run without CLI.</a:t>
            </a:r>
          </a:p>
          <a:p>
            <a:pPr algn="l">
              <a:lnSpc>
                <a:spcPts val="3471"/>
              </a:lnSpc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CLI performs:</a:t>
            </a:r>
          </a:p>
          <a:p>
            <a:pPr algn="l" marL="624498" indent="-312249" lvl="1">
              <a:lnSpc>
                <a:spcPts val="3471"/>
              </a:lnSpc>
              <a:buFont typeface="Arial"/>
              <a:buChar char="•"/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Authentication</a:t>
            </a:r>
          </a:p>
          <a:p>
            <a:pPr algn="l" marL="624498" indent="-312249" lvl="1">
              <a:lnSpc>
                <a:spcPts val="3471"/>
              </a:lnSpc>
              <a:buFont typeface="Arial"/>
              <a:buChar char="•"/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Validation</a:t>
            </a:r>
          </a:p>
          <a:p>
            <a:pPr algn="l" marL="624498" indent="-312249" lvl="1">
              <a:lnSpc>
                <a:spcPts val="3471"/>
              </a:lnSpc>
              <a:buFont typeface="Arial"/>
              <a:buChar char="•"/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Deployment</a:t>
            </a:r>
          </a:p>
          <a:p>
            <a:pPr algn="l" marL="624498" indent="-312249" lvl="1">
              <a:lnSpc>
                <a:spcPts val="3471"/>
              </a:lnSpc>
              <a:buFont typeface="Arial"/>
              <a:buChar char="•"/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Job execution</a:t>
            </a:r>
          </a:p>
          <a:p>
            <a:pPr algn="l" marL="624498" indent="-312249" lvl="1">
              <a:lnSpc>
                <a:spcPts val="3471"/>
              </a:lnSpc>
              <a:buFont typeface="Arial"/>
              <a:buChar char="•"/>
            </a:pPr>
            <a:r>
              <a:rPr lang="en-US" sz="289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Environment selection</a:t>
            </a:r>
          </a:p>
          <a:p>
            <a:pPr algn="l">
              <a:lnSpc>
                <a:spcPts val="3471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437773">
            <a:off x="13770320" y="-6241286"/>
            <a:ext cx="12640239" cy="11904807"/>
          </a:xfrm>
          <a:custGeom>
            <a:avLst/>
            <a:gdLst/>
            <a:ahLst/>
            <a:cxnLst/>
            <a:rect r="r" b="b" t="t" l="l"/>
            <a:pathLst>
              <a:path h="11904807" w="12640239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384435" y="297303"/>
            <a:ext cx="5945502" cy="9720895"/>
          </a:xfrm>
          <a:custGeom>
            <a:avLst/>
            <a:gdLst/>
            <a:ahLst/>
            <a:cxnLst/>
            <a:rect r="r" b="b" t="t" l="l"/>
            <a:pathLst>
              <a:path h="9720895" w="5945502">
                <a:moveTo>
                  <a:pt x="0" y="0"/>
                </a:moveTo>
                <a:lnTo>
                  <a:pt x="5945502" y="0"/>
                </a:lnTo>
                <a:lnTo>
                  <a:pt x="5945502" y="9720895"/>
                </a:lnTo>
                <a:lnTo>
                  <a:pt x="0" y="97208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388" t="-1981" r="-20300" b="-2441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838200"/>
            <a:ext cx="9121946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Import</a:t>
            </a: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ant CLI Commands for DABs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38200"/>
            <a:ext cx="14077950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sz="8799">
                <a:solidFill>
                  <a:srgbClr val="0072C6"/>
                </a:solidFill>
                <a:latin typeface="Gilda Display"/>
                <a:ea typeface="Gilda Display"/>
                <a:cs typeface="Gilda Display"/>
                <a:sym typeface="Gilda Display"/>
              </a:rPr>
              <a:t>Typical Workflow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6774" y="3314700"/>
            <a:ext cx="2856970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Asset Development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27101" y="3771900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Asset Bundling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680624" y="4838700"/>
            <a:ext cx="17607376" cy="0"/>
          </a:xfrm>
          <a:prstGeom prst="line">
            <a:avLst/>
          </a:prstGeom>
          <a:ln cap="flat" w="19050">
            <a:solidFill>
              <a:srgbClr val="2C3E5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356774" y="4676775"/>
            <a:ext cx="323850" cy="323850"/>
            <a:chOff x="0" y="0"/>
            <a:chExt cx="635000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33600" y="4676775"/>
            <a:ext cx="323850" cy="323850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892670" y="4676775"/>
            <a:ext cx="323850" cy="323850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C3E5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882024" y="3771900"/>
            <a:ext cx="28593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2C3E5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Deployment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6774" y="5372100"/>
            <a:ext cx="40100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Create notebooks and jobs locally for testing.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3600" y="5372100"/>
            <a:ext cx="3986299" cy="159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Package assets using DAB format for deployment.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62974" y="5372100"/>
            <a:ext cx="401002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strike="noStrike" u="none">
                <a:solidFill>
                  <a:srgbClr val="2C3E50"/>
                </a:solidFill>
                <a:latin typeface="HK Grotesk"/>
                <a:ea typeface="HK Grotesk"/>
                <a:cs typeface="HK Grotesk"/>
                <a:sym typeface="HK Grotesk"/>
              </a:rPr>
              <a:t>Use CLI commands to upload and run jobs.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8953500"/>
            <a:chOff x="0" y="0"/>
            <a:chExt cx="1200275" cy="15605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0275" cy="1560523"/>
            </a:xfrm>
            <a:custGeom>
              <a:avLst/>
              <a:gdLst/>
              <a:ahLst/>
              <a:cxnLst/>
              <a:rect r="r" b="b" t="t" l="l"/>
              <a:pathLst>
                <a:path h="1560523" w="1200275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1515555"/>
                  </a:lnTo>
                  <a:cubicBezTo>
                    <a:pt x="1200275" y="1527481"/>
                    <a:pt x="1195537" y="1538919"/>
                    <a:pt x="1187104" y="1547352"/>
                  </a:cubicBezTo>
                  <a:cubicBezTo>
                    <a:pt x="1178670" y="1555785"/>
                    <a:pt x="1167233" y="1560523"/>
                    <a:pt x="1155306" y="1560523"/>
                  </a:cubicBezTo>
                  <a:lnTo>
                    <a:pt x="44968" y="1560523"/>
                  </a:lnTo>
                  <a:cubicBezTo>
                    <a:pt x="33042" y="1560523"/>
                    <a:pt x="21604" y="1555785"/>
                    <a:pt x="13171" y="1547352"/>
                  </a:cubicBezTo>
                  <a:cubicBezTo>
                    <a:pt x="4738" y="1538919"/>
                    <a:pt x="0" y="1527481"/>
                    <a:pt x="0" y="151555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89" r="0" b="-189"/>
              </a:stretch>
            </a:blipFill>
            <a:ln w="19050" cap="rnd">
              <a:solidFill>
                <a:srgbClr val="432766"/>
              </a:soli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9150" y="2756301"/>
            <a:ext cx="8868673" cy="2873882"/>
            <a:chOff x="0" y="0"/>
            <a:chExt cx="11824898" cy="383184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11099800" cy="647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725098" y="2219366"/>
              <a:ext cx="11099800" cy="16124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99"/>
                </a:lnSpc>
              </a:pPr>
              <a:r>
                <a:rPr lang="en-US" sz="8799">
                  <a:solidFill>
                    <a:srgbClr val="0072C6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Thank You!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Databricks Asset Bundles &amp; CLI</dc:description>
  <dc:identifier>DAHCUeSHxhQ</dc:identifier>
  <dcterms:modified xsi:type="dcterms:W3CDTF">2011-08-01T06:04:30Z</dcterms:modified>
  <cp:revision>1</cp:revision>
  <dc:title>Presentation - Databricks Asset Bundles &amp; CLI</dc:title>
</cp:coreProperties>
</file>