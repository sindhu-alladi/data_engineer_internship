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Lst>
  <p:sldSz cx="18288000" cy="10287000"/>
  <p:notesSz cx="6858000" cy="9144000"/>
  <p:embeddedFontLst>
    <p:embeddedFont>
      <p:font typeface="Noto Serif Display ExtraCondensed Light" panose="02020406080505020204"/>
      <p:regular r:id="rId15"/>
    </p:embeddedFont>
    <p:embeddedFont>
      <p:font typeface="Montserrat Bold" panose="00000800000000000000"/>
      <p:bold r:id="rId16"/>
    </p:embeddedFont>
    <p:embeddedFont>
      <p:font typeface="DM Sans"/>
      <p:regular r:id="rId17"/>
    </p:embeddedFont>
    <p:embeddedFont>
      <p:font typeface="Calibri" panose="020F0502020204030204" charset="0"/>
      <p:regular r:id="rId18"/>
      <p:bold r:id="rId19"/>
      <p:italic r:id="rId20"/>
      <p:bold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3"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23"/>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font" Target="fonts/font7.fntdata"/><Relationship Id="rId20" Type="http://schemas.openxmlformats.org/officeDocument/2006/relationships/font" Target="fonts/font6.fntdata"/><Relationship Id="rId2" Type="http://schemas.openxmlformats.org/officeDocument/2006/relationships/theme" Target="theme/theme1.xml"/><Relationship Id="rId19" Type="http://schemas.openxmlformats.org/officeDocument/2006/relationships/font" Target="fonts/font5.fntdata"/><Relationship Id="rId18" Type="http://schemas.openxmlformats.org/officeDocument/2006/relationships/font" Target="fonts/font4.fntdata"/><Relationship Id="rId17" Type="http://schemas.openxmlformats.org/officeDocument/2006/relationships/font" Target="fonts/font3.fntdata"/><Relationship Id="rId16" Type="http://schemas.openxmlformats.org/officeDocument/2006/relationships/font" Target="fonts/font2.fntdata"/><Relationship Id="rId15" Type="http://schemas.openxmlformats.org/officeDocument/2006/relationships/font" Target="fonts/font1.fntdata"/><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image" Target="../media/image14.svg"/><Relationship Id="rId7" Type="http://schemas.openxmlformats.org/officeDocument/2006/relationships/image" Target="../media/image13.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 Id="rId3" Type="http://schemas.openxmlformats.org/officeDocument/2006/relationships/image" Target="../media/image9.png"/><Relationship Id="rId2" Type="http://schemas.openxmlformats.org/officeDocument/2006/relationships/image" Target="../media/image8.svg"/><Relationship Id="rId17" Type="http://schemas.openxmlformats.org/officeDocument/2006/relationships/slideLayout" Target="../slideLayouts/slideLayout7.xml"/><Relationship Id="rId16" Type="http://schemas.openxmlformats.org/officeDocument/2006/relationships/image" Target="../media/image22.svg"/><Relationship Id="rId15" Type="http://schemas.openxmlformats.org/officeDocument/2006/relationships/image" Target="../media/image21.png"/><Relationship Id="rId14" Type="http://schemas.openxmlformats.org/officeDocument/2006/relationships/image" Target="../media/image20.svg"/><Relationship Id="rId13" Type="http://schemas.openxmlformats.org/officeDocument/2006/relationships/image" Target="../media/image19.png"/><Relationship Id="rId12" Type="http://schemas.openxmlformats.org/officeDocument/2006/relationships/image" Target="../media/image18.svg"/><Relationship Id="rId11" Type="http://schemas.openxmlformats.org/officeDocument/2006/relationships/image" Target="../media/image17.png"/><Relationship Id="rId10" Type="http://schemas.openxmlformats.org/officeDocument/2006/relationships/image" Target="../media/image16.sv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9296400" y="0"/>
            <a:ext cx="8991600" cy="10287000"/>
            <a:chOff x="0" y="0"/>
            <a:chExt cx="1393034" cy="1593725"/>
          </a:xfrm>
        </p:grpSpPr>
        <p:sp>
          <p:nvSpPr>
            <p:cNvPr id="3" name="Freeform 3"/>
            <p:cNvSpPr/>
            <p:nvPr/>
          </p:nvSpPr>
          <p:spPr>
            <a:xfrm>
              <a:off x="0" y="0"/>
              <a:ext cx="1393034" cy="1593725"/>
            </a:xfrm>
            <a:custGeom>
              <a:avLst/>
              <a:gdLst/>
              <a:ahLst/>
              <a:cxnLst/>
              <a:rect l="l" t="t" r="r" b="b"/>
              <a:pathLst>
                <a:path w="1393034" h="1593725">
                  <a:moveTo>
                    <a:pt x="0" y="0"/>
                  </a:moveTo>
                  <a:lnTo>
                    <a:pt x="1393034" y="0"/>
                  </a:lnTo>
                  <a:lnTo>
                    <a:pt x="1393034" y="1593725"/>
                  </a:lnTo>
                  <a:lnTo>
                    <a:pt x="0" y="1593725"/>
                  </a:lnTo>
                  <a:close/>
                </a:path>
              </a:pathLst>
            </a:custGeom>
            <a:blipFill>
              <a:blip r:embed="rId1"/>
              <a:stretch>
                <a:fillRect t="-597" b="-597"/>
              </a:stretch>
            </a:blipFill>
          </p:spPr>
        </p:sp>
      </p:grpSp>
      <p:grpSp>
        <p:nvGrpSpPr>
          <p:cNvPr id="4" name="Group 4"/>
          <p:cNvGrpSpPr/>
          <p:nvPr/>
        </p:nvGrpSpPr>
        <p:grpSpPr>
          <a:xfrm rot="0">
            <a:off x="640542" y="1666811"/>
            <a:ext cx="6886575" cy="6953378"/>
            <a:chOff x="0" y="0"/>
            <a:chExt cx="9182100" cy="9271170"/>
          </a:xfrm>
        </p:grpSpPr>
        <p:sp>
          <p:nvSpPr>
            <p:cNvPr id="5" name="TextBox 5"/>
            <p:cNvSpPr txBox="1"/>
            <p:nvPr/>
          </p:nvSpPr>
          <p:spPr>
            <a:xfrm>
              <a:off x="0" y="8712370"/>
              <a:ext cx="9182100" cy="558800"/>
            </a:xfrm>
            <a:prstGeom prst="rect">
              <a:avLst/>
            </a:prstGeom>
          </p:spPr>
          <p:txBody>
            <a:bodyPr lIns="0" tIns="0" rIns="0" bIns="0" rtlCol="0" anchor="t">
              <a:spAutoFit/>
            </a:bodyPr>
            <a:lstStyle/>
            <a:p>
              <a:pPr marL="0" lvl="0" indent="0" algn="l">
                <a:lnSpc>
                  <a:spcPts val="3360"/>
                </a:lnSpc>
                <a:spcBef>
                  <a:spcPct val="0"/>
                </a:spcBef>
              </a:pPr>
              <a:r>
                <a:rPr lang="en-US" sz="2800" u="none">
                  <a:solidFill>
                    <a:srgbClr val="363636"/>
                  </a:solidFill>
                  <a:latin typeface="HK Grotesk" panose="00000500000000000000"/>
                  <a:ea typeface="HK Grotesk" panose="00000500000000000000"/>
                  <a:cs typeface="HK Grotesk" panose="00000500000000000000"/>
                  <a:sym typeface="HK Grotesk" panose="00000500000000000000"/>
                </a:rPr>
                <a:t>Presented by Alladi Sindhu</a:t>
              </a:r>
              <a:endParaRPr lang="en-US" sz="2800" u="none">
                <a:solidFill>
                  <a:srgbClr val="363636"/>
                </a:solidFill>
                <a:latin typeface="HK Grotesk" panose="00000500000000000000"/>
                <a:ea typeface="HK Grotesk" panose="00000500000000000000"/>
                <a:cs typeface="HK Grotesk" panose="00000500000000000000"/>
                <a:sym typeface="HK Grotesk" panose="00000500000000000000"/>
              </a:endParaRPr>
            </a:p>
          </p:txBody>
        </p:sp>
        <p:sp>
          <p:nvSpPr>
            <p:cNvPr id="6" name="TextBox 6"/>
            <p:cNvSpPr txBox="1"/>
            <p:nvPr/>
          </p:nvSpPr>
          <p:spPr>
            <a:xfrm>
              <a:off x="0" y="171450"/>
              <a:ext cx="5680076" cy="7672240"/>
            </a:xfrm>
            <a:prstGeom prst="rect">
              <a:avLst/>
            </a:prstGeom>
          </p:spPr>
          <p:txBody>
            <a:bodyPr lIns="0" tIns="0" rIns="0" bIns="0" rtlCol="0" anchor="t">
              <a:spAutoFit/>
            </a:bodyPr>
            <a:lstStyle/>
            <a:p>
              <a:pPr marL="0" lvl="0" indent="0" algn="l">
                <a:lnSpc>
                  <a:spcPts val="8905"/>
                </a:lnSpc>
              </a:pPr>
              <a:r>
                <a:rPr lang="en-US" sz="8905" spc="-178">
                  <a:solidFill>
                    <a:srgbClr val="0A47A1"/>
                  </a:solidFill>
                  <a:latin typeface="Noto Serif Display ExtraCondensed Light" panose="02020406080505020204"/>
                  <a:ea typeface="Noto Serif Display ExtraCondensed Light" panose="02020406080505020204"/>
                  <a:cs typeface="Noto Serif Display ExtraCondensed Light" panose="02020406080505020204"/>
                  <a:sym typeface="Noto Serif Display ExtraCondensed Light" panose="02020406080505020204"/>
                </a:rPr>
                <a:t>Modern ETL with Lakeflow &amp; Delta Lake</a:t>
              </a:r>
              <a:endParaRPr lang="en-US" sz="8905" spc="-178">
                <a:solidFill>
                  <a:srgbClr val="0A47A1"/>
                </a:solidFill>
                <a:latin typeface="Noto Serif Display ExtraCondensed Light" panose="02020406080505020204"/>
                <a:ea typeface="Noto Serif Display ExtraCondensed Light" panose="02020406080505020204"/>
                <a:cs typeface="Noto Serif Display ExtraCondensed Light" panose="02020406080505020204"/>
                <a:sym typeface="Noto Serif Display ExtraCondensed Light" panose="02020406080505020204"/>
              </a:endParaRPr>
            </a:p>
          </p:txBody>
        </p:sp>
      </p:grpSp>
      <p:sp>
        <p:nvSpPr>
          <p:cNvPr id="7" name="AutoShape 7"/>
          <p:cNvSpPr/>
          <p:nvPr/>
        </p:nvSpPr>
        <p:spPr>
          <a:xfrm>
            <a:off x="0" y="676275"/>
            <a:ext cx="9296400" cy="0"/>
          </a:xfrm>
          <a:prstGeom prst="line">
            <a:avLst/>
          </a:prstGeom>
          <a:ln w="19050" cap="flat">
            <a:solidFill>
              <a:srgbClr val="0A47A1"/>
            </a:solidFill>
            <a:prstDash val="solid"/>
            <a:headEnd type="none" w="sm" len="sm"/>
            <a:tailEnd type="none" w="sm" len="sm"/>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66750" y="1743920"/>
            <a:ext cx="6886575" cy="2501265"/>
          </a:xfrm>
          <a:prstGeom prst="rect">
            <a:avLst/>
          </a:prstGeom>
        </p:spPr>
        <p:txBody>
          <a:bodyPr lIns="0" tIns="0" rIns="0" bIns="0" rtlCol="0" anchor="t">
            <a:spAutoFit/>
          </a:bodyPr>
          <a:lstStyle/>
          <a:p>
            <a:pPr marL="0" lvl="0" indent="0" algn="l">
              <a:lnSpc>
                <a:spcPts val="9600"/>
              </a:lnSpc>
            </a:pPr>
            <a:r>
              <a:rPr lang="en-US" sz="9600" spc="-192">
                <a:solidFill>
                  <a:srgbClr val="0A47A1"/>
                </a:solidFill>
                <a:latin typeface="Noto Serif Display ExtraCondensed Light" panose="02020406080505020204"/>
                <a:ea typeface="Noto Serif Display ExtraCondensed Light" panose="02020406080505020204"/>
                <a:cs typeface="Noto Serif Display ExtraCondensed Light" panose="02020406080505020204"/>
                <a:sym typeface="Noto Serif Display ExtraCondensed Light" panose="02020406080505020204"/>
              </a:rPr>
              <a:t>R</a:t>
            </a:r>
            <a:r>
              <a:rPr lang="en-US" sz="9600" spc="-192">
                <a:solidFill>
                  <a:srgbClr val="0A47A1"/>
                </a:solidFill>
                <a:latin typeface="Noto Serif Display ExtraCondensed Light" panose="02020406080505020204"/>
                <a:ea typeface="Noto Serif Display ExtraCondensed Light" panose="02020406080505020204"/>
                <a:cs typeface="Noto Serif Display ExtraCondensed Light" panose="02020406080505020204"/>
                <a:sym typeface="Noto Serif Display ExtraCondensed Light" panose="02020406080505020204"/>
              </a:rPr>
              <a:t>ethinking ETL in Databricks</a:t>
            </a:r>
            <a:endParaRPr lang="en-US" sz="9600" spc="-192">
              <a:solidFill>
                <a:srgbClr val="0A47A1"/>
              </a:solidFill>
              <a:latin typeface="Noto Serif Display ExtraCondensed Light" panose="02020406080505020204"/>
              <a:ea typeface="Noto Serif Display ExtraCondensed Light" panose="02020406080505020204"/>
              <a:cs typeface="Noto Serif Display ExtraCondensed Light" panose="02020406080505020204"/>
              <a:sym typeface="Noto Serif Display ExtraCondensed Light" panose="02020406080505020204"/>
            </a:endParaRPr>
          </a:p>
        </p:txBody>
      </p:sp>
      <p:grpSp>
        <p:nvGrpSpPr>
          <p:cNvPr id="3" name="Group 3"/>
          <p:cNvGrpSpPr/>
          <p:nvPr/>
        </p:nvGrpSpPr>
        <p:grpSpPr>
          <a:xfrm rot="0">
            <a:off x="9296400" y="1562945"/>
            <a:ext cx="4010025" cy="2168447"/>
            <a:chOff x="0" y="0"/>
            <a:chExt cx="621258" cy="335949"/>
          </a:xfrm>
        </p:grpSpPr>
        <p:sp>
          <p:nvSpPr>
            <p:cNvPr id="4" name="Freeform 4"/>
            <p:cNvSpPr/>
            <p:nvPr/>
          </p:nvSpPr>
          <p:spPr>
            <a:xfrm>
              <a:off x="0" y="0"/>
              <a:ext cx="621258" cy="335949"/>
            </a:xfrm>
            <a:custGeom>
              <a:avLst/>
              <a:gdLst/>
              <a:ahLst/>
              <a:cxnLst/>
              <a:rect l="l" t="t" r="r" b="b"/>
              <a:pathLst>
                <a:path w="621258" h="335949">
                  <a:moveTo>
                    <a:pt x="0" y="0"/>
                  </a:moveTo>
                  <a:lnTo>
                    <a:pt x="621258" y="0"/>
                  </a:lnTo>
                  <a:lnTo>
                    <a:pt x="621258" y="335949"/>
                  </a:lnTo>
                  <a:lnTo>
                    <a:pt x="0" y="335949"/>
                  </a:lnTo>
                  <a:close/>
                </a:path>
              </a:pathLst>
            </a:custGeom>
            <a:blipFill>
              <a:blip r:embed="rId1"/>
              <a:stretch>
                <a:fillRect l="-420" r="-420"/>
              </a:stretch>
            </a:blipFill>
          </p:spPr>
        </p:sp>
      </p:grpSp>
      <p:grpSp>
        <p:nvGrpSpPr>
          <p:cNvPr id="5" name="Group 5"/>
          <p:cNvGrpSpPr/>
          <p:nvPr/>
        </p:nvGrpSpPr>
        <p:grpSpPr>
          <a:xfrm rot="0">
            <a:off x="9296400" y="4049741"/>
            <a:ext cx="4010025" cy="2191815"/>
            <a:chOff x="0" y="0"/>
            <a:chExt cx="621258" cy="339569"/>
          </a:xfrm>
        </p:grpSpPr>
        <p:sp>
          <p:nvSpPr>
            <p:cNvPr id="6" name="Freeform 6"/>
            <p:cNvSpPr/>
            <p:nvPr/>
          </p:nvSpPr>
          <p:spPr>
            <a:xfrm>
              <a:off x="0" y="0"/>
              <a:ext cx="621258" cy="339569"/>
            </a:xfrm>
            <a:custGeom>
              <a:avLst/>
              <a:gdLst/>
              <a:ahLst/>
              <a:cxnLst/>
              <a:rect l="l" t="t" r="r" b="b"/>
              <a:pathLst>
                <a:path w="621258" h="339569">
                  <a:moveTo>
                    <a:pt x="0" y="0"/>
                  </a:moveTo>
                  <a:lnTo>
                    <a:pt x="621258" y="0"/>
                  </a:lnTo>
                  <a:lnTo>
                    <a:pt x="621258" y="339569"/>
                  </a:lnTo>
                  <a:lnTo>
                    <a:pt x="0" y="339569"/>
                  </a:lnTo>
                  <a:close/>
                </a:path>
              </a:pathLst>
            </a:custGeom>
            <a:blipFill>
              <a:blip r:embed="rId2"/>
              <a:stretch>
                <a:fillRect l="-376" r="-376"/>
              </a:stretch>
            </a:blipFill>
          </p:spPr>
        </p:sp>
      </p:grpSp>
      <p:grpSp>
        <p:nvGrpSpPr>
          <p:cNvPr id="7" name="Group 7"/>
          <p:cNvGrpSpPr/>
          <p:nvPr/>
        </p:nvGrpSpPr>
        <p:grpSpPr>
          <a:xfrm rot="0">
            <a:off x="9296400" y="6559904"/>
            <a:ext cx="4010025" cy="2164996"/>
            <a:chOff x="0" y="0"/>
            <a:chExt cx="621258" cy="335415"/>
          </a:xfrm>
        </p:grpSpPr>
        <p:sp>
          <p:nvSpPr>
            <p:cNvPr id="8" name="Freeform 8"/>
            <p:cNvSpPr/>
            <p:nvPr/>
          </p:nvSpPr>
          <p:spPr>
            <a:xfrm>
              <a:off x="0" y="0"/>
              <a:ext cx="621258" cy="335415"/>
            </a:xfrm>
            <a:custGeom>
              <a:avLst/>
              <a:gdLst/>
              <a:ahLst/>
              <a:cxnLst/>
              <a:rect l="l" t="t" r="r" b="b"/>
              <a:pathLst>
                <a:path w="621258" h="335415">
                  <a:moveTo>
                    <a:pt x="0" y="0"/>
                  </a:moveTo>
                  <a:lnTo>
                    <a:pt x="621258" y="0"/>
                  </a:lnTo>
                  <a:lnTo>
                    <a:pt x="621258" y="335415"/>
                  </a:lnTo>
                  <a:lnTo>
                    <a:pt x="0" y="335415"/>
                  </a:lnTo>
                  <a:close/>
                </a:path>
              </a:pathLst>
            </a:custGeom>
            <a:blipFill>
              <a:blip r:embed="rId3"/>
              <a:stretch>
                <a:fillRect l="-339" r="-339"/>
              </a:stretch>
            </a:blipFill>
          </p:spPr>
        </p:sp>
      </p:grpSp>
      <p:grpSp>
        <p:nvGrpSpPr>
          <p:cNvPr id="9" name="Group 9"/>
          <p:cNvGrpSpPr/>
          <p:nvPr/>
        </p:nvGrpSpPr>
        <p:grpSpPr>
          <a:xfrm rot="0">
            <a:off x="13611225" y="1562100"/>
            <a:ext cx="4010025" cy="1619672"/>
            <a:chOff x="0" y="0"/>
            <a:chExt cx="5346700" cy="2159563"/>
          </a:xfrm>
        </p:grpSpPr>
        <p:sp>
          <p:nvSpPr>
            <p:cNvPr id="10" name="TextBox 10"/>
            <p:cNvSpPr txBox="1"/>
            <p:nvPr/>
          </p:nvSpPr>
          <p:spPr>
            <a:xfrm>
              <a:off x="0" y="1194363"/>
              <a:ext cx="5346700" cy="965200"/>
            </a:xfrm>
            <a:prstGeom prst="rect">
              <a:avLst/>
            </a:prstGeom>
          </p:spPr>
          <p:txBody>
            <a:bodyPr lIns="0" tIns="0" rIns="0" bIns="0" rtlCol="0" anchor="t">
              <a:spAutoFit/>
            </a:bodyPr>
            <a:lstStyle/>
            <a:p>
              <a:pPr marL="0" lvl="0" indent="0" algn="l">
                <a:lnSpc>
                  <a:spcPts val="2880"/>
                </a:lnSpc>
              </a:pPr>
              <a:r>
                <a:rPr lang="en-US" sz="2400" u="none" strike="noStrike">
                  <a:solidFill>
                    <a:srgbClr val="363636"/>
                  </a:solidFill>
                  <a:latin typeface="HK Grotesk" panose="00000500000000000000"/>
                  <a:ea typeface="HK Grotesk" panose="00000500000000000000"/>
                  <a:cs typeface="HK Grotesk" panose="00000500000000000000"/>
                  <a:sym typeface="HK Grotesk" panose="00000500000000000000"/>
                </a:rPr>
                <a:t>Streamline data processes with clear configurations.</a:t>
              </a:r>
              <a:endParaRPr lang="en-US" sz="2400" u="none" strike="noStrike">
                <a:solidFill>
                  <a:srgbClr val="363636"/>
                </a:solidFill>
                <a:latin typeface="HK Grotesk" panose="00000500000000000000"/>
                <a:ea typeface="HK Grotesk" panose="00000500000000000000"/>
                <a:cs typeface="HK Grotesk" panose="00000500000000000000"/>
                <a:sym typeface="HK Grotesk" panose="00000500000000000000"/>
              </a:endParaRPr>
            </a:p>
          </p:txBody>
        </p:sp>
        <p:sp>
          <p:nvSpPr>
            <p:cNvPr id="11" name="TextBox 11"/>
            <p:cNvSpPr txBox="1"/>
            <p:nvPr/>
          </p:nvSpPr>
          <p:spPr>
            <a:xfrm>
              <a:off x="0" y="0"/>
              <a:ext cx="5346700" cy="558800"/>
            </a:xfrm>
            <a:prstGeom prst="rect">
              <a:avLst/>
            </a:prstGeom>
          </p:spPr>
          <p:txBody>
            <a:bodyPr lIns="0" tIns="0" rIns="0" bIns="0" rtlCol="0" anchor="t">
              <a:spAutoFit/>
            </a:bodyPr>
            <a:lstStyle/>
            <a:p>
              <a:pPr marL="0" lvl="0" indent="0" algn="l">
                <a:lnSpc>
                  <a:spcPts val="3360"/>
                </a:lnSpc>
              </a:pPr>
              <a:r>
                <a:rPr lang="en-US" sz="2800" b="1" u="none" strike="noStrike">
                  <a:solidFill>
                    <a:srgbClr val="B99733"/>
                  </a:solidFill>
                  <a:latin typeface="HK Grotesk Semi-Bold" panose="00000700000000000000"/>
                  <a:ea typeface="HK Grotesk Semi-Bold" panose="00000700000000000000"/>
                  <a:cs typeface="HK Grotesk Semi-Bold" panose="00000700000000000000"/>
                  <a:sym typeface="HK Grotesk Semi-Bold" panose="00000700000000000000"/>
                </a:rPr>
                <a:t>Declarative Pipelines</a:t>
              </a:r>
              <a:endParaRPr lang="en-US" sz="2800" b="1" u="none" strike="noStrike">
                <a:solidFill>
                  <a:srgbClr val="B99733"/>
                </a:solidFill>
                <a:latin typeface="HK Grotesk Semi-Bold" panose="00000700000000000000"/>
                <a:ea typeface="HK Grotesk Semi-Bold" panose="00000700000000000000"/>
                <a:cs typeface="HK Grotesk Semi-Bold" panose="00000700000000000000"/>
                <a:sym typeface="HK Grotesk Semi-Bold" panose="00000700000000000000"/>
              </a:endParaRPr>
            </a:p>
          </p:txBody>
        </p:sp>
      </p:grpSp>
      <p:grpSp>
        <p:nvGrpSpPr>
          <p:cNvPr id="12" name="Group 12"/>
          <p:cNvGrpSpPr/>
          <p:nvPr/>
        </p:nvGrpSpPr>
        <p:grpSpPr>
          <a:xfrm rot="0">
            <a:off x="13611225" y="4049741"/>
            <a:ext cx="4010025" cy="1618693"/>
            <a:chOff x="0" y="0"/>
            <a:chExt cx="5346700" cy="2158257"/>
          </a:xfrm>
        </p:grpSpPr>
        <p:sp>
          <p:nvSpPr>
            <p:cNvPr id="13" name="TextBox 13"/>
            <p:cNvSpPr txBox="1"/>
            <p:nvPr/>
          </p:nvSpPr>
          <p:spPr>
            <a:xfrm>
              <a:off x="0" y="1193057"/>
              <a:ext cx="5346700" cy="965200"/>
            </a:xfrm>
            <a:prstGeom prst="rect">
              <a:avLst/>
            </a:prstGeom>
          </p:spPr>
          <p:txBody>
            <a:bodyPr lIns="0" tIns="0" rIns="0" bIns="0" rtlCol="0" anchor="t">
              <a:spAutoFit/>
            </a:bodyPr>
            <a:lstStyle/>
            <a:p>
              <a:pPr marL="0" lvl="0" indent="0" algn="l">
                <a:lnSpc>
                  <a:spcPts val="2880"/>
                </a:lnSpc>
              </a:pPr>
              <a:r>
                <a:rPr lang="en-US" sz="2400" u="none" strike="noStrike">
                  <a:solidFill>
                    <a:srgbClr val="363636"/>
                  </a:solidFill>
                  <a:latin typeface="HK Grotesk" panose="00000500000000000000"/>
                  <a:ea typeface="HK Grotesk" panose="00000500000000000000"/>
                  <a:cs typeface="HK Grotesk" panose="00000500000000000000"/>
                  <a:sym typeface="HK Grotesk" panose="00000500000000000000"/>
                </a:rPr>
                <a:t>Organize data efficiently for enhanced analytics.</a:t>
              </a:r>
              <a:endParaRPr lang="en-US" sz="2400" u="none" strike="noStrike">
                <a:solidFill>
                  <a:srgbClr val="363636"/>
                </a:solidFill>
                <a:latin typeface="HK Grotesk" panose="00000500000000000000"/>
                <a:ea typeface="HK Grotesk" panose="00000500000000000000"/>
                <a:cs typeface="HK Grotesk" panose="00000500000000000000"/>
                <a:sym typeface="HK Grotesk" panose="00000500000000000000"/>
              </a:endParaRPr>
            </a:p>
          </p:txBody>
        </p:sp>
        <p:sp>
          <p:nvSpPr>
            <p:cNvPr id="14" name="TextBox 14"/>
            <p:cNvSpPr txBox="1"/>
            <p:nvPr/>
          </p:nvSpPr>
          <p:spPr>
            <a:xfrm>
              <a:off x="0" y="0"/>
              <a:ext cx="5346700" cy="558800"/>
            </a:xfrm>
            <a:prstGeom prst="rect">
              <a:avLst/>
            </a:prstGeom>
          </p:spPr>
          <p:txBody>
            <a:bodyPr lIns="0" tIns="0" rIns="0" bIns="0" rtlCol="0" anchor="t">
              <a:spAutoFit/>
            </a:bodyPr>
            <a:lstStyle/>
            <a:p>
              <a:pPr marL="0" lvl="0" indent="0" algn="l">
                <a:lnSpc>
                  <a:spcPts val="3360"/>
                </a:lnSpc>
              </a:pPr>
              <a:r>
                <a:rPr lang="en-US" sz="2800" b="1" u="none" strike="noStrike">
                  <a:solidFill>
                    <a:srgbClr val="B99733"/>
                  </a:solidFill>
                  <a:latin typeface="HK Grotesk Semi-Bold" panose="00000700000000000000"/>
                  <a:ea typeface="HK Grotesk Semi-Bold" panose="00000700000000000000"/>
                  <a:cs typeface="HK Grotesk Semi-Bold" panose="00000700000000000000"/>
                  <a:sym typeface="HK Grotesk Semi-Bold" panose="00000700000000000000"/>
                </a:rPr>
                <a:t>Medallion Architecture</a:t>
              </a:r>
              <a:endParaRPr lang="en-US" sz="2800" b="1" u="none" strike="noStrike">
                <a:solidFill>
                  <a:srgbClr val="B99733"/>
                </a:solidFill>
                <a:latin typeface="HK Grotesk Semi-Bold" panose="00000700000000000000"/>
                <a:ea typeface="HK Grotesk Semi-Bold" panose="00000700000000000000"/>
                <a:cs typeface="HK Grotesk Semi-Bold" panose="00000700000000000000"/>
                <a:sym typeface="HK Grotesk Semi-Bold" panose="00000700000000000000"/>
              </a:endParaRPr>
            </a:p>
          </p:txBody>
        </p:sp>
      </p:grpSp>
      <p:grpSp>
        <p:nvGrpSpPr>
          <p:cNvPr id="15" name="Group 15"/>
          <p:cNvGrpSpPr/>
          <p:nvPr/>
        </p:nvGrpSpPr>
        <p:grpSpPr>
          <a:xfrm rot="0">
            <a:off x="13611225" y="6559904"/>
            <a:ext cx="4010025" cy="1981200"/>
            <a:chOff x="0" y="0"/>
            <a:chExt cx="5346700" cy="2641600"/>
          </a:xfrm>
        </p:grpSpPr>
        <p:sp>
          <p:nvSpPr>
            <p:cNvPr id="16" name="TextBox 16"/>
            <p:cNvSpPr txBox="1"/>
            <p:nvPr/>
          </p:nvSpPr>
          <p:spPr>
            <a:xfrm>
              <a:off x="0" y="1193800"/>
              <a:ext cx="5346700" cy="1447800"/>
            </a:xfrm>
            <a:prstGeom prst="rect">
              <a:avLst/>
            </a:prstGeom>
          </p:spPr>
          <p:txBody>
            <a:bodyPr lIns="0" tIns="0" rIns="0" bIns="0" rtlCol="0" anchor="t">
              <a:spAutoFit/>
            </a:bodyPr>
            <a:lstStyle/>
            <a:p>
              <a:pPr marL="0" lvl="0" indent="0" algn="l">
                <a:lnSpc>
                  <a:spcPts val="2880"/>
                </a:lnSpc>
              </a:pPr>
              <a:r>
                <a:rPr lang="en-US" sz="2400" u="none" strike="noStrike">
                  <a:solidFill>
                    <a:srgbClr val="363636"/>
                  </a:solidFill>
                  <a:latin typeface="HK Grotesk" panose="00000500000000000000"/>
                  <a:ea typeface="HK Grotesk" panose="00000500000000000000"/>
                  <a:cs typeface="HK Grotesk" panose="00000500000000000000"/>
                  <a:sym typeface="HK Grotesk" panose="00000500000000000000"/>
                </a:rPr>
                <a:t>Leverage flexibility and scalability in data management.</a:t>
              </a:r>
              <a:endParaRPr lang="en-US" sz="2400" u="none" strike="noStrike">
                <a:solidFill>
                  <a:srgbClr val="363636"/>
                </a:solidFill>
                <a:latin typeface="HK Grotesk" panose="00000500000000000000"/>
                <a:ea typeface="HK Grotesk" panose="00000500000000000000"/>
                <a:cs typeface="HK Grotesk" panose="00000500000000000000"/>
                <a:sym typeface="HK Grotesk" panose="00000500000000000000"/>
              </a:endParaRPr>
            </a:p>
          </p:txBody>
        </p:sp>
        <p:sp>
          <p:nvSpPr>
            <p:cNvPr id="17" name="TextBox 17"/>
            <p:cNvSpPr txBox="1"/>
            <p:nvPr/>
          </p:nvSpPr>
          <p:spPr>
            <a:xfrm>
              <a:off x="0" y="0"/>
              <a:ext cx="5346700" cy="558800"/>
            </a:xfrm>
            <a:prstGeom prst="rect">
              <a:avLst/>
            </a:prstGeom>
          </p:spPr>
          <p:txBody>
            <a:bodyPr lIns="0" tIns="0" rIns="0" bIns="0" rtlCol="0" anchor="t">
              <a:spAutoFit/>
            </a:bodyPr>
            <a:lstStyle/>
            <a:p>
              <a:pPr marL="0" lvl="0" indent="0" algn="l">
                <a:lnSpc>
                  <a:spcPts val="3360"/>
                </a:lnSpc>
              </a:pPr>
              <a:r>
                <a:rPr lang="en-US" sz="2800" b="1" u="none" strike="noStrike">
                  <a:solidFill>
                    <a:srgbClr val="B99733"/>
                  </a:solidFill>
                  <a:latin typeface="HK Grotesk Semi-Bold" panose="00000700000000000000"/>
                  <a:ea typeface="HK Grotesk Semi-Bold" panose="00000700000000000000"/>
                  <a:cs typeface="HK Grotesk Semi-Bold" panose="00000700000000000000"/>
                  <a:sym typeface="HK Grotesk Semi-Bold" panose="00000700000000000000"/>
                </a:rPr>
                <a:t>Cloud Native</a:t>
              </a:r>
              <a:endParaRPr lang="en-US" sz="2800" b="1" u="none" strike="noStrike">
                <a:solidFill>
                  <a:srgbClr val="B99733"/>
                </a:solidFill>
                <a:latin typeface="HK Grotesk Semi-Bold" panose="00000700000000000000"/>
                <a:ea typeface="HK Grotesk Semi-Bold" panose="00000700000000000000"/>
                <a:cs typeface="HK Grotesk Semi-Bold" panose="00000700000000000000"/>
                <a:sym typeface="HK Grotesk Semi-Bold" panose="00000700000000000000"/>
              </a:endParaRPr>
            </a:p>
          </p:txBody>
        </p:sp>
      </p:grpSp>
      <p:sp>
        <p:nvSpPr>
          <p:cNvPr id="18" name="AutoShape 18"/>
          <p:cNvSpPr/>
          <p:nvPr/>
        </p:nvSpPr>
        <p:spPr>
          <a:xfrm>
            <a:off x="0" y="666750"/>
            <a:ext cx="18288000" cy="0"/>
          </a:xfrm>
          <a:prstGeom prst="line">
            <a:avLst/>
          </a:prstGeom>
          <a:ln w="19050" cap="flat">
            <a:solidFill>
              <a:srgbClr val="0A47A1"/>
            </a:solidFill>
            <a:prstDash val="solid"/>
            <a:headEnd type="none" w="sm" len="sm"/>
            <a:tailEnd type="none" w="sm" len="sm"/>
          </a:ln>
        </p:spPr>
      </p:sp>
      <p:sp>
        <p:nvSpPr>
          <p:cNvPr id="19" name="AutoShape 19"/>
          <p:cNvSpPr/>
          <p:nvPr/>
        </p:nvSpPr>
        <p:spPr>
          <a:xfrm>
            <a:off x="0" y="9620250"/>
            <a:ext cx="18288000" cy="0"/>
          </a:xfrm>
          <a:prstGeom prst="line">
            <a:avLst/>
          </a:prstGeom>
          <a:ln w="19050" cap="flat">
            <a:solidFill>
              <a:srgbClr val="0A47A1"/>
            </a:solidFill>
            <a:prstDash val="solid"/>
            <a:headEnd type="none" w="sm" len="sm"/>
            <a:tailEnd type="none" w="sm" len="sm"/>
          </a:ln>
        </p:spPr>
      </p:sp>
      <p:sp>
        <p:nvSpPr>
          <p:cNvPr id="20" name="TextBox 20"/>
          <p:cNvSpPr txBox="1"/>
          <p:nvPr/>
        </p:nvSpPr>
        <p:spPr>
          <a:xfrm>
            <a:off x="666750" y="5178425"/>
            <a:ext cx="8056245" cy="2798445"/>
          </a:xfrm>
          <a:prstGeom prst="rect">
            <a:avLst/>
          </a:prstGeom>
        </p:spPr>
        <p:txBody>
          <a:bodyPr wrap="square" lIns="0" tIns="0" rIns="0" bIns="0" rtlCol="0" anchor="t">
            <a:spAutoFit/>
          </a:bodyPr>
          <a:lstStyle/>
          <a:p>
            <a:pPr algn="l">
              <a:lnSpc>
                <a:spcPts val="4365"/>
              </a:lnSpc>
              <a:spcBef>
                <a:spcPct val="0"/>
              </a:spcBef>
            </a:pPr>
            <a:r>
              <a:rPr lang="en-US" sz="3640">
                <a:solidFill>
                  <a:srgbClr val="000000"/>
                </a:solidFill>
                <a:latin typeface="Times New Roman" panose="02020603050405020304" charset="0"/>
                <a:ea typeface="HK Grotesk" panose="00000500000000000000"/>
                <a:cs typeface="Times New Roman" panose="02020603050405020304" charset="0"/>
                <a:sym typeface="HK Grotesk" panose="00000500000000000000"/>
              </a:rPr>
              <a:t>Traditional ETL:</a:t>
            </a:r>
            <a:endParaRPr lang="en-US" sz="3640">
              <a:solidFill>
                <a:srgbClr val="000000"/>
              </a:solidFill>
              <a:latin typeface="Times New Roman" panose="02020603050405020304" charset="0"/>
              <a:ea typeface="HK Grotesk" panose="00000500000000000000"/>
              <a:cs typeface="Times New Roman" panose="02020603050405020304" charset="0"/>
              <a:sym typeface="HK Grotesk" panose="00000500000000000000"/>
            </a:endParaRPr>
          </a:p>
          <a:p>
            <a:pPr marL="571500" indent="-571500" algn="l">
              <a:lnSpc>
                <a:spcPts val="4365"/>
              </a:lnSpc>
              <a:spcBef>
                <a:spcPct val="0"/>
              </a:spcBef>
              <a:buFont typeface="Arial" panose="020B0604020202020204" pitchFamily="34" charset="0"/>
              <a:buChar char="•"/>
            </a:pPr>
            <a:r>
              <a:rPr lang="en-US" sz="3640">
                <a:solidFill>
                  <a:srgbClr val="000000"/>
                </a:solidFill>
                <a:latin typeface="Times New Roman" panose="02020603050405020304" charset="0"/>
                <a:ea typeface="HK Grotesk" panose="00000500000000000000"/>
                <a:cs typeface="Times New Roman" panose="02020603050405020304" charset="0"/>
                <a:sym typeface="HK Grotesk" panose="00000500000000000000"/>
              </a:rPr>
              <a:t>Extract → Transform → Load</a:t>
            </a:r>
            <a:endParaRPr lang="en-US" sz="3640">
              <a:solidFill>
                <a:srgbClr val="000000"/>
              </a:solidFill>
              <a:latin typeface="Times New Roman" panose="02020603050405020304" charset="0"/>
              <a:ea typeface="HK Grotesk" panose="00000500000000000000"/>
              <a:cs typeface="Times New Roman" panose="02020603050405020304" charset="0"/>
              <a:sym typeface="HK Grotesk" panose="00000500000000000000"/>
            </a:endParaRPr>
          </a:p>
          <a:p>
            <a:pPr marL="571500" indent="-571500" algn="l">
              <a:lnSpc>
                <a:spcPts val="4365"/>
              </a:lnSpc>
              <a:spcBef>
                <a:spcPct val="0"/>
              </a:spcBef>
              <a:buFont typeface="Arial" panose="020B0604020202020204" pitchFamily="34" charset="0"/>
              <a:buChar char="•"/>
            </a:pPr>
            <a:r>
              <a:rPr lang="en-US" sz="3640">
                <a:solidFill>
                  <a:srgbClr val="000000"/>
                </a:solidFill>
                <a:latin typeface="Times New Roman" panose="02020603050405020304" charset="0"/>
                <a:ea typeface="HK Grotesk" panose="00000500000000000000"/>
                <a:cs typeface="Times New Roman" panose="02020603050405020304" charset="0"/>
                <a:sym typeface="HK Grotesk" panose="00000500000000000000"/>
              </a:rPr>
              <a:t>Heavy orchestration</a:t>
            </a:r>
            <a:endParaRPr lang="en-US" sz="3640">
              <a:solidFill>
                <a:srgbClr val="000000"/>
              </a:solidFill>
              <a:latin typeface="Times New Roman" panose="02020603050405020304" charset="0"/>
              <a:ea typeface="HK Grotesk" panose="00000500000000000000"/>
              <a:cs typeface="Times New Roman" panose="02020603050405020304" charset="0"/>
              <a:sym typeface="HK Grotesk" panose="00000500000000000000"/>
            </a:endParaRPr>
          </a:p>
          <a:p>
            <a:pPr marL="571500" indent="-571500" algn="l">
              <a:lnSpc>
                <a:spcPts val="4365"/>
              </a:lnSpc>
              <a:spcBef>
                <a:spcPct val="0"/>
              </a:spcBef>
              <a:buFont typeface="Arial" panose="020B0604020202020204" pitchFamily="34" charset="0"/>
              <a:buChar char="•"/>
            </a:pPr>
            <a:r>
              <a:rPr lang="en-US" sz="3640">
                <a:solidFill>
                  <a:srgbClr val="000000"/>
                </a:solidFill>
                <a:latin typeface="Times New Roman" panose="02020603050405020304" charset="0"/>
                <a:ea typeface="HK Grotesk" panose="00000500000000000000"/>
                <a:cs typeface="Times New Roman" panose="02020603050405020304" charset="0"/>
                <a:sym typeface="HK Grotesk" panose="00000500000000000000"/>
              </a:rPr>
              <a:t>Manual scaling</a:t>
            </a:r>
            <a:endParaRPr lang="en-US" sz="3640">
              <a:solidFill>
                <a:srgbClr val="000000"/>
              </a:solidFill>
              <a:latin typeface="Times New Roman" panose="02020603050405020304" charset="0"/>
              <a:ea typeface="HK Grotesk" panose="00000500000000000000"/>
              <a:cs typeface="Times New Roman" panose="02020603050405020304" charset="0"/>
              <a:sym typeface="HK Grotesk" panose="00000500000000000000"/>
            </a:endParaRPr>
          </a:p>
          <a:p>
            <a:pPr marL="571500" indent="-571500" algn="l">
              <a:lnSpc>
                <a:spcPts val="4365"/>
              </a:lnSpc>
              <a:spcBef>
                <a:spcPct val="0"/>
              </a:spcBef>
              <a:buFont typeface="Arial" panose="020B0604020202020204" pitchFamily="34" charset="0"/>
              <a:buChar char="•"/>
            </a:pPr>
            <a:r>
              <a:rPr lang="en-US" sz="3640">
                <a:solidFill>
                  <a:srgbClr val="000000"/>
                </a:solidFill>
                <a:latin typeface="Times New Roman" panose="02020603050405020304" charset="0"/>
                <a:ea typeface="HK Grotesk" panose="00000500000000000000"/>
                <a:cs typeface="Times New Roman" panose="02020603050405020304" charset="0"/>
                <a:sym typeface="HK Grotesk" panose="00000500000000000000"/>
              </a:rPr>
              <a:t>Separate batch &amp; streaming systems</a:t>
            </a:r>
            <a:endParaRPr lang="en-US" sz="3640">
              <a:solidFill>
                <a:srgbClr val="000000"/>
              </a:solidFill>
              <a:latin typeface="Times New Roman" panose="02020603050405020304" charset="0"/>
              <a:ea typeface="HK Grotesk" panose="00000500000000000000"/>
              <a:cs typeface="Times New Roman" panose="02020603050405020304" charset="0"/>
              <a:sym typeface="HK Grotesk" panose="0000050000000000000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666750"/>
            <a:ext cx="18288000" cy="0"/>
          </a:xfrm>
          <a:prstGeom prst="line">
            <a:avLst/>
          </a:prstGeom>
          <a:ln w="19050" cap="flat">
            <a:solidFill>
              <a:srgbClr val="0A47A1"/>
            </a:solidFill>
            <a:prstDash val="solid"/>
            <a:headEnd type="none" w="sm" len="sm"/>
            <a:tailEnd type="none" w="sm" len="sm"/>
          </a:ln>
        </p:spPr>
      </p:sp>
      <p:sp>
        <p:nvSpPr>
          <p:cNvPr id="3" name="AutoShape 3"/>
          <p:cNvSpPr/>
          <p:nvPr/>
        </p:nvSpPr>
        <p:spPr>
          <a:xfrm>
            <a:off x="0" y="9620250"/>
            <a:ext cx="18288000" cy="0"/>
          </a:xfrm>
          <a:prstGeom prst="line">
            <a:avLst/>
          </a:prstGeom>
          <a:ln w="19050" cap="flat">
            <a:solidFill>
              <a:srgbClr val="0A47A1"/>
            </a:solidFill>
            <a:prstDash val="solid"/>
            <a:headEnd type="none" w="sm" len="sm"/>
            <a:tailEnd type="none" w="sm" len="sm"/>
          </a:ln>
        </p:spPr>
      </p:sp>
      <p:sp>
        <p:nvSpPr>
          <p:cNvPr id="4" name="Freeform 4"/>
          <p:cNvSpPr/>
          <p:nvPr/>
        </p:nvSpPr>
        <p:spPr>
          <a:xfrm>
            <a:off x="8970860" y="3610450"/>
            <a:ext cx="9012112" cy="4252571"/>
          </a:xfrm>
          <a:custGeom>
            <a:avLst/>
            <a:gdLst/>
            <a:ahLst/>
            <a:cxnLst/>
            <a:rect l="l" t="t" r="r" b="b"/>
            <a:pathLst>
              <a:path w="9012112" h="4252571">
                <a:moveTo>
                  <a:pt x="0" y="0"/>
                </a:moveTo>
                <a:lnTo>
                  <a:pt x="9012112" y="0"/>
                </a:lnTo>
                <a:lnTo>
                  <a:pt x="9012112" y="4252571"/>
                </a:lnTo>
                <a:lnTo>
                  <a:pt x="0" y="4252571"/>
                </a:lnTo>
                <a:lnTo>
                  <a:pt x="0" y="0"/>
                </a:lnTo>
                <a:close/>
              </a:path>
            </a:pathLst>
          </a:custGeom>
          <a:blipFill>
            <a:blip r:embed="rId1"/>
            <a:stretch>
              <a:fillRect t="-463" b="-463"/>
            </a:stretch>
          </a:blipFill>
        </p:spPr>
      </p:sp>
      <p:sp>
        <p:nvSpPr>
          <p:cNvPr id="5" name="TextBox 5"/>
          <p:cNvSpPr txBox="1"/>
          <p:nvPr/>
        </p:nvSpPr>
        <p:spPr>
          <a:xfrm>
            <a:off x="823998" y="998932"/>
            <a:ext cx="12212328" cy="2096496"/>
          </a:xfrm>
          <a:prstGeom prst="rect">
            <a:avLst/>
          </a:prstGeom>
        </p:spPr>
        <p:txBody>
          <a:bodyPr lIns="0" tIns="0" rIns="0" bIns="0" rtlCol="0" anchor="t">
            <a:spAutoFit/>
          </a:bodyPr>
          <a:lstStyle/>
          <a:p>
            <a:pPr marL="0" lvl="0" indent="0" algn="l">
              <a:lnSpc>
                <a:spcPts val="8050"/>
              </a:lnSpc>
            </a:pPr>
            <a:r>
              <a:rPr lang="en-US" sz="8050" spc="-160">
                <a:solidFill>
                  <a:srgbClr val="0A47A1"/>
                </a:solidFill>
                <a:latin typeface="Noto Serif Display ExtraCondensed Light" panose="02020406080505020204"/>
                <a:ea typeface="Noto Serif Display ExtraCondensed Light" panose="02020406080505020204"/>
                <a:cs typeface="Noto Serif Display ExtraCondensed Light" panose="02020406080505020204"/>
                <a:sym typeface="Noto Serif Display ExtraCondensed Light" panose="02020406080505020204"/>
              </a:rPr>
              <a:t>Da</a:t>
            </a:r>
            <a:r>
              <a:rPr lang="en-US" sz="8050" spc="-160">
                <a:solidFill>
                  <a:srgbClr val="0A47A1"/>
                </a:solidFill>
                <a:latin typeface="Noto Serif Display ExtraCondensed Light" panose="02020406080505020204"/>
                <a:ea typeface="Noto Serif Display ExtraCondensed Light" panose="02020406080505020204"/>
                <a:cs typeface="Noto Serif Display ExtraCondensed Light" panose="02020406080505020204"/>
                <a:sym typeface="Noto Serif Display ExtraCondensed Light" panose="02020406080505020204"/>
              </a:rPr>
              <a:t>ta Transformation Overview</a:t>
            </a:r>
            <a:endParaRPr lang="en-US" sz="8050" spc="-160">
              <a:solidFill>
                <a:srgbClr val="0A47A1"/>
              </a:solidFill>
              <a:latin typeface="Noto Serif Display ExtraCondensed Light" panose="02020406080505020204"/>
              <a:ea typeface="Noto Serif Display ExtraCondensed Light" panose="02020406080505020204"/>
              <a:cs typeface="Noto Serif Display ExtraCondensed Light" panose="02020406080505020204"/>
              <a:sym typeface="Noto Serif Display ExtraCondensed Light" panose="02020406080505020204"/>
            </a:endParaRPr>
          </a:p>
          <a:p>
            <a:pPr marL="0" lvl="0" indent="0" algn="l">
              <a:lnSpc>
                <a:spcPts val="8050"/>
              </a:lnSpc>
            </a:pPr>
          </a:p>
        </p:txBody>
      </p:sp>
      <p:grpSp>
        <p:nvGrpSpPr>
          <p:cNvPr id="6" name="Group 6"/>
          <p:cNvGrpSpPr/>
          <p:nvPr/>
        </p:nvGrpSpPr>
        <p:grpSpPr>
          <a:xfrm rot="0">
            <a:off x="824230" y="2720975"/>
            <a:ext cx="3038475" cy="3015615"/>
            <a:chOff x="0" y="0"/>
            <a:chExt cx="1170647" cy="1382872"/>
          </a:xfrm>
        </p:grpSpPr>
        <p:sp>
          <p:nvSpPr>
            <p:cNvPr id="7" name="Freeform 7"/>
            <p:cNvSpPr/>
            <p:nvPr/>
          </p:nvSpPr>
          <p:spPr>
            <a:xfrm>
              <a:off x="0" y="0"/>
              <a:ext cx="1170647" cy="1382872"/>
            </a:xfrm>
            <a:custGeom>
              <a:avLst/>
              <a:gdLst/>
              <a:ahLst/>
              <a:cxnLst/>
              <a:rect l="l" t="t" r="r" b="b"/>
              <a:pathLst>
                <a:path w="1170647" h="1382872">
                  <a:moveTo>
                    <a:pt x="0" y="0"/>
                  </a:moveTo>
                  <a:lnTo>
                    <a:pt x="1170647" y="0"/>
                  </a:lnTo>
                  <a:lnTo>
                    <a:pt x="1170647" y="1382872"/>
                  </a:lnTo>
                  <a:lnTo>
                    <a:pt x="0" y="1382872"/>
                  </a:lnTo>
                  <a:close/>
                </a:path>
              </a:pathLst>
            </a:custGeom>
            <a:solidFill>
              <a:srgbClr val="689F38"/>
            </a:solidFill>
          </p:spPr>
        </p:sp>
        <p:sp>
          <p:nvSpPr>
            <p:cNvPr id="8" name="TextBox 8"/>
            <p:cNvSpPr txBox="1"/>
            <p:nvPr/>
          </p:nvSpPr>
          <p:spPr>
            <a:xfrm>
              <a:off x="0" y="-38100"/>
              <a:ext cx="1170647" cy="1420972"/>
            </a:xfrm>
            <a:prstGeom prst="rect">
              <a:avLst/>
            </a:prstGeom>
          </p:spPr>
          <p:txBody>
            <a:bodyPr lIns="44566" tIns="44566" rIns="44566" bIns="44566" rtlCol="0" anchor="ctr"/>
            <a:lstStyle/>
            <a:p>
              <a:pPr algn="ctr">
                <a:lnSpc>
                  <a:spcPts val="2660"/>
                </a:lnSpc>
              </a:pPr>
            </a:p>
          </p:txBody>
        </p:sp>
      </p:grpSp>
      <p:grpSp>
        <p:nvGrpSpPr>
          <p:cNvPr id="9" name="Group 9"/>
          <p:cNvGrpSpPr/>
          <p:nvPr/>
        </p:nvGrpSpPr>
        <p:grpSpPr>
          <a:xfrm rot="0">
            <a:off x="5435600" y="2884805"/>
            <a:ext cx="2980690" cy="3015615"/>
            <a:chOff x="0" y="0"/>
            <a:chExt cx="1170647" cy="1382872"/>
          </a:xfrm>
        </p:grpSpPr>
        <p:sp>
          <p:nvSpPr>
            <p:cNvPr id="10" name="Freeform 10"/>
            <p:cNvSpPr/>
            <p:nvPr/>
          </p:nvSpPr>
          <p:spPr>
            <a:xfrm>
              <a:off x="0" y="0"/>
              <a:ext cx="1170647" cy="1382872"/>
            </a:xfrm>
            <a:custGeom>
              <a:avLst/>
              <a:gdLst/>
              <a:ahLst/>
              <a:cxnLst/>
              <a:rect l="l" t="t" r="r" b="b"/>
              <a:pathLst>
                <a:path w="1170647" h="1382872">
                  <a:moveTo>
                    <a:pt x="0" y="0"/>
                  </a:moveTo>
                  <a:lnTo>
                    <a:pt x="1170647" y="0"/>
                  </a:lnTo>
                  <a:lnTo>
                    <a:pt x="1170647" y="1382872"/>
                  </a:lnTo>
                  <a:lnTo>
                    <a:pt x="0" y="1382872"/>
                  </a:lnTo>
                  <a:close/>
                </a:path>
              </a:pathLst>
            </a:custGeom>
            <a:solidFill>
              <a:srgbClr val="AED581"/>
            </a:solidFill>
          </p:spPr>
        </p:sp>
        <p:sp>
          <p:nvSpPr>
            <p:cNvPr id="11" name="TextBox 11"/>
            <p:cNvSpPr txBox="1"/>
            <p:nvPr/>
          </p:nvSpPr>
          <p:spPr>
            <a:xfrm>
              <a:off x="0" y="-38100"/>
              <a:ext cx="1170647" cy="1420972"/>
            </a:xfrm>
            <a:prstGeom prst="rect">
              <a:avLst/>
            </a:prstGeom>
          </p:spPr>
          <p:txBody>
            <a:bodyPr lIns="44566" tIns="44566" rIns="44566" bIns="44566" rtlCol="0" anchor="ctr"/>
            <a:lstStyle/>
            <a:p>
              <a:pPr algn="ctr">
                <a:lnSpc>
                  <a:spcPts val="2660"/>
                </a:lnSpc>
              </a:pPr>
            </a:p>
          </p:txBody>
        </p:sp>
      </p:grpSp>
      <p:sp>
        <p:nvSpPr>
          <p:cNvPr id="12" name="TextBox 12"/>
          <p:cNvSpPr txBox="1"/>
          <p:nvPr/>
        </p:nvSpPr>
        <p:spPr>
          <a:xfrm>
            <a:off x="1293469" y="3065361"/>
            <a:ext cx="1614008" cy="480073"/>
          </a:xfrm>
          <a:prstGeom prst="rect">
            <a:avLst/>
          </a:prstGeom>
        </p:spPr>
        <p:txBody>
          <a:bodyPr lIns="0" tIns="0" rIns="0" bIns="0" rtlCol="0" anchor="t">
            <a:spAutoFit/>
          </a:bodyPr>
          <a:lstStyle/>
          <a:p>
            <a:pPr algn="ctr">
              <a:lnSpc>
                <a:spcPts val="1925"/>
              </a:lnSpc>
            </a:pPr>
            <a:r>
              <a:rPr lang="en-US" sz="1375" b="1">
                <a:solidFill>
                  <a:srgbClr val="1B1B1B"/>
                </a:solidFill>
                <a:latin typeface="Montserrat Bold" panose="00000800000000000000"/>
                <a:ea typeface="Montserrat Bold" panose="00000800000000000000"/>
                <a:cs typeface="Montserrat Bold" panose="00000800000000000000"/>
                <a:sym typeface="Montserrat Bold" panose="00000800000000000000"/>
              </a:rPr>
              <a:t> Bronze Layer (Raw Data)</a:t>
            </a:r>
            <a:endParaRPr lang="en-US" sz="1375" b="1">
              <a:solidFill>
                <a:srgbClr val="1B1B1B"/>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13" name="TextBox 13"/>
          <p:cNvSpPr txBox="1"/>
          <p:nvPr/>
        </p:nvSpPr>
        <p:spPr>
          <a:xfrm>
            <a:off x="910590" y="3698240"/>
            <a:ext cx="2874645" cy="1983740"/>
          </a:xfrm>
          <a:prstGeom prst="rect">
            <a:avLst/>
          </a:prstGeom>
        </p:spPr>
        <p:txBody>
          <a:bodyPr wrap="square" lIns="0" tIns="0" rIns="0" bIns="0" rtlCol="0" anchor="t">
            <a:spAutoFit/>
          </a:bodyPr>
          <a:lstStyle/>
          <a:p>
            <a:pPr algn="l">
              <a:lnSpc>
                <a:spcPts val="1105"/>
              </a:lnSpc>
            </a:pPr>
          </a:p>
          <a:p>
            <a:pPr marL="170815" lvl="1" indent="-85090" algn="l">
              <a:lnSpc>
                <a:spcPts val="1105"/>
              </a:lnSpc>
              <a:buFont typeface="Arial" panose="020B0604020202020204"/>
              <a:buChar char="•"/>
            </a:pPr>
            <a:r>
              <a:rPr lang="en-US" sz="1500">
                <a:solidFill>
                  <a:srgbClr val="1B1B1B"/>
                </a:solidFill>
                <a:latin typeface="DM Sans"/>
                <a:ea typeface="DM Sans"/>
                <a:cs typeface="DM Sans"/>
                <a:sym typeface="DM Sans"/>
              </a:rPr>
              <a:t>Ingest raw data from external sources</a:t>
            </a:r>
            <a:endParaRPr lang="en-US" sz="1500">
              <a:solidFill>
                <a:srgbClr val="1B1B1B"/>
              </a:solidFill>
              <a:latin typeface="DM Sans"/>
              <a:ea typeface="DM Sans"/>
              <a:cs typeface="DM Sans"/>
              <a:sym typeface="DM Sans"/>
            </a:endParaRPr>
          </a:p>
          <a:p>
            <a:pPr marL="85725" lvl="1" indent="0" algn="l">
              <a:lnSpc>
                <a:spcPts val="1105"/>
              </a:lnSpc>
              <a:buFont typeface="Arial" panose="020B0604020202020204"/>
              <a:buNone/>
            </a:pPr>
            <a:endParaRPr lang="en-US" sz="1500">
              <a:solidFill>
                <a:srgbClr val="1B1B1B"/>
              </a:solidFill>
              <a:latin typeface="DM Sans"/>
              <a:ea typeface="DM Sans"/>
              <a:cs typeface="DM Sans"/>
              <a:sym typeface="DM Sans"/>
            </a:endParaRPr>
          </a:p>
          <a:p>
            <a:pPr marL="170815" lvl="1" indent="-85090" algn="l">
              <a:lnSpc>
                <a:spcPts val="1105"/>
              </a:lnSpc>
              <a:buFont typeface="Arial" panose="020B0604020202020204"/>
              <a:buChar char="•"/>
            </a:pPr>
            <a:r>
              <a:rPr lang="en-US" sz="1500">
                <a:solidFill>
                  <a:srgbClr val="1B1B1B"/>
                </a:solidFill>
                <a:latin typeface="DM Sans"/>
                <a:ea typeface="DM Sans"/>
                <a:cs typeface="DM Sans"/>
                <a:sym typeface="DM Sans"/>
              </a:rPr>
              <a:t>Store data as-is (even if dirty)</a:t>
            </a:r>
            <a:endParaRPr lang="en-US" sz="1500">
              <a:solidFill>
                <a:srgbClr val="1B1B1B"/>
              </a:solidFill>
              <a:latin typeface="DM Sans"/>
              <a:ea typeface="DM Sans"/>
              <a:cs typeface="DM Sans"/>
              <a:sym typeface="DM Sans"/>
            </a:endParaRPr>
          </a:p>
          <a:p>
            <a:pPr marL="85725" lvl="1" indent="0" algn="l">
              <a:lnSpc>
                <a:spcPts val="1105"/>
              </a:lnSpc>
              <a:buFont typeface="Arial" panose="020B0604020202020204"/>
              <a:buNone/>
            </a:pPr>
            <a:endParaRPr lang="en-US" sz="1500">
              <a:solidFill>
                <a:srgbClr val="1B1B1B"/>
              </a:solidFill>
              <a:latin typeface="DM Sans"/>
              <a:ea typeface="DM Sans"/>
              <a:cs typeface="DM Sans"/>
              <a:sym typeface="DM Sans"/>
            </a:endParaRPr>
          </a:p>
          <a:p>
            <a:pPr marL="170815" lvl="1" indent="-85090" algn="l">
              <a:lnSpc>
                <a:spcPts val="1105"/>
              </a:lnSpc>
              <a:buFont typeface="Arial" panose="020B0604020202020204"/>
              <a:buChar char="•"/>
            </a:pPr>
            <a:r>
              <a:rPr lang="en-US" sz="1500">
                <a:solidFill>
                  <a:srgbClr val="1B1B1B"/>
                </a:solidFill>
                <a:latin typeface="DM Sans"/>
                <a:ea typeface="DM Sans"/>
                <a:cs typeface="DM Sans"/>
                <a:sym typeface="DM Sans"/>
              </a:rPr>
              <a:t>Add metadata (load time, process ID)</a:t>
            </a:r>
            <a:endParaRPr lang="en-US" sz="1500">
              <a:solidFill>
                <a:srgbClr val="1B1B1B"/>
              </a:solidFill>
              <a:latin typeface="DM Sans"/>
              <a:ea typeface="DM Sans"/>
              <a:cs typeface="DM Sans"/>
              <a:sym typeface="DM Sans"/>
            </a:endParaRPr>
          </a:p>
          <a:p>
            <a:pPr marL="85725" lvl="1" indent="0" algn="l">
              <a:lnSpc>
                <a:spcPts val="1105"/>
              </a:lnSpc>
              <a:buFont typeface="Arial" panose="020B0604020202020204"/>
              <a:buNone/>
            </a:pPr>
            <a:endParaRPr lang="en-US" sz="1500">
              <a:solidFill>
                <a:srgbClr val="1B1B1B"/>
              </a:solidFill>
              <a:latin typeface="DM Sans"/>
              <a:ea typeface="DM Sans"/>
              <a:cs typeface="DM Sans"/>
              <a:sym typeface="DM Sans"/>
            </a:endParaRPr>
          </a:p>
          <a:p>
            <a:pPr marL="170815" lvl="1" indent="-85090" algn="l">
              <a:lnSpc>
                <a:spcPts val="1105"/>
              </a:lnSpc>
              <a:buFont typeface="Arial" panose="020B0604020202020204"/>
              <a:buChar char="•"/>
            </a:pPr>
            <a:r>
              <a:rPr lang="en-US" sz="1500">
                <a:solidFill>
                  <a:srgbClr val="1B1B1B"/>
                </a:solidFill>
                <a:latin typeface="DM Sans"/>
                <a:ea typeface="DM Sans"/>
                <a:cs typeface="DM Sans"/>
                <a:sym typeface="DM Sans"/>
              </a:rPr>
              <a:t>Maintain historical backup</a:t>
            </a:r>
            <a:endParaRPr lang="en-US" sz="1500">
              <a:solidFill>
                <a:srgbClr val="1B1B1B"/>
              </a:solidFill>
              <a:latin typeface="DM Sans"/>
              <a:ea typeface="DM Sans"/>
              <a:cs typeface="DM Sans"/>
              <a:sym typeface="DM Sans"/>
            </a:endParaRPr>
          </a:p>
          <a:p>
            <a:pPr marL="85725" lvl="1" indent="0" algn="l">
              <a:lnSpc>
                <a:spcPts val="1105"/>
              </a:lnSpc>
              <a:buFont typeface="Arial" panose="020B0604020202020204"/>
              <a:buNone/>
            </a:pPr>
            <a:endParaRPr lang="en-US" sz="1500">
              <a:solidFill>
                <a:srgbClr val="1B1B1B"/>
              </a:solidFill>
              <a:latin typeface="DM Sans"/>
              <a:ea typeface="DM Sans"/>
              <a:cs typeface="DM Sans"/>
              <a:sym typeface="DM Sans"/>
            </a:endParaRPr>
          </a:p>
          <a:p>
            <a:pPr marL="170815" lvl="1" indent="-85090" algn="l">
              <a:lnSpc>
                <a:spcPts val="1105"/>
              </a:lnSpc>
              <a:buFont typeface="Arial" panose="020B0604020202020204"/>
              <a:buChar char="•"/>
            </a:pPr>
            <a:r>
              <a:rPr lang="en-US" sz="1500">
                <a:solidFill>
                  <a:srgbClr val="1B1B1B"/>
                </a:solidFill>
                <a:latin typeface="DM Sans"/>
                <a:ea typeface="DM Sans"/>
                <a:cs typeface="DM Sans"/>
                <a:sym typeface="DM Sans"/>
              </a:rPr>
              <a:t>Enables reprocessing &amp; traceability</a:t>
            </a:r>
            <a:endParaRPr lang="en-US" sz="790">
              <a:solidFill>
                <a:srgbClr val="1B1B1B"/>
              </a:solidFill>
              <a:latin typeface="DM Sans"/>
              <a:ea typeface="DM Sans"/>
              <a:cs typeface="DM Sans"/>
              <a:sym typeface="DM Sans"/>
            </a:endParaRPr>
          </a:p>
          <a:p>
            <a:pPr algn="ctr">
              <a:lnSpc>
                <a:spcPts val="1105"/>
              </a:lnSpc>
            </a:pPr>
          </a:p>
        </p:txBody>
      </p:sp>
      <p:sp>
        <p:nvSpPr>
          <p:cNvPr id="14" name="TextBox 14"/>
          <p:cNvSpPr txBox="1"/>
          <p:nvPr/>
        </p:nvSpPr>
        <p:spPr>
          <a:xfrm>
            <a:off x="6018818" y="3130378"/>
            <a:ext cx="1614008" cy="480073"/>
          </a:xfrm>
          <a:prstGeom prst="rect">
            <a:avLst/>
          </a:prstGeom>
        </p:spPr>
        <p:txBody>
          <a:bodyPr lIns="0" tIns="0" rIns="0" bIns="0" rtlCol="0" anchor="t">
            <a:spAutoFit/>
          </a:bodyPr>
          <a:lstStyle/>
          <a:p>
            <a:pPr algn="ctr">
              <a:lnSpc>
                <a:spcPts val="1925"/>
              </a:lnSpc>
            </a:pPr>
            <a:r>
              <a:rPr lang="en-US" sz="1375" b="1">
                <a:solidFill>
                  <a:srgbClr val="1B1B1B"/>
                </a:solidFill>
                <a:latin typeface="Montserrat Bold" panose="00000800000000000000"/>
                <a:ea typeface="Montserrat Bold" panose="00000800000000000000"/>
                <a:cs typeface="Montserrat Bold" panose="00000800000000000000"/>
                <a:sym typeface="Montserrat Bold" panose="00000800000000000000"/>
              </a:rPr>
              <a:t>Silver Layer (Cleaned Data)</a:t>
            </a:r>
            <a:endParaRPr lang="en-US" sz="1375" b="1">
              <a:solidFill>
                <a:srgbClr val="1B1B1B"/>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15" name="TextBox 15"/>
          <p:cNvSpPr txBox="1"/>
          <p:nvPr/>
        </p:nvSpPr>
        <p:spPr>
          <a:xfrm>
            <a:off x="5791200" y="3910965"/>
            <a:ext cx="2241550" cy="1722755"/>
          </a:xfrm>
          <a:prstGeom prst="rect">
            <a:avLst/>
          </a:prstGeom>
        </p:spPr>
        <p:txBody>
          <a:bodyPr wrap="square" lIns="0" tIns="0" rIns="0" bIns="0" rtlCol="0" anchor="t">
            <a:noAutofit/>
          </a:bodyPr>
          <a:lstStyle/>
          <a:p>
            <a:pPr marL="203835" lvl="1" indent="-101600" algn="just">
              <a:lnSpc>
                <a:spcPts val="1320"/>
              </a:lnSpc>
              <a:buFont typeface="Arial" panose="020B0604020202020204"/>
              <a:buChar char="•"/>
            </a:pPr>
            <a:r>
              <a:rPr lang="en-US" sz="1500">
                <a:solidFill>
                  <a:srgbClr val="1B1B1B"/>
                </a:solidFill>
                <a:latin typeface="DM Sans"/>
                <a:ea typeface="DM Sans"/>
                <a:cs typeface="DM Sans"/>
                <a:sym typeface="DM Sans"/>
              </a:rPr>
              <a:t>Clean and filter Bronze data</a:t>
            </a:r>
            <a:endParaRPr lang="en-US" sz="1500">
              <a:solidFill>
                <a:srgbClr val="1B1B1B"/>
              </a:solidFill>
              <a:latin typeface="DM Sans"/>
              <a:ea typeface="DM Sans"/>
              <a:cs typeface="DM Sans"/>
              <a:sym typeface="DM Sans"/>
            </a:endParaRPr>
          </a:p>
          <a:p>
            <a:pPr marL="203835" lvl="1" indent="-101600" algn="just">
              <a:lnSpc>
                <a:spcPts val="1320"/>
              </a:lnSpc>
              <a:buFont typeface="Arial" panose="020B0604020202020204"/>
              <a:buChar char="•"/>
            </a:pPr>
            <a:endParaRPr lang="en-US" sz="1500">
              <a:solidFill>
                <a:srgbClr val="1B1B1B"/>
              </a:solidFill>
              <a:latin typeface="DM Sans"/>
              <a:ea typeface="DM Sans"/>
              <a:cs typeface="DM Sans"/>
              <a:sym typeface="DM Sans"/>
            </a:endParaRPr>
          </a:p>
          <a:p>
            <a:pPr marL="203835" lvl="1" indent="-101600" algn="just">
              <a:lnSpc>
                <a:spcPts val="1320"/>
              </a:lnSpc>
              <a:buFont typeface="Arial" panose="020B0604020202020204"/>
              <a:buChar char="•"/>
            </a:pPr>
            <a:r>
              <a:rPr lang="en-US" sz="1500">
                <a:solidFill>
                  <a:srgbClr val="1B1B1B"/>
                </a:solidFill>
                <a:latin typeface="DM Sans"/>
                <a:ea typeface="DM Sans"/>
                <a:cs typeface="DM Sans"/>
                <a:sym typeface="DM Sans"/>
              </a:rPr>
              <a:t>Remove duplicates &amp; handle nulls</a:t>
            </a:r>
            <a:endParaRPr lang="en-US" sz="1500">
              <a:solidFill>
                <a:srgbClr val="1B1B1B"/>
              </a:solidFill>
              <a:latin typeface="DM Sans"/>
              <a:ea typeface="DM Sans"/>
              <a:cs typeface="DM Sans"/>
              <a:sym typeface="DM Sans"/>
            </a:endParaRPr>
          </a:p>
          <a:p>
            <a:pPr marL="203835" lvl="1" indent="-101600" algn="just">
              <a:lnSpc>
                <a:spcPts val="1320"/>
              </a:lnSpc>
              <a:buFont typeface="Arial" panose="020B0604020202020204"/>
              <a:buChar char="•"/>
            </a:pPr>
            <a:endParaRPr lang="en-US" sz="1500">
              <a:solidFill>
                <a:srgbClr val="1B1B1B"/>
              </a:solidFill>
              <a:latin typeface="DM Sans"/>
              <a:ea typeface="DM Sans"/>
              <a:cs typeface="DM Sans"/>
              <a:sym typeface="DM Sans"/>
            </a:endParaRPr>
          </a:p>
          <a:p>
            <a:pPr marL="203835" lvl="1" indent="-101600" algn="just">
              <a:lnSpc>
                <a:spcPts val="1320"/>
              </a:lnSpc>
              <a:buFont typeface="Arial" panose="020B0604020202020204"/>
              <a:buChar char="•"/>
            </a:pPr>
            <a:r>
              <a:rPr lang="en-US" sz="1500">
                <a:solidFill>
                  <a:srgbClr val="1B1B1B"/>
                </a:solidFill>
                <a:latin typeface="DM Sans"/>
                <a:ea typeface="DM Sans"/>
                <a:cs typeface="DM Sans"/>
                <a:sym typeface="DM Sans"/>
              </a:rPr>
              <a:t>Apply business rules</a:t>
            </a:r>
            <a:endParaRPr lang="en-US" sz="1500">
              <a:solidFill>
                <a:srgbClr val="1B1B1B"/>
              </a:solidFill>
              <a:latin typeface="DM Sans"/>
              <a:ea typeface="DM Sans"/>
              <a:cs typeface="DM Sans"/>
              <a:sym typeface="DM Sans"/>
            </a:endParaRPr>
          </a:p>
          <a:p>
            <a:pPr marL="203835" lvl="1" indent="-101600" algn="just">
              <a:lnSpc>
                <a:spcPts val="1320"/>
              </a:lnSpc>
              <a:buFont typeface="Arial" panose="020B0604020202020204"/>
              <a:buChar char="•"/>
            </a:pPr>
            <a:endParaRPr lang="en-US" sz="1500">
              <a:solidFill>
                <a:srgbClr val="1B1B1B"/>
              </a:solidFill>
              <a:latin typeface="DM Sans"/>
              <a:ea typeface="DM Sans"/>
              <a:cs typeface="DM Sans"/>
              <a:sym typeface="DM Sans"/>
            </a:endParaRPr>
          </a:p>
          <a:p>
            <a:pPr marL="203835" lvl="1" indent="-101600" algn="just">
              <a:lnSpc>
                <a:spcPts val="1320"/>
              </a:lnSpc>
              <a:buFont typeface="Arial" panose="020B0604020202020204"/>
              <a:buChar char="•"/>
            </a:pPr>
            <a:r>
              <a:rPr lang="en-US" sz="1500">
                <a:solidFill>
                  <a:srgbClr val="1B1B1B"/>
                </a:solidFill>
                <a:latin typeface="DM Sans"/>
                <a:ea typeface="DM Sans"/>
                <a:cs typeface="DM Sans"/>
                <a:sym typeface="DM Sans"/>
              </a:rPr>
              <a:t>Join and enrich datasets</a:t>
            </a:r>
            <a:endParaRPr lang="en-US" sz="1500">
              <a:solidFill>
                <a:srgbClr val="1B1B1B"/>
              </a:solidFill>
              <a:latin typeface="DM Sans"/>
              <a:ea typeface="DM Sans"/>
              <a:cs typeface="DM Sans"/>
              <a:sym typeface="DM Sans"/>
            </a:endParaRPr>
          </a:p>
          <a:p>
            <a:pPr algn="just">
              <a:lnSpc>
                <a:spcPts val="1320"/>
              </a:lnSpc>
            </a:pPr>
            <a:endParaRPr sz="1500"/>
          </a:p>
        </p:txBody>
      </p:sp>
      <p:grpSp>
        <p:nvGrpSpPr>
          <p:cNvPr id="16" name="Group 16"/>
          <p:cNvGrpSpPr/>
          <p:nvPr/>
        </p:nvGrpSpPr>
        <p:grpSpPr>
          <a:xfrm rot="0">
            <a:off x="3526790" y="6551930"/>
            <a:ext cx="4106545" cy="3015615"/>
            <a:chOff x="0" y="0"/>
            <a:chExt cx="1170647" cy="1382872"/>
          </a:xfrm>
        </p:grpSpPr>
        <p:sp>
          <p:nvSpPr>
            <p:cNvPr id="17" name="Freeform 17"/>
            <p:cNvSpPr/>
            <p:nvPr/>
          </p:nvSpPr>
          <p:spPr>
            <a:xfrm>
              <a:off x="0" y="0"/>
              <a:ext cx="1170647" cy="1382872"/>
            </a:xfrm>
            <a:custGeom>
              <a:avLst/>
              <a:gdLst/>
              <a:ahLst/>
              <a:cxnLst/>
              <a:rect l="l" t="t" r="r" b="b"/>
              <a:pathLst>
                <a:path w="1170647" h="1382872">
                  <a:moveTo>
                    <a:pt x="0" y="0"/>
                  </a:moveTo>
                  <a:lnTo>
                    <a:pt x="1170647" y="0"/>
                  </a:lnTo>
                  <a:lnTo>
                    <a:pt x="1170647" y="1382872"/>
                  </a:lnTo>
                  <a:lnTo>
                    <a:pt x="0" y="1382872"/>
                  </a:lnTo>
                  <a:close/>
                </a:path>
              </a:pathLst>
            </a:custGeom>
            <a:solidFill>
              <a:srgbClr val="DCEDC8"/>
            </a:solidFill>
          </p:spPr>
        </p:sp>
        <p:sp>
          <p:nvSpPr>
            <p:cNvPr id="18" name="TextBox 18"/>
            <p:cNvSpPr txBox="1"/>
            <p:nvPr/>
          </p:nvSpPr>
          <p:spPr>
            <a:xfrm>
              <a:off x="0" y="-38100"/>
              <a:ext cx="1170647" cy="1420972"/>
            </a:xfrm>
            <a:prstGeom prst="rect">
              <a:avLst/>
            </a:prstGeom>
          </p:spPr>
          <p:txBody>
            <a:bodyPr lIns="44566" tIns="44566" rIns="44566" bIns="44566" rtlCol="0" anchor="ctr"/>
            <a:lstStyle/>
            <a:p>
              <a:pPr algn="ctr">
                <a:lnSpc>
                  <a:spcPts val="2660"/>
                </a:lnSpc>
              </a:pPr>
            </a:p>
          </p:txBody>
        </p:sp>
      </p:grpSp>
      <p:sp>
        <p:nvSpPr>
          <p:cNvPr id="19" name="TextBox 19"/>
          <p:cNvSpPr txBox="1"/>
          <p:nvPr/>
        </p:nvSpPr>
        <p:spPr>
          <a:xfrm>
            <a:off x="4343584" y="6820150"/>
            <a:ext cx="2077295" cy="480073"/>
          </a:xfrm>
          <a:prstGeom prst="rect">
            <a:avLst/>
          </a:prstGeom>
        </p:spPr>
        <p:txBody>
          <a:bodyPr lIns="0" tIns="0" rIns="0" bIns="0" rtlCol="0" anchor="t">
            <a:spAutoFit/>
          </a:bodyPr>
          <a:lstStyle/>
          <a:p>
            <a:pPr algn="ctr">
              <a:lnSpc>
                <a:spcPts val="1925"/>
              </a:lnSpc>
            </a:pPr>
            <a:r>
              <a:rPr lang="en-US" sz="1375" b="1">
                <a:solidFill>
                  <a:srgbClr val="1B1B1B"/>
                </a:solidFill>
                <a:latin typeface="Montserrat Bold" panose="00000800000000000000"/>
                <a:ea typeface="Montserrat Bold" panose="00000800000000000000"/>
                <a:cs typeface="Montserrat Bold" panose="00000800000000000000"/>
                <a:sym typeface="Montserrat Bold" panose="00000800000000000000"/>
              </a:rPr>
              <a:t>Gold Layer (Business-Ready Data)</a:t>
            </a:r>
            <a:endParaRPr lang="en-US" sz="1375" b="1">
              <a:solidFill>
                <a:srgbClr val="1B1B1B"/>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20" name="TextBox 20"/>
          <p:cNvSpPr txBox="1"/>
          <p:nvPr/>
        </p:nvSpPr>
        <p:spPr>
          <a:xfrm>
            <a:off x="3785235" y="7602220"/>
            <a:ext cx="3663950" cy="1557655"/>
          </a:xfrm>
          <a:prstGeom prst="rect">
            <a:avLst/>
          </a:prstGeom>
        </p:spPr>
        <p:txBody>
          <a:bodyPr wrap="square" lIns="0" tIns="0" rIns="0" bIns="0" rtlCol="0" anchor="t">
            <a:spAutoFit/>
          </a:bodyPr>
          <a:lstStyle/>
          <a:p>
            <a:pPr marL="187960" lvl="1" indent="-93980" algn="l">
              <a:lnSpc>
                <a:spcPts val="1215"/>
              </a:lnSpc>
              <a:buFont typeface="Arial" panose="020B0604020202020204"/>
              <a:buChar char="•"/>
            </a:pPr>
            <a:r>
              <a:rPr lang="en-US" sz="1500">
                <a:solidFill>
                  <a:srgbClr val="1B1B1B"/>
                </a:solidFill>
                <a:latin typeface="DM Sans"/>
                <a:ea typeface="DM Sans"/>
                <a:cs typeface="DM Sans"/>
                <a:sym typeface="DM Sans"/>
              </a:rPr>
              <a:t>Aggregated &amp; curated data</a:t>
            </a:r>
            <a:endParaRPr lang="en-US" sz="1500">
              <a:solidFill>
                <a:srgbClr val="1B1B1B"/>
              </a:solidFill>
              <a:latin typeface="DM Sans"/>
              <a:ea typeface="DM Sans"/>
              <a:cs typeface="DM Sans"/>
              <a:sym typeface="DM Sans"/>
            </a:endParaRPr>
          </a:p>
          <a:p>
            <a:pPr marL="187960" lvl="1" indent="-93980" algn="l">
              <a:lnSpc>
                <a:spcPts val="1215"/>
              </a:lnSpc>
              <a:buFont typeface="Arial" panose="020B0604020202020204"/>
              <a:buChar char="•"/>
            </a:pPr>
            <a:endParaRPr lang="en-US" sz="1500">
              <a:solidFill>
                <a:srgbClr val="1B1B1B"/>
              </a:solidFill>
              <a:latin typeface="DM Sans"/>
              <a:ea typeface="DM Sans"/>
              <a:cs typeface="DM Sans"/>
              <a:sym typeface="DM Sans"/>
            </a:endParaRPr>
          </a:p>
          <a:p>
            <a:pPr marL="187960" lvl="1" indent="-93980" algn="l">
              <a:lnSpc>
                <a:spcPts val="1215"/>
              </a:lnSpc>
              <a:buFont typeface="Arial" panose="020B0604020202020204"/>
              <a:buChar char="•"/>
            </a:pPr>
            <a:r>
              <a:rPr lang="en-US" sz="1500">
                <a:solidFill>
                  <a:srgbClr val="1B1B1B"/>
                </a:solidFill>
                <a:latin typeface="DM Sans"/>
                <a:ea typeface="DM Sans"/>
                <a:cs typeface="DM Sans"/>
                <a:sym typeface="DM Sans"/>
              </a:rPr>
              <a:t>Summary tables</a:t>
            </a:r>
            <a:endParaRPr lang="en-US" sz="1500">
              <a:solidFill>
                <a:srgbClr val="1B1B1B"/>
              </a:solidFill>
              <a:latin typeface="DM Sans"/>
              <a:ea typeface="DM Sans"/>
              <a:cs typeface="DM Sans"/>
              <a:sym typeface="DM Sans"/>
            </a:endParaRPr>
          </a:p>
          <a:p>
            <a:pPr marL="93980" lvl="1" indent="0" algn="l">
              <a:lnSpc>
                <a:spcPts val="1215"/>
              </a:lnSpc>
              <a:buFont typeface="Arial" panose="020B0604020202020204"/>
              <a:buNone/>
            </a:pPr>
            <a:endParaRPr lang="en-US" sz="1500">
              <a:solidFill>
                <a:srgbClr val="1B1B1B"/>
              </a:solidFill>
              <a:latin typeface="DM Sans"/>
              <a:ea typeface="DM Sans"/>
              <a:cs typeface="DM Sans"/>
              <a:sym typeface="DM Sans"/>
            </a:endParaRPr>
          </a:p>
          <a:p>
            <a:pPr marL="187960" lvl="1" indent="-93980" algn="l">
              <a:lnSpc>
                <a:spcPts val="1215"/>
              </a:lnSpc>
              <a:buFont typeface="Arial" panose="020B0604020202020204"/>
              <a:buChar char="•"/>
            </a:pPr>
            <a:r>
              <a:rPr lang="en-US" sz="1500">
                <a:solidFill>
                  <a:srgbClr val="1B1B1B"/>
                </a:solidFill>
                <a:latin typeface="DM Sans"/>
                <a:ea typeface="DM Sans"/>
                <a:cs typeface="DM Sans"/>
                <a:sym typeface="DM Sans"/>
              </a:rPr>
              <a:t>Optimized for BI &amp; reporting</a:t>
            </a:r>
            <a:endParaRPr lang="en-US" sz="1500">
              <a:solidFill>
                <a:srgbClr val="1B1B1B"/>
              </a:solidFill>
              <a:latin typeface="DM Sans"/>
              <a:ea typeface="DM Sans"/>
              <a:cs typeface="DM Sans"/>
              <a:sym typeface="DM Sans"/>
            </a:endParaRPr>
          </a:p>
          <a:p>
            <a:pPr marL="93980" lvl="1" indent="0" algn="l">
              <a:lnSpc>
                <a:spcPts val="1215"/>
              </a:lnSpc>
              <a:buFont typeface="Arial" panose="020B0604020202020204"/>
              <a:buNone/>
            </a:pPr>
            <a:endParaRPr lang="en-US" sz="1500">
              <a:solidFill>
                <a:srgbClr val="1B1B1B"/>
              </a:solidFill>
              <a:latin typeface="DM Sans"/>
              <a:ea typeface="DM Sans"/>
              <a:cs typeface="DM Sans"/>
              <a:sym typeface="DM Sans"/>
            </a:endParaRPr>
          </a:p>
          <a:p>
            <a:pPr marL="187960" lvl="1" indent="-93980" algn="l">
              <a:lnSpc>
                <a:spcPts val="1215"/>
              </a:lnSpc>
              <a:buFont typeface="Arial" panose="020B0604020202020204"/>
              <a:buChar char="•"/>
            </a:pPr>
            <a:r>
              <a:rPr lang="en-US" sz="1500">
                <a:solidFill>
                  <a:srgbClr val="1B1B1B"/>
                </a:solidFill>
                <a:latin typeface="DM Sans"/>
                <a:ea typeface="DM Sans"/>
                <a:cs typeface="DM Sans"/>
                <a:sym typeface="DM Sans"/>
              </a:rPr>
              <a:t>Used for ML &amp; analytics</a:t>
            </a:r>
            <a:endParaRPr lang="en-US" sz="1500">
              <a:solidFill>
                <a:srgbClr val="1B1B1B"/>
              </a:solidFill>
              <a:latin typeface="DM Sans"/>
              <a:ea typeface="DM Sans"/>
              <a:cs typeface="DM Sans"/>
              <a:sym typeface="DM Sans"/>
            </a:endParaRPr>
          </a:p>
          <a:p>
            <a:pPr marL="93980" lvl="1" indent="0" algn="l">
              <a:lnSpc>
                <a:spcPts val="1215"/>
              </a:lnSpc>
              <a:buFont typeface="Arial" panose="020B0604020202020204"/>
              <a:buNone/>
            </a:pPr>
            <a:endParaRPr lang="en-US" sz="1500">
              <a:solidFill>
                <a:srgbClr val="1B1B1B"/>
              </a:solidFill>
              <a:latin typeface="DM Sans"/>
              <a:ea typeface="DM Sans"/>
              <a:cs typeface="DM Sans"/>
              <a:sym typeface="DM Sans"/>
            </a:endParaRPr>
          </a:p>
          <a:p>
            <a:pPr marL="187960" lvl="1" indent="-93980" algn="l">
              <a:lnSpc>
                <a:spcPts val="1215"/>
              </a:lnSpc>
              <a:buFont typeface="Arial" panose="020B0604020202020204"/>
              <a:buChar char="•"/>
            </a:pPr>
            <a:r>
              <a:rPr lang="en-US" sz="1500">
                <a:solidFill>
                  <a:srgbClr val="1B1B1B"/>
                </a:solidFill>
                <a:latin typeface="DM Sans"/>
                <a:ea typeface="DM Sans"/>
                <a:cs typeface="DM Sans"/>
                <a:sym typeface="DM Sans"/>
              </a:rPr>
              <a:t>Ready for downstream consumption</a:t>
            </a:r>
            <a:endParaRPr lang="en-US" sz="1500">
              <a:solidFill>
                <a:srgbClr val="1B1B1B"/>
              </a:solidFill>
              <a:latin typeface="DM Sans"/>
              <a:ea typeface="DM Sans"/>
              <a:cs typeface="DM Sans"/>
              <a:sym typeface="DM Sans"/>
            </a:endParaRPr>
          </a:p>
          <a:p>
            <a:pPr algn="l">
              <a:lnSpc>
                <a:spcPts val="1215"/>
              </a:lnSpc>
            </a:pPr>
            <a:endParaRPr sz="15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666750"/>
            <a:ext cx="18288000" cy="0"/>
          </a:xfrm>
          <a:prstGeom prst="line">
            <a:avLst/>
          </a:prstGeom>
          <a:ln w="19050" cap="flat">
            <a:solidFill>
              <a:srgbClr val="0A47A1"/>
            </a:solidFill>
            <a:prstDash val="solid"/>
            <a:headEnd type="none" w="sm" len="sm"/>
            <a:tailEnd type="none" w="sm" len="sm"/>
          </a:ln>
        </p:spPr>
      </p:sp>
      <p:sp>
        <p:nvSpPr>
          <p:cNvPr id="3" name="AutoShape 3"/>
          <p:cNvSpPr/>
          <p:nvPr/>
        </p:nvSpPr>
        <p:spPr>
          <a:xfrm>
            <a:off x="0" y="9620250"/>
            <a:ext cx="18288000" cy="0"/>
          </a:xfrm>
          <a:prstGeom prst="line">
            <a:avLst/>
          </a:prstGeom>
          <a:ln w="19050" cap="flat">
            <a:solidFill>
              <a:srgbClr val="0A47A1"/>
            </a:solidFill>
            <a:prstDash val="solid"/>
            <a:headEnd type="none" w="sm" len="sm"/>
            <a:tailEnd type="none" w="sm" len="sm"/>
          </a:ln>
        </p:spPr>
      </p:sp>
      <p:sp>
        <p:nvSpPr>
          <p:cNvPr id="4" name="Freeform 4"/>
          <p:cNvSpPr/>
          <p:nvPr/>
        </p:nvSpPr>
        <p:spPr>
          <a:xfrm>
            <a:off x="8343900" y="3881755"/>
            <a:ext cx="9170670" cy="4775835"/>
          </a:xfrm>
          <a:custGeom>
            <a:avLst/>
            <a:gdLst/>
            <a:ahLst/>
            <a:cxnLst/>
            <a:rect l="l" t="t" r="r" b="b"/>
            <a:pathLst>
              <a:path w="8560837" h="3526117">
                <a:moveTo>
                  <a:pt x="0" y="0"/>
                </a:moveTo>
                <a:lnTo>
                  <a:pt x="8560837" y="0"/>
                </a:lnTo>
                <a:lnTo>
                  <a:pt x="8560837" y="3526117"/>
                </a:lnTo>
                <a:lnTo>
                  <a:pt x="0" y="3526117"/>
                </a:lnTo>
                <a:lnTo>
                  <a:pt x="0" y="0"/>
                </a:lnTo>
                <a:close/>
              </a:path>
            </a:pathLst>
          </a:custGeom>
          <a:blipFill>
            <a:blip r:embed="rId1"/>
            <a:stretch>
              <a:fillRect t="-1145" r="-1525" b="-1145"/>
            </a:stretch>
          </a:blipFill>
        </p:spPr>
      </p:sp>
      <p:sp>
        <p:nvSpPr>
          <p:cNvPr id="5" name="TextBox 5"/>
          <p:cNvSpPr txBox="1"/>
          <p:nvPr/>
        </p:nvSpPr>
        <p:spPr>
          <a:xfrm>
            <a:off x="0" y="1010285"/>
            <a:ext cx="17324070" cy="2019935"/>
          </a:xfrm>
          <a:prstGeom prst="rect">
            <a:avLst/>
          </a:prstGeom>
        </p:spPr>
        <p:txBody>
          <a:bodyPr wrap="square" lIns="0" tIns="0" rIns="0" bIns="0" rtlCol="0" anchor="t">
            <a:noAutofit/>
          </a:bodyPr>
          <a:lstStyle/>
          <a:p>
            <a:pPr marL="0" lvl="0" indent="0" algn="l">
              <a:lnSpc>
                <a:spcPts val="9600"/>
              </a:lnSpc>
            </a:pPr>
            <a:r>
              <a:rPr lang="en-US" sz="9600" spc="-192">
                <a:solidFill>
                  <a:srgbClr val="0A47A1"/>
                </a:solidFill>
                <a:latin typeface="Noto Serif Display ExtraCondensed Light" panose="02020406080505020204"/>
                <a:ea typeface="Noto Serif Display ExtraCondensed Light" panose="02020406080505020204"/>
                <a:cs typeface="Noto Serif Display ExtraCondensed Light" panose="02020406080505020204"/>
                <a:sym typeface="Noto Serif Display ExtraCondensed Light" panose="02020406080505020204"/>
              </a:rPr>
              <a:t> </a:t>
            </a:r>
            <a:r>
              <a:rPr lang="en-US" sz="9000" spc="-192">
                <a:solidFill>
                  <a:srgbClr val="0A47A1"/>
                </a:solidFill>
                <a:latin typeface="Noto Serif Display ExtraCondensed Light" panose="02020406080505020204"/>
                <a:ea typeface="Noto Serif Display ExtraCondensed Light" panose="02020406080505020204"/>
                <a:cs typeface="Noto Serif Display ExtraCondensed Light" panose="02020406080505020204"/>
                <a:sym typeface="Noto Serif Display ExtraCondensed Light" panose="02020406080505020204"/>
              </a:rPr>
              <a:t>Lakeflow Spark Declarative Pipelines (SDP)</a:t>
            </a:r>
            <a:endParaRPr lang="en-US" sz="9000" spc="-192">
              <a:solidFill>
                <a:srgbClr val="0A47A1"/>
              </a:solidFill>
              <a:latin typeface="Noto Serif Display ExtraCondensed Light" panose="02020406080505020204"/>
              <a:ea typeface="Noto Serif Display ExtraCondensed Light" panose="02020406080505020204"/>
              <a:cs typeface="Noto Serif Display ExtraCondensed Light" panose="02020406080505020204"/>
              <a:sym typeface="Noto Serif Display ExtraCondensed Light" panose="02020406080505020204"/>
            </a:endParaRPr>
          </a:p>
        </p:txBody>
      </p:sp>
      <p:sp>
        <p:nvSpPr>
          <p:cNvPr id="6" name="TextBox 6"/>
          <p:cNvSpPr txBox="1"/>
          <p:nvPr/>
        </p:nvSpPr>
        <p:spPr>
          <a:xfrm>
            <a:off x="321082" y="3852948"/>
            <a:ext cx="7722201" cy="3763645"/>
          </a:xfrm>
          <a:prstGeom prst="rect">
            <a:avLst/>
          </a:prstGeom>
        </p:spPr>
        <p:txBody>
          <a:bodyPr lIns="0" tIns="0" rIns="0" bIns="0" rtlCol="0" anchor="t">
            <a:spAutoFit/>
          </a:bodyPr>
          <a:lstStyle/>
          <a:p>
            <a:pPr algn="l">
              <a:lnSpc>
                <a:spcPts val="2935"/>
              </a:lnSpc>
              <a:spcBef>
                <a:spcPct val="0"/>
              </a:spcBef>
            </a:pPr>
            <a:r>
              <a:rPr lang="en-US" sz="2445">
                <a:solidFill>
                  <a:schemeClr val="tx1"/>
                </a:solidFill>
                <a:latin typeface="Times New Roman" panose="02020603050405020304" charset="0"/>
                <a:ea typeface="HK Grotesk" panose="00000500000000000000"/>
                <a:cs typeface="Times New Roman" panose="02020603050405020304" charset="0"/>
                <a:sym typeface="HK Grotesk" panose="00000500000000000000"/>
              </a:rPr>
              <a:t>Lakeflow provides a declarative ETL framework where we define what transformation should happen, and the system manages execution automatically.</a:t>
            </a:r>
            <a:endParaRPr lang="en-US" sz="2445">
              <a:solidFill>
                <a:schemeClr val="tx1"/>
              </a:solidFill>
              <a:latin typeface="Times New Roman" panose="02020603050405020304" charset="0"/>
              <a:ea typeface="HK Grotesk" panose="00000500000000000000"/>
              <a:cs typeface="Times New Roman" panose="02020603050405020304" charset="0"/>
              <a:sym typeface="HK Grotesk" panose="00000500000000000000"/>
            </a:endParaRPr>
          </a:p>
          <a:p>
            <a:pPr algn="l">
              <a:lnSpc>
                <a:spcPts val="2935"/>
              </a:lnSpc>
              <a:spcBef>
                <a:spcPct val="0"/>
              </a:spcBef>
            </a:pPr>
            <a:endParaRPr lang="en-US" sz="2445">
              <a:solidFill>
                <a:schemeClr val="tx1"/>
              </a:solidFill>
              <a:latin typeface="Times New Roman" panose="02020603050405020304" charset="0"/>
              <a:ea typeface="HK Grotesk" panose="00000500000000000000"/>
              <a:cs typeface="Times New Roman" panose="02020603050405020304" charset="0"/>
              <a:sym typeface="HK Grotesk" panose="00000500000000000000"/>
            </a:endParaRPr>
          </a:p>
          <a:p>
            <a:pPr algn="l">
              <a:lnSpc>
                <a:spcPts val="2935"/>
              </a:lnSpc>
              <a:spcBef>
                <a:spcPct val="0"/>
              </a:spcBef>
            </a:pPr>
            <a:r>
              <a:rPr lang="en-US" sz="2445">
                <a:solidFill>
                  <a:schemeClr val="tx1"/>
                </a:solidFill>
                <a:latin typeface="Times New Roman" panose="02020603050405020304" charset="0"/>
                <a:ea typeface="HK Grotesk" panose="00000500000000000000"/>
                <a:cs typeface="Times New Roman" panose="02020603050405020304" charset="0"/>
                <a:sym typeface="HK Grotesk" panose="00000500000000000000"/>
              </a:rPr>
              <a:t>It simplifies:</a:t>
            </a:r>
            <a:endParaRPr lang="en-US" sz="2445">
              <a:solidFill>
                <a:schemeClr val="tx1"/>
              </a:solidFill>
              <a:latin typeface="Times New Roman" panose="02020603050405020304" charset="0"/>
              <a:ea typeface="HK Grotesk" panose="00000500000000000000"/>
              <a:cs typeface="Times New Roman" panose="02020603050405020304" charset="0"/>
              <a:sym typeface="HK Grotesk" panose="00000500000000000000"/>
            </a:endParaRPr>
          </a:p>
          <a:p>
            <a:pPr algn="l">
              <a:lnSpc>
                <a:spcPts val="2935"/>
              </a:lnSpc>
              <a:spcBef>
                <a:spcPct val="0"/>
              </a:spcBef>
            </a:pPr>
            <a:r>
              <a:rPr lang="en-US" sz="2445">
                <a:solidFill>
                  <a:schemeClr val="tx1"/>
                </a:solidFill>
                <a:latin typeface="Times New Roman" panose="02020603050405020304" charset="0"/>
                <a:ea typeface="HK Grotesk" panose="00000500000000000000"/>
                <a:cs typeface="Times New Roman" panose="02020603050405020304" charset="0"/>
                <a:sym typeface="HK Grotesk" panose="00000500000000000000"/>
              </a:rPr>
              <a:t>Data ingestion</a:t>
            </a:r>
            <a:endParaRPr lang="en-US" sz="2445">
              <a:solidFill>
                <a:schemeClr val="tx1"/>
              </a:solidFill>
              <a:latin typeface="Times New Roman" panose="02020603050405020304" charset="0"/>
              <a:ea typeface="HK Grotesk" panose="00000500000000000000"/>
              <a:cs typeface="Times New Roman" panose="02020603050405020304" charset="0"/>
              <a:sym typeface="HK Grotesk" panose="00000500000000000000"/>
            </a:endParaRPr>
          </a:p>
          <a:p>
            <a:pPr algn="l">
              <a:lnSpc>
                <a:spcPts val="2935"/>
              </a:lnSpc>
              <a:spcBef>
                <a:spcPct val="0"/>
              </a:spcBef>
            </a:pPr>
            <a:r>
              <a:rPr lang="en-US" sz="2445">
                <a:solidFill>
                  <a:schemeClr val="tx1"/>
                </a:solidFill>
                <a:latin typeface="Times New Roman" panose="02020603050405020304" charset="0"/>
                <a:ea typeface="HK Grotesk" panose="00000500000000000000"/>
                <a:cs typeface="Times New Roman" panose="02020603050405020304" charset="0"/>
                <a:sym typeface="HK Grotesk" panose="00000500000000000000"/>
              </a:rPr>
              <a:t>Incremental processing</a:t>
            </a:r>
            <a:endParaRPr lang="en-US" sz="2445">
              <a:solidFill>
                <a:schemeClr val="tx1"/>
              </a:solidFill>
              <a:latin typeface="Times New Roman" panose="02020603050405020304" charset="0"/>
              <a:ea typeface="HK Grotesk" panose="00000500000000000000"/>
              <a:cs typeface="Times New Roman" panose="02020603050405020304" charset="0"/>
              <a:sym typeface="HK Grotesk" panose="00000500000000000000"/>
            </a:endParaRPr>
          </a:p>
          <a:p>
            <a:pPr algn="l">
              <a:lnSpc>
                <a:spcPts val="2935"/>
              </a:lnSpc>
              <a:spcBef>
                <a:spcPct val="0"/>
              </a:spcBef>
            </a:pPr>
            <a:r>
              <a:rPr lang="en-US" sz="2445">
                <a:solidFill>
                  <a:schemeClr val="tx1"/>
                </a:solidFill>
                <a:latin typeface="Times New Roman" panose="02020603050405020304" charset="0"/>
                <a:ea typeface="HK Grotesk" panose="00000500000000000000"/>
                <a:cs typeface="Times New Roman" panose="02020603050405020304" charset="0"/>
                <a:sym typeface="HK Grotesk" panose="00000500000000000000"/>
              </a:rPr>
              <a:t>Streaming pipelines</a:t>
            </a:r>
            <a:endParaRPr lang="en-US" sz="2445">
              <a:solidFill>
                <a:schemeClr val="tx1"/>
              </a:solidFill>
              <a:latin typeface="Times New Roman" panose="02020603050405020304" charset="0"/>
              <a:ea typeface="HK Grotesk" panose="00000500000000000000"/>
              <a:cs typeface="Times New Roman" panose="02020603050405020304" charset="0"/>
              <a:sym typeface="HK Grotesk" panose="00000500000000000000"/>
            </a:endParaRPr>
          </a:p>
          <a:p>
            <a:pPr algn="l">
              <a:lnSpc>
                <a:spcPts val="2935"/>
              </a:lnSpc>
              <a:spcBef>
                <a:spcPct val="0"/>
              </a:spcBef>
            </a:pPr>
            <a:r>
              <a:rPr lang="en-US" sz="2445">
                <a:solidFill>
                  <a:schemeClr val="tx1"/>
                </a:solidFill>
                <a:latin typeface="Times New Roman" panose="02020603050405020304" charset="0"/>
                <a:ea typeface="HK Grotesk" panose="00000500000000000000"/>
                <a:cs typeface="Times New Roman" panose="02020603050405020304" charset="0"/>
                <a:sym typeface="HK Grotesk" panose="00000500000000000000"/>
              </a:rPr>
              <a:t>Pipeline monitoring</a:t>
            </a:r>
            <a:endParaRPr lang="en-US" sz="2445">
              <a:solidFill>
                <a:schemeClr val="tx1"/>
              </a:solidFill>
              <a:latin typeface="Times New Roman" panose="02020603050405020304" charset="0"/>
              <a:ea typeface="HK Grotesk" panose="00000500000000000000"/>
              <a:cs typeface="Times New Roman" panose="02020603050405020304" charset="0"/>
              <a:sym typeface="HK Grotesk" panose="00000500000000000000"/>
            </a:endParaRPr>
          </a:p>
          <a:p>
            <a:pPr algn="l">
              <a:lnSpc>
                <a:spcPts val="2935"/>
              </a:lnSpc>
              <a:spcBef>
                <a:spcPct val="0"/>
              </a:spcBef>
            </a:pPr>
            <a:r>
              <a:rPr lang="en-US" sz="2445">
                <a:solidFill>
                  <a:schemeClr val="tx1"/>
                </a:solidFill>
                <a:latin typeface="Times New Roman" panose="02020603050405020304" charset="0"/>
                <a:ea typeface="HK Grotesk" panose="00000500000000000000"/>
                <a:cs typeface="Times New Roman" panose="02020603050405020304" charset="0"/>
                <a:sym typeface="HK Grotesk" panose="00000500000000000000"/>
              </a:rPr>
              <a:t>Error handling &amp; scaling</a:t>
            </a:r>
            <a:endParaRPr lang="en-US" sz="2445">
              <a:solidFill>
                <a:schemeClr val="tx1"/>
              </a:solidFill>
              <a:latin typeface="Times New Roman" panose="02020603050405020304" charset="0"/>
              <a:ea typeface="HK Grotesk" panose="00000500000000000000"/>
              <a:cs typeface="Times New Roman" panose="02020603050405020304" charset="0"/>
              <a:sym typeface="HK Grotesk" panose="0000050000000000000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1010285"/>
            <a:ext cx="18288000" cy="2461895"/>
          </a:xfrm>
          <a:prstGeom prst="rect">
            <a:avLst/>
          </a:prstGeom>
        </p:spPr>
        <p:txBody>
          <a:bodyPr wrap="square" lIns="0" tIns="0" rIns="0" bIns="0" rtlCol="0" anchor="t">
            <a:spAutoFit/>
          </a:bodyPr>
          <a:lstStyle/>
          <a:p>
            <a:pPr marL="0" lvl="0" indent="0" algn="l">
              <a:lnSpc>
                <a:spcPts val="9600"/>
              </a:lnSpc>
            </a:pPr>
            <a:r>
              <a:rPr lang="en-US" sz="7500" spc="-192">
                <a:solidFill>
                  <a:srgbClr val="0A47A1"/>
                </a:solidFill>
                <a:latin typeface="Noto Serif Display ExtraCondensed Light" panose="02020406080505020204"/>
                <a:ea typeface="Noto Serif Display ExtraCondensed Light" panose="02020406080505020204"/>
                <a:cs typeface="Noto Serif Display ExtraCondensed Light" panose="02020406080505020204"/>
                <a:sym typeface="Noto Serif Display ExtraCondensed Light" panose="02020406080505020204"/>
              </a:rPr>
              <a:t>                          From Ingestion to Transformation </a:t>
            </a:r>
            <a:endParaRPr lang="en-US" sz="7500" spc="-192">
              <a:solidFill>
                <a:srgbClr val="0A47A1"/>
              </a:solidFill>
              <a:latin typeface="Noto Serif Display ExtraCondensed Light" panose="02020406080505020204"/>
              <a:ea typeface="Noto Serif Display ExtraCondensed Light" panose="02020406080505020204"/>
              <a:cs typeface="Noto Serif Display ExtraCondensed Light" panose="02020406080505020204"/>
              <a:sym typeface="Noto Serif Display ExtraCondensed Light" panose="02020406080505020204"/>
            </a:endParaRPr>
          </a:p>
          <a:p>
            <a:pPr marL="0" lvl="0" indent="0" algn="l">
              <a:lnSpc>
                <a:spcPts val="9600"/>
              </a:lnSpc>
            </a:pPr>
            <a:r>
              <a:rPr lang="en-US" sz="7500" spc="-192">
                <a:solidFill>
                  <a:srgbClr val="0A47A1"/>
                </a:solidFill>
                <a:latin typeface="Noto Serif Display ExtraCondensed Light" panose="02020406080505020204"/>
                <a:ea typeface="Noto Serif Display ExtraCondensed Light" panose="02020406080505020204"/>
                <a:cs typeface="Noto Serif Display ExtraCondensed Light" panose="02020406080505020204"/>
                <a:sym typeface="Noto Serif Display ExtraCondensed Light" panose="02020406080505020204"/>
              </a:rPr>
              <a:t>                                     Medallion Architecture</a:t>
            </a:r>
            <a:endParaRPr lang="en-US" sz="7500" spc="-192">
              <a:solidFill>
                <a:srgbClr val="0A47A1"/>
              </a:solidFill>
              <a:latin typeface="Noto Serif Display ExtraCondensed Light" panose="02020406080505020204"/>
              <a:ea typeface="Noto Serif Display ExtraCondensed Light" panose="02020406080505020204"/>
              <a:cs typeface="Noto Serif Display ExtraCondensed Light" panose="02020406080505020204"/>
              <a:sym typeface="Noto Serif Display ExtraCondensed Light" panose="02020406080505020204"/>
            </a:endParaRPr>
          </a:p>
        </p:txBody>
      </p:sp>
      <p:sp>
        <p:nvSpPr>
          <p:cNvPr id="3" name="AutoShape 3"/>
          <p:cNvSpPr/>
          <p:nvPr/>
        </p:nvSpPr>
        <p:spPr>
          <a:xfrm>
            <a:off x="0" y="666750"/>
            <a:ext cx="18288000" cy="0"/>
          </a:xfrm>
          <a:prstGeom prst="line">
            <a:avLst/>
          </a:prstGeom>
          <a:ln w="19050" cap="flat">
            <a:solidFill>
              <a:srgbClr val="0A47A1"/>
            </a:solidFill>
            <a:prstDash val="solid"/>
            <a:headEnd type="none" w="sm" len="sm"/>
            <a:tailEnd type="none" w="sm" len="sm"/>
          </a:ln>
        </p:spPr>
      </p:sp>
      <p:sp>
        <p:nvSpPr>
          <p:cNvPr id="4" name="AutoShape 4"/>
          <p:cNvSpPr/>
          <p:nvPr/>
        </p:nvSpPr>
        <p:spPr>
          <a:xfrm>
            <a:off x="0" y="9620250"/>
            <a:ext cx="18288000" cy="0"/>
          </a:xfrm>
          <a:prstGeom prst="line">
            <a:avLst/>
          </a:prstGeom>
          <a:ln w="19050" cap="flat">
            <a:solidFill>
              <a:srgbClr val="0A47A1"/>
            </a:solidFill>
            <a:prstDash val="solid"/>
            <a:headEnd type="none" w="sm" len="sm"/>
            <a:tailEnd type="none" w="sm" len="sm"/>
          </a:ln>
        </p:spPr>
      </p:sp>
      <p:sp>
        <p:nvSpPr>
          <p:cNvPr id="5" name="TextBox 5"/>
          <p:cNvSpPr txBox="1"/>
          <p:nvPr/>
        </p:nvSpPr>
        <p:spPr>
          <a:xfrm>
            <a:off x="402850" y="4118830"/>
            <a:ext cx="11062931" cy="3985260"/>
          </a:xfrm>
          <a:prstGeom prst="rect">
            <a:avLst/>
          </a:prstGeom>
        </p:spPr>
        <p:txBody>
          <a:bodyPr lIns="0" tIns="0" rIns="0" bIns="0" rtlCol="0" anchor="t">
            <a:spAutoFit/>
          </a:bodyPr>
          <a:lstStyle/>
          <a:p>
            <a:pPr algn="l">
              <a:lnSpc>
                <a:spcPts val="4440"/>
              </a:lnSpc>
              <a:spcBef>
                <a:spcPct val="0"/>
              </a:spcBef>
            </a:pPr>
            <a:r>
              <a:rPr lang="en-US" sz="2500" b="1" spc="-88">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rPr>
              <a:t>Step 1: Data Ingestion (Lakeflow Connect)</a:t>
            </a:r>
            <a:endParaRPr lang="en-US" sz="2500" b="1" spc="-88">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indent="0" algn="l">
              <a:lnSpc>
                <a:spcPts val="4440"/>
              </a:lnSpc>
              <a:spcBef>
                <a:spcPct val="0"/>
              </a:spcBef>
              <a:buFont typeface="Arial" panose="020B0604020202020204" pitchFamily="34" charset="0"/>
              <a:buNone/>
            </a:pPr>
            <a:r>
              <a:rPr lang="en-US" sz="2300" b="1" spc="-88">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rPr>
              <a:t>Data can come from:</a:t>
            </a:r>
            <a:endParaRPr lang="en-US" sz="2300" b="1" spc="-88">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marL="342900" indent="-342900" algn="l">
              <a:lnSpc>
                <a:spcPts val="4440"/>
              </a:lnSpc>
              <a:spcBef>
                <a:spcPct val="0"/>
              </a:spcBef>
              <a:buFont typeface="Arial" panose="020B0604020202020204" pitchFamily="34" charset="0"/>
              <a:buChar char="•"/>
            </a:pPr>
            <a:r>
              <a:rPr lang="en-US" sz="2300" spc="-88">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rPr>
              <a:t>Cloud storage (S3, ADLS, GCS)</a:t>
            </a:r>
            <a:endParaRPr lang="en-US" sz="2300" spc="-88">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marL="342900" indent="-342900" algn="l">
              <a:lnSpc>
                <a:spcPts val="4440"/>
              </a:lnSpc>
              <a:spcBef>
                <a:spcPct val="0"/>
              </a:spcBef>
              <a:buFont typeface="Arial" panose="020B0604020202020204" pitchFamily="34" charset="0"/>
              <a:buChar char="•"/>
            </a:pPr>
            <a:r>
              <a:rPr lang="en-US" sz="2300" spc="-88">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rPr>
              <a:t>Streaming platforms (Kafka, Pub/Sub, Kinesis)</a:t>
            </a:r>
            <a:endParaRPr lang="en-US" sz="2300" spc="-88">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marL="342900" indent="-342900" algn="l">
              <a:lnSpc>
                <a:spcPts val="4440"/>
              </a:lnSpc>
              <a:spcBef>
                <a:spcPct val="0"/>
              </a:spcBef>
              <a:buFont typeface="Arial" panose="020B0604020202020204" pitchFamily="34" charset="0"/>
              <a:buChar char="•"/>
            </a:pPr>
            <a:r>
              <a:rPr lang="en-US" sz="2300" spc="-88">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rPr>
              <a:t>Databases (SQL Server, Postgres)</a:t>
            </a:r>
            <a:endParaRPr lang="en-US" sz="2300" spc="-88">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marL="342900" indent="-342900" algn="l">
              <a:lnSpc>
                <a:spcPts val="4440"/>
              </a:lnSpc>
              <a:spcBef>
                <a:spcPct val="0"/>
              </a:spcBef>
              <a:buFont typeface="Arial" panose="020B0604020202020204" pitchFamily="34" charset="0"/>
              <a:buChar char="•"/>
            </a:pPr>
            <a:r>
              <a:rPr lang="en-US" sz="2300" spc="-88">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rPr>
              <a:t>SaaS applications (Salesforce, Workday)</a:t>
            </a:r>
            <a:endParaRPr lang="en-US" sz="2300" spc="-88">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marL="342900" indent="-342900" algn="l">
              <a:lnSpc>
                <a:spcPts val="4440"/>
              </a:lnSpc>
              <a:spcBef>
                <a:spcPct val="0"/>
              </a:spcBef>
              <a:buFont typeface="Arial" panose="020B0604020202020204" pitchFamily="34" charset="0"/>
              <a:buChar char="•"/>
            </a:pPr>
            <a:r>
              <a:rPr lang="en-US" sz="2300" spc="-88">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rPr>
              <a:t>Lakeflow Connect ensures reliable and scalable ingestion.</a:t>
            </a:r>
            <a:endParaRPr lang="en-US" sz="2300" spc="-88">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856448" y="5343922"/>
            <a:ext cx="2999498" cy="2398708"/>
          </a:xfrm>
          <a:custGeom>
            <a:avLst/>
            <a:gdLst/>
            <a:ahLst/>
            <a:cxnLst/>
            <a:rect l="l" t="t" r="r" b="b"/>
            <a:pathLst>
              <a:path w="2999498" h="2398708">
                <a:moveTo>
                  <a:pt x="0" y="0"/>
                </a:moveTo>
                <a:lnTo>
                  <a:pt x="2999498" y="0"/>
                </a:lnTo>
                <a:lnTo>
                  <a:pt x="2999498" y="2398709"/>
                </a:lnTo>
                <a:lnTo>
                  <a:pt x="0" y="2398709"/>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5066225" y="3544795"/>
            <a:ext cx="2999498" cy="2398708"/>
          </a:xfrm>
          <a:custGeom>
            <a:avLst/>
            <a:gdLst/>
            <a:ahLst/>
            <a:cxnLst/>
            <a:rect l="l" t="t" r="r" b="b"/>
            <a:pathLst>
              <a:path w="2999498" h="2398708">
                <a:moveTo>
                  <a:pt x="0" y="0"/>
                </a:moveTo>
                <a:lnTo>
                  <a:pt x="2999499" y="0"/>
                </a:lnTo>
                <a:lnTo>
                  <a:pt x="2999499" y="2398709"/>
                </a:lnTo>
                <a:lnTo>
                  <a:pt x="0" y="2398709"/>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flipH="1">
            <a:off x="8675674" y="7139235"/>
            <a:ext cx="2436744" cy="2436744"/>
          </a:xfrm>
          <a:custGeom>
            <a:avLst/>
            <a:gdLst/>
            <a:ahLst/>
            <a:cxnLst/>
            <a:rect l="l" t="t" r="r" b="b"/>
            <a:pathLst>
              <a:path w="2436744" h="2436744">
                <a:moveTo>
                  <a:pt x="2436744" y="0"/>
                </a:moveTo>
                <a:lnTo>
                  <a:pt x="0" y="0"/>
                </a:lnTo>
                <a:lnTo>
                  <a:pt x="0" y="2436744"/>
                </a:lnTo>
                <a:lnTo>
                  <a:pt x="2436744" y="2436744"/>
                </a:lnTo>
                <a:lnTo>
                  <a:pt x="2436744"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3287332" y="1744550"/>
            <a:ext cx="2999498" cy="2398708"/>
          </a:xfrm>
          <a:custGeom>
            <a:avLst/>
            <a:gdLst/>
            <a:ahLst/>
            <a:cxnLst/>
            <a:rect l="l" t="t" r="r" b="b"/>
            <a:pathLst>
              <a:path w="2999498" h="2398708">
                <a:moveTo>
                  <a:pt x="0" y="0"/>
                </a:moveTo>
                <a:lnTo>
                  <a:pt x="2999498" y="0"/>
                </a:lnTo>
                <a:lnTo>
                  <a:pt x="2999498" y="2398708"/>
                </a:lnTo>
                <a:lnTo>
                  <a:pt x="0" y="239870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6" name="Freeform 6"/>
          <p:cNvSpPr/>
          <p:nvPr/>
        </p:nvSpPr>
        <p:spPr>
          <a:xfrm rot="5400000">
            <a:off x="1133638" y="155031"/>
            <a:ext cx="592749" cy="3790837"/>
          </a:xfrm>
          <a:custGeom>
            <a:avLst/>
            <a:gdLst/>
            <a:ahLst/>
            <a:cxnLst/>
            <a:rect l="l" t="t" r="r" b="b"/>
            <a:pathLst>
              <a:path w="592749" h="3790837">
                <a:moveTo>
                  <a:pt x="0" y="0"/>
                </a:moveTo>
                <a:lnTo>
                  <a:pt x="592750" y="0"/>
                </a:lnTo>
                <a:lnTo>
                  <a:pt x="592750" y="3790837"/>
                </a:lnTo>
                <a:lnTo>
                  <a:pt x="0" y="37908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rot="-10800000">
            <a:off x="10510144" y="9547404"/>
            <a:ext cx="592749" cy="3790837"/>
          </a:xfrm>
          <a:custGeom>
            <a:avLst/>
            <a:gdLst/>
            <a:ahLst/>
            <a:cxnLst/>
            <a:rect l="l" t="t" r="r" b="b"/>
            <a:pathLst>
              <a:path w="592749" h="3790837">
                <a:moveTo>
                  <a:pt x="0" y="0"/>
                </a:moveTo>
                <a:lnTo>
                  <a:pt x="592749" y="0"/>
                </a:lnTo>
                <a:lnTo>
                  <a:pt x="592749" y="3790837"/>
                </a:lnTo>
                <a:lnTo>
                  <a:pt x="0" y="37908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8" name="Group 8"/>
          <p:cNvGrpSpPr/>
          <p:nvPr/>
        </p:nvGrpSpPr>
        <p:grpSpPr>
          <a:xfrm rot="0">
            <a:off x="5392245" y="2050449"/>
            <a:ext cx="1316128" cy="1316128"/>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E4F4"/>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60"/>
                </a:lnSpc>
              </a:pPr>
            </a:p>
          </p:txBody>
        </p:sp>
      </p:grpSp>
      <p:grpSp>
        <p:nvGrpSpPr>
          <p:cNvPr id="11" name="Group 11"/>
          <p:cNvGrpSpPr/>
          <p:nvPr/>
        </p:nvGrpSpPr>
        <p:grpSpPr>
          <a:xfrm rot="0">
            <a:off x="7148225" y="3827372"/>
            <a:ext cx="1316128" cy="1316128"/>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E4F4"/>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60"/>
                </a:lnSpc>
              </a:pPr>
            </a:p>
          </p:txBody>
        </p:sp>
      </p:grpSp>
      <p:grpSp>
        <p:nvGrpSpPr>
          <p:cNvPr id="14" name="Group 14"/>
          <p:cNvGrpSpPr/>
          <p:nvPr/>
        </p:nvGrpSpPr>
        <p:grpSpPr>
          <a:xfrm rot="0">
            <a:off x="8949590" y="5613608"/>
            <a:ext cx="1316128" cy="1316128"/>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E4F4"/>
            </a:solidFill>
          </p:spPr>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60"/>
                </a:lnSpc>
              </a:pPr>
            </a:p>
          </p:txBody>
        </p:sp>
      </p:grpSp>
      <p:sp>
        <p:nvSpPr>
          <p:cNvPr id="17" name="Freeform 17"/>
          <p:cNvSpPr/>
          <p:nvPr/>
        </p:nvSpPr>
        <p:spPr>
          <a:xfrm>
            <a:off x="5864565" y="2484929"/>
            <a:ext cx="371490" cy="447170"/>
          </a:xfrm>
          <a:custGeom>
            <a:avLst/>
            <a:gdLst/>
            <a:ahLst/>
            <a:cxnLst/>
            <a:rect l="l" t="t" r="r" b="b"/>
            <a:pathLst>
              <a:path w="371490" h="447170">
                <a:moveTo>
                  <a:pt x="0" y="0"/>
                </a:moveTo>
                <a:lnTo>
                  <a:pt x="371489" y="0"/>
                </a:lnTo>
                <a:lnTo>
                  <a:pt x="371489" y="447169"/>
                </a:lnTo>
                <a:lnTo>
                  <a:pt x="0" y="44716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8" name="Freeform 18"/>
          <p:cNvSpPr/>
          <p:nvPr/>
        </p:nvSpPr>
        <p:spPr>
          <a:xfrm>
            <a:off x="7568590" y="4255948"/>
            <a:ext cx="475398" cy="458976"/>
          </a:xfrm>
          <a:custGeom>
            <a:avLst/>
            <a:gdLst/>
            <a:ahLst/>
            <a:cxnLst/>
            <a:rect l="l" t="t" r="r" b="b"/>
            <a:pathLst>
              <a:path w="475398" h="458976">
                <a:moveTo>
                  <a:pt x="0" y="0"/>
                </a:moveTo>
                <a:lnTo>
                  <a:pt x="475399" y="0"/>
                </a:lnTo>
                <a:lnTo>
                  <a:pt x="475399" y="458976"/>
                </a:lnTo>
                <a:lnTo>
                  <a:pt x="0" y="45897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9" name="Freeform 19"/>
          <p:cNvSpPr/>
          <p:nvPr/>
        </p:nvSpPr>
        <p:spPr>
          <a:xfrm>
            <a:off x="9367042" y="6033247"/>
            <a:ext cx="481225" cy="476850"/>
          </a:xfrm>
          <a:custGeom>
            <a:avLst/>
            <a:gdLst/>
            <a:ahLst/>
            <a:cxnLst/>
            <a:rect l="l" t="t" r="r" b="b"/>
            <a:pathLst>
              <a:path w="481225" h="476850">
                <a:moveTo>
                  <a:pt x="0" y="0"/>
                </a:moveTo>
                <a:lnTo>
                  <a:pt x="481224" y="0"/>
                </a:lnTo>
                <a:lnTo>
                  <a:pt x="481224" y="476850"/>
                </a:lnTo>
                <a:lnTo>
                  <a:pt x="0" y="4768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0" name="TextBox 20"/>
          <p:cNvSpPr txBox="1"/>
          <p:nvPr/>
        </p:nvSpPr>
        <p:spPr>
          <a:xfrm>
            <a:off x="7148225" y="2012349"/>
            <a:ext cx="4068790" cy="356235"/>
          </a:xfrm>
          <a:prstGeom prst="rect">
            <a:avLst/>
          </a:prstGeom>
        </p:spPr>
        <p:txBody>
          <a:bodyPr lIns="0" tIns="0" rIns="0" bIns="0" rtlCol="0" anchor="t">
            <a:spAutoFit/>
          </a:bodyPr>
          <a:lstStyle/>
          <a:p>
            <a:pPr algn="l">
              <a:lnSpc>
                <a:spcPts val="2940"/>
              </a:lnSpc>
            </a:pPr>
            <a:r>
              <a:rPr lang="en-US" sz="2100" b="1">
                <a:solidFill>
                  <a:srgbClr val="1B1B1B"/>
                </a:solidFill>
                <a:latin typeface="Montserrat Bold" panose="00000800000000000000"/>
                <a:ea typeface="Montserrat Bold" panose="00000800000000000000"/>
                <a:cs typeface="Montserrat Bold" panose="00000800000000000000"/>
                <a:sym typeface="Montserrat Bold" panose="00000800000000000000"/>
              </a:rPr>
              <a:t> Bronze – Raw Layer</a:t>
            </a:r>
            <a:endParaRPr lang="en-US" sz="2100" b="1">
              <a:solidFill>
                <a:srgbClr val="1B1B1B"/>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21" name="TextBox 21"/>
          <p:cNvSpPr txBox="1"/>
          <p:nvPr/>
        </p:nvSpPr>
        <p:spPr>
          <a:xfrm>
            <a:off x="7148225" y="2501962"/>
            <a:ext cx="7087084" cy="935355"/>
          </a:xfrm>
          <a:prstGeom prst="rect">
            <a:avLst/>
          </a:prstGeom>
        </p:spPr>
        <p:txBody>
          <a:bodyPr lIns="0" tIns="0" rIns="0" bIns="0" rtlCol="0" anchor="t">
            <a:spAutoFit/>
          </a:bodyPr>
          <a:lstStyle/>
          <a:p>
            <a:pPr algn="l">
              <a:lnSpc>
                <a:spcPts val="2520"/>
              </a:lnSpc>
            </a:pPr>
            <a:r>
              <a:rPr lang="en-US" sz="1800">
                <a:solidFill>
                  <a:srgbClr val="1B1B1B"/>
                </a:solidFill>
                <a:latin typeface="DM Sans"/>
                <a:ea typeface="DM Sans"/>
                <a:cs typeface="DM Sans"/>
                <a:sym typeface="DM Sans"/>
              </a:rPr>
              <a:t>Stores data exactly as received from source systems (batch or streaming) without modifications. Maintains full history for traceability and reprocessing.</a:t>
            </a:r>
            <a:endParaRPr lang="en-US" sz="1800">
              <a:solidFill>
                <a:srgbClr val="1B1B1B"/>
              </a:solidFill>
              <a:latin typeface="DM Sans"/>
              <a:ea typeface="DM Sans"/>
              <a:cs typeface="DM Sans"/>
              <a:sym typeface="DM Sans"/>
            </a:endParaRPr>
          </a:p>
        </p:txBody>
      </p:sp>
      <p:sp>
        <p:nvSpPr>
          <p:cNvPr id="22" name="TextBox 22"/>
          <p:cNvSpPr txBox="1"/>
          <p:nvPr/>
        </p:nvSpPr>
        <p:spPr>
          <a:xfrm>
            <a:off x="8949590" y="3911065"/>
            <a:ext cx="4477249" cy="356235"/>
          </a:xfrm>
          <a:prstGeom prst="rect">
            <a:avLst/>
          </a:prstGeom>
        </p:spPr>
        <p:txBody>
          <a:bodyPr lIns="0" tIns="0" rIns="0" bIns="0" rtlCol="0" anchor="t">
            <a:spAutoFit/>
          </a:bodyPr>
          <a:lstStyle/>
          <a:p>
            <a:pPr algn="l">
              <a:lnSpc>
                <a:spcPts val="2940"/>
              </a:lnSpc>
            </a:pPr>
            <a:r>
              <a:rPr lang="en-US" sz="2100" b="1">
                <a:solidFill>
                  <a:srgbClr val="1B1B1B"/>
                </a:solidFill>
                <a:latin typeface="Montserrat Bold" panose="00000800000000000000"/>
                <a:ea typeface="Montserrat Bold" panose="00000800000000000000"/>
                <a:cs typeface="Montserrat Bold" panose="00000800000000000000"/>
                <a:sym typeface="Montserrat Bold" panose="00000800000000000000"/>
              </a:rPr>
              <a:t>Silver – Refined Layer</a:t>
            </a:r>
            <a:endParaRPr lang="en-US" sz="2100" b="1">
              <a:solidFill>
                <a:srgbClr val="1B1B1B"/>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23" name="TextBox 23"/>
          <p:cNvSpPr txBox="1"/>
          <p:nvPr/>
        </p:nvSpPr>
        <p:spPr>
          <a:xfrm>
            <a:off x="8949590" y="4400677"/>
            <a:ext cx="7087084" cy="935355"/>
          </a:xfrm>
          <a:prstGeom prst="rect">
            <a:avLst/>
          </a:prstGeom>
        </p:spPr>
        <p:txBody>
          <a:bodyPr lIns="0" tIns="0" rIns="0" bIns="0" rtlCol="0" anchor="t">
            <a:spAutoFit/>
          </a:bodyPr>
          <a:lstStyle/>
          <a:p>
            <a:pPr algn="l">
              <a:lnSpc>
                <a:spcPts val="2520"/>
              </a:lnSpc>
            </a:pPr>
            <a:r>
              <a:rPr lang="en-US" sz="1800">
                <a:solidFill>
                  <a:srgbClr val="1B1B1B"/>
                </a:solidFill>
                <a:latin typeface="DM Sans"/>
                <a:ea typeface="DM Sans"/>
                <a:cs typeface="DM Sans"/>
                <a:sym typeface="DM Sans"/>
              </a:rPr>
              <a:t>Cleans and standardizes data through deduplication, validation, and schema enforcement. Applies core business rules to improve reliability.</a:t>
            </a:r>
            <a:endParaRPr lang="en-US" sz="1800">
              <a:solidFill>
                <a:srgbClr val="1B1B1B"/>
              </a:solidFill>
              <a:latin typeface="DM Sans"/>
              <a:ea typeface="DM Sans"/>
              <a:cs typeface="DM Sans"/>
              <a:sym typeface="DM Sans"/>
            </a:endParaRPr>
          </a:p>
        </p:txBody>
      </p:sp>
      <p:sp>
        <p:nvSpPr>
          <p:cNvPr id="24" name="TextBox 24"/>
          <p:cNvSpPr txBox="1"/>
          <p:nvPr/>
        </p:nvSpPr>
        <p:spPr>
          <a:xfrm>
            <a:off x="10691767" y="5697301"/>
            <a:ext cx="4568017" cy="356235"/>
          </a:xfrm>
          <a:prstGeom prst="rect">
            <a:avLst/>
          </a:prstGeom>
        </p:spPr>
        <p:txBody>
          <a:bodyPr lIns="0" tIns="0" rIns="0" bIns="0" rtlCol="0" anchor="t">
            <a:spAutoFit/>
          </a:bodyPr>
          <a:lstStyle/>
          <a:p>
            <a:pPr algn="l">
              <a:lnSpc>
                <a:spcPts val="2940"/>
              </a:lnSpc>
            </a:pPr>
            <a:r>
              <a:rPr lang="en-US" sz="2100" b="1">
                <a:solidFill>
                  <a:srgbClr val="1B1B1B"/>
                </a:solidFill>
                <a:latin typeface="Montserrat Bold" panose="00000800000000000000"/>
                <a:ea typeface="Montserrat Bold" panose="00000800000000000000"/>
                <a:cs typeface="Montserrat Bold" panose="00000800000000000000"/>
                <a:sym typeface="Montserrat Bold" panose="00000800000000000000"/>
              </a:rPr>
              <a:t>Gold – Business Layer</a:t>
            </a:r>
            <a:endParaRPr lang="en-US" sz="2100" b="1">
              <a:solidFill>
                <a:srgbClr val="1B1B1B"/>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25" name="TextBox 25"/>
          <p:cNvSpPr txBox="1"/>
          <p:nvPr/>
        </p:nvSpPr>
        <p:spPr>
          <a:xfrm>
            <a:off x="10691767" y="6186913"/>
            <a:ext cx="6567533" cy="935355"/>
          </a:xfrm>
          <a:prstGeom prst="rect">
            <a:avLst/>
          </a:prstGeom>
        </p:spPr>
        <p:txBody>
          <a:bodyPr lIns="0" tIns="0" rIns="0" bIns="0" rtlCol="0" anchor="t">
            <a:spAutoFit/>
          </a:bodyPr>
          <a:lstStyle/>
          <a:p>
            <a:pPr algn="l">
              <a:lnSpc>
                <a:spcPts val="2520"/>
              </a:lnSpc>
            </a:pPr>
            <a:r>
              <a:rPr lang="en-US" sz="1800">
                <a:solidFill>
                  <a:srgbClr val="1B1B1B"/>
                </a:solidFill>
                <a:latin typeface="DM Sans"/>
                <a:ea typeface="DM Sans"/>
                <a:cs typeface="DM Sans"/>
                <a:sym typeface="DM Sans"/>
              </a:rPr>
              <a:t>Provides aggregated, business-ready datasets optimized for reporting, dashboards, and analytics. Supports BI, ML, and KPI tracking.</a:t>
            </a:r>
            <a:endParaRPr lang="en-US" sz="1800">
              <a:solidFill>
                <a:srgbClr val="1B1B1B"/>
              </a:solidFill>
              <a:latin typeface="DM Sans"/>
              <a:ea typeface="DM Sans"/>
              <a:cs typeface="DM Sans"/>
              <a:sym typeface="DM Sans"/>
            </a:endParaRPr>
          </a:p>
        </p:txBody>
      </p:sp>
      <p:sp>
        <p:nvSpPr>
          <p:cNvPr id="26" name="Freeform 26"/>
          <p:cNvSpPr/>
          <p:nvPr/>
        </p:nvSpPr>
        <p:spPr>
          <a:xfrm>
            <a:off x="-948577" y="8132336"/>
            <a:ext cx="2750430" cy="2975806"/>
          </a:xfrm>
          <a:custGeom>
            <a:avLst/>
            <a:gdLst/>
            <a:ahLst/>
            <a:cxnLst/>
            <a:rect l="l" t="t" r="r" b="b"/>
            <a:pathLst>
              <a:path w="2750430" h="2975806">
                <a:moveTo>
                  <a:pt x="0" y="0"/>
                </a:moveTo>
                <a:lnTo>
                  <a:pt x="2750430" y="0"/>
                </a:lnTo>
                <a:lnTo>
                  <a:pt x="2750430" y="2975805"/>
                </a:lnTo>
                <a:lnTo>
                  <a:pt x="0" y="2975805"/>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7" name="Freeform 27"/>
          <p:cNvSpPr/>
          <p:nvPr/>
        </p:nvSpPr>
        <p:spPr>
          <a:xfrm>
            <a:off x="16891642" y="-363110"/>
            <a:ext cx="2317321" cy="2237269"/>
          </a:xfrm>
          <a:custGeom>
            <a:avLst/>
            <a:gdLst/>
            <a:ahLst/>
            <a:cxnLst/>
            <a:rect l="l" t="t" r="r" b="b"/>
            <a:pathLst>
              <a:path w="2317321" h="2237269">
                <a:moveTo>
                  <a:pt x="0" y="0"/>
                </a:moveTo>
                <a:lnTo>
                  <a:pt x="2317322" y="0"/>
                </a:lnTo>
                <a:lnTo>
                  <a:pt x="2317322" y="2237268"/>
                </a:lnTo>
                <a:lnTo>
                  <a:pt x="0" y="2237268"/>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28" name="TextBox 28"/>
          <p:cNvSpPr txBox="1"/>
          <p:nvPr/>
        </p:nvSpPr>
        <p:spPr>
          <a:xfrm>
            <a:off x="861102" y="432626"/>
            <a:ext cx="17011879" cy="978548"/>
          </a:xfrm>
          <a:prstGeom prst="rect">
            <a:avLst/>
          </a:prstGeom>
        </p:spPr>
        <p:txBody>
          <a:bodyPr lIns="0" tIns="0" rIns="0" bIns="0" rtlCol="0" anchor="t">
            <a:spAutoFit/>
          </a:bodyPr>
          <a:lstStyle/>
          <a:p>
            <a:pPr marL="0" lvl="0" indent="0" algn="l">
              <a:lnSpc>
                <a:spcPts val="7400"/>
              </a:lnSpc>
            </a:pPr>
            <a:r>
              <a:rPr lang="en-US" sz="7400" spc="-148">
                <a:solidFill>
                  <a:srgbClr val="0A47A1"/>
                </a:solidFill>
                <a:latin typeface="Noto Serif Display ExtraCondensed Light" panose="02020406080505020204"/>
                <a:ea typeface="Noto Serif Display ExtraCondensed Light" panose="02020406080505020204"/>
                <a:cs typeface="Noto Serif Display ExtraCondensed Light" panose="02020406080505020204"/>
                <a:sym typeface="Noto Serif Display ExtraCondensed Light" panose="02020406080505020204"/>
              </a:rPr>
              <a:t>Step 2: Layered Transformation (SDP + Delta Lake)</a:t>
            </a:r>
            <a:endParaRPr lang="en-US" sz="7400" spc="-148">
              <a:solidFill>
                <a:srgbClr val="0A47A1"/>
              </a:solidFill>
              <a:latin typeface="Noto Serif Display ExtraCondensed Light" panose="02020406080505020204"/>
              <a:ea typeface="Noto Serif Display ExtraCondensed Light" panose="02020406080505020204"/>
              <a:cs typeface="Noto Serif Display ExtraCondensed Light" panose="02020406080505020204"/>
              <a:sym typeface="Noto Serif Display ExtraCondensed Light" panose="02020406080505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666750"/>
            <a:ext cx="18288000" cy="0"/>
          </a:xfrm>
          <a:prstGeom prst="line">
            <a:avLst/>
          </a:prstGeom>
          <a:ln w="19050" cap="flat">
            <a:solidFill>
              <a:srgbClr val="0A47A1"/>
            </a:solidFill>
            <a:prstDash val="solid"/>
            <a:headEnd type="none" w="sm" len="sm"/>
            <a:tailEnd type="none" w="sm" len="sm"/>
          </a:ln>
        </p:spPr>
      </p:sp>
      <p:sp>
        <p:nvSpPr>
          <p:cNvPr id="3" name="AutoShape 3"/>
          <p:cNvSpPr/>
          <p:nvPr/>
        </p:nvSpPr>
        <p:spPr>
          <a:xfrm>
            <a:off x="0" y="9620250"/>
            <a:ext cx="18288000" cy="0"/>
          </a:xfrm>
          <a:prstGeom prst="line">
            <a:avLst/>
          </a:prstGeom>
          <a:ln w="19050" cap="flat">
            <a:solidFill>
              <a:srgbClr val="0A47A1"/>
            </a:solidFill>
            <a:prstDash val="solid"/>
            <a:headEnd type="none" w="sm" len="sm"/>
            <a:tailEnd type="none" w="sm" len="sm"/>
          </a:ln>
        </p:spPr>
      </p:sp>
      <p:sp>
        <p:nvSpPr>
          <p:cNvPr id="4" name="Freeform 4"/>
          <p:cNvSpPr/>
          <p:nvPr/>
        </p:nvSpPr>
        <p:spPr>
          <a:xfrm>
            <a:off x="8382000" y="3543300"/>
            <a:ext cx="9798050" cy="4327525"/>
          </a:xfrm>
          <a:custGeom>
            <a:avLst/>
            <a:gdLst/>
            <a:ahLst/>
            <a:cxnLst/>
            <a:rect l="l" t="t" r="r" b="b"/>
            <a:pathLst>
              <a:path w="8153604" h="2986257">
                <a:moveTo>
                  <a:pt x="0" y="0"/>
                </a:moveTo>
                <a:lnTo>
                  <a:pt x="8153604" y="0"/>
                </a:lnTo>
                <a:lnTo>
                  <a:pt x="8153604" y="2986258"/>
                </a:lnTo>
                <a:lnTo>
                  <a:pt x="0" y="2986258"/>
                </a:lnTo>
                <a:lnTo>
                  <a:pt x="0" y="0"/>
                </a:lnTo>
                <a:close/>
              </a:path>
            </a:pathLst>
          </a:custGeom>
          <a:blipFill>
            <a:blip r:embed="rId1"/>
            <a:stretch>
              <a:fillRect/>
            </a:stretch>
          </a:blipFill>
        </p:spPr>
      </p:sp>
      <p:sp>
        <p:nvSpPr>
          <p:cNvPr id="5" name="TextBox 5"/>
          <p:cNvSpPr txBox="1"/>
          <p:nvPr/>
        </p:nvSpPr>
        <p:spPr>
          <a:xfrm>
            <a:off x="533400" y="952487"/>
            <a:ext cx="17011879" cy="1282065"/>
          </a:xfrm>
          <a:prstGeom prst="rect">
            <a:avLst/>
          </a:prstGeom>
        </p:spPr>
        <p:txBody>
          <a:bodyPr lIns="0" tIns="0" rIns="0" bIns="0" rtlCol="0" anchor="t">
            <a:spAutoFit/>
          </a:bodyPr>
          <a:lstStyle/>
          <a:p>
            <a:pPr marL="0" lvl="0" indent="0" algn="l">
              <a:lnSpc>
                <a:spcPts val="9600"/>
              </a:lnSpc>
            </a:pPr>
            <a:r>
              <a:rPr lang="en-US" sz="9600" spc="-192">
                <a:solidFill>
                  <a:srgbClr val="0A47A1"/>
                </a:solidFill>
                <a:latin typeface="Noto Serif Display ExtraCondensed Light" panose="02020406080505020204"/>
                <a:ea typeface="Noto Serif Display ExtraCondensed Light" panose="02020406080505020204"/>
                <a:cs typeface="Noto Serif Display ExtraCondensed Light" panose="02020406080505020204"/>
                <a:sym typeface="Noto Serif Display ExtraCondensed Light" panose="02020406080505020204"/>
              </a:rPr>
              <a:t>Orchestration with Lakeflow Jobs</a:t>
            </a:r>
            <a:endParaRPr lang="en-US" sz="9600" spc="-192">
              <a:solidFill>
                <a:srgbClr val="0A47A1"/>
              </a:solidFill>
              <a:latin typeface="Noto Serif Display ExtraCondensed Light" panose="02020406080505020204"/>
              <a:ea typeface="Noto Serif Display ExtraCondensed Light" panose="02020406080505020204"/>
              <a:cs typeface="Noto Serif Display ExtraCondensed Light" panose="02020406080505020204"/>
              <a:sym typeface="Noto Serif Display ExtraCondensed Light" panose="02020406080505020204"/>
            </a:endParaRPr>
          </a:p>
        </p:txBody>
      </p:sp>
      <p:sp>
        <p:nvSpPr>
          <p:cNvPr id="6" name="TextBox 6"/>
          <p:cNvSpPr txBox="1"/>
          <p:nvPr/>
        </p:nvSpPr>
        <p:spPr>
          <a:xfrm>
            <a:off x="402590" y="2889250"/>
            <a:ext cx="7921625" cy="5917565"/>
          </a:xfrm>
          <a:prstGeom prst="rect">
            <a:avLst/>
          </a:prstGeom>
        </p:spPr>
        <p:txBody>
          <a:bodyPr wrap="square" lIns="0" tIns="0" rIns="0" bIns="0" rtlCol="0" anchor="t">
            <a:noAutofit/>
          </a:bodyPr>
          <a:lstStyle/>
          <a:p>
            <a:pPr algn="l">
              <a:lnSpc>
                <a:spcPts val="2005"/>
              </a:lnSpc>
              <a:spcBef>
                <a:spcPct val="0"/>
              </a:spcBef>
            </a:pPr>
            <a:r>
              <a:rPr lang="en-US" sz="2500" b="1"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rPr>
              <a:t>Unified Orchestration in Databricks</a:t>
            </a:r>
            <a:endParaRPr lang="en-US" sz="2500" b="1"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marL="433070" lvl="1" indent="-216535" algn="l">
              <a:lnSpc>
                <a:spcPts val="2005"/>
              </a:lnSpc>
              <a:spcBef>
                <a:spcPct val="0"/>
              </a:spcBef>
              <a:buFont typeface="Arial" panose="020B0604020202020204"/>
              <a:buChar char="•"/>
            </a:pPr>
            <a:r>
              <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rPr>
              <a:t>No infrastructure or operational management required</a:t>
            </a:r>
            <a:endPar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marL="433070" lvl="1" indent="-216535" algn="l">
              <a:lnSpc>
                <a:spcPts val="2005"/>
              </a:lnSpc>
              <a:spcBef>
                <a:spcPct val="0"/>
              </a:spcBef>
              <a:buFont typeface="Arial" panose="020B0604020202020204"/>
              <a:buChar char="•"/>
            </a:pPr>
            <a:r>
              <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rPr>
              <a:t>Designed for:</a:t>
            </a:r>
            <a:endPar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marL="866775" lvl="2" indent="-288925" algn="l">
              <a:lnSpc>
                <a:spcPts val="2005"/>
              </a:lnSpc>
              <a:spcBef>
                <a:spcPct val="0"/>
              </a:spcBef>
              <a:buFont typeface="Arial" panose="020B0604020202020204"/>
              <a:buChar char="⚬"/>
            </a:pPr>
            <a:r>
              <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rPr>
              <a:t>Data engineers</a:t>
            </a:r>
            <a:endPar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marL="866775" lvl="2" indent="-288925" algn="l">
              <a:lnSpc>
                <a:spcPts val="2005"/>
              </a:lnSpc>
              <a:spcBef>
                <a:spcPct val="0"/>
              </a:spcBef>
              <a:buFont typeface="Arial" panose="020B0604020202020204"/>
              <a:buChar char="⚬"/>
            </a:pPr>
            <a:r>
              <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rPr>
              <a:t>Data scientists</a:t>
            </a:r>
            <a:endPar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marL="866775" lvl="2" indent="-288925" algn="l">
              <a:lnSpc>
                <a:spcPts val="2005"/>
              </a:lnSpc>
              <a:spcBef>
                <a:spcPct val="0"/>
              </a:spcBef>
              <a:buFont typeface="Arial" panose="020B0604020202020204"/>
              <a:buChar char="⚬"/>
            </a:pPr>
            <a:r>
              <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rPr>
              <a:t>Analysts</a:t>
            </a:r>
            <a:endPar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marL="577850" lvl="2" indent="0" algn="l">
              <a:lnSpc>
                <a:spcPts val="2005"/>
              </a:lnSpc>
              <a:spcBef>
                <a:spcPct val="0"/>
              </a:spcBef>
              <a:buFont typeface="Arial" panose="020B0604020202020204"/>
              <a:buNone/>
            </a:pPr>
            <a:endPar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marL="216535" lvl="1" indent="0" algn="l">
              <a:lnSpc>
                <a:spcPts val="2005"/>
              </a:lnSpc>
              <a:spcBef>
                <a:spcPct val="0"/>
              </a:spcBef>
              <a:buFont typeface="Arial" panose="020B0604020202020204"/>
              <a:buNone/>
            </a:pPr>
            <a:r>
              <a:rPr lang="en-US" sz="2500" b="1"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rPr>
              <a:t>Supports multiple task types:</a:t>
            </a:r>
            <a:endParaRPr lang="en-US" sz="2500" b="1"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marL="866775" lvl="2" indent="-288925" algn="l">
              <a:lnSpc>
                <a:spcPts val="2005"/>
              </a:lnSpc>
              <a:spcBef>
                <a:spcPct val="0"/>
              </a:spcBef>
              <a:buFont typeface="Arial" panose="020B0604020202020204"/>
              <a:buChar char="⚬"/>
            </a:pPr>
            <a:r>
              <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rPr>
              <a:t>Notebooks</a:t>
            </a:r>
            <a:endPar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marL="866775" lvl="2" indent="-288925" algn="l">
              <a:lnSpc>
                <a:spcPts val="2005"/>
              </a:lnSpc>
              <a:spcBef>
                <a:spcPct val="0"/>
              </a:spcBef>
              <a:buFont typeface="Arial" panose="020B0604020202020204"/>
              <a:buChar char="⚬"/>
            </a:pPr>
            <a:r>
              <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rPr>
              <a:t>SQL Jobs</a:t>
            </a:r>
            <a:endPar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marL="866775" lvl="2" indent="-288925" algn="l">
              <a:lnSpc>
                <a:spcPts val="2005"/>
              </a:lnSpc>
              <a:spcBef>
                <a:spcPct val="0"/>
              </a:spcBef>
              <a:buFont typeface="Arial" panose="020B0604020202020204"/>
              <a:buChar char="⚬"/>
            </a:pPr>
            <a:r>
              <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rPr>
              <a:t>ML models</a:t>
            </a:r>
            <a:endPar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marL="866775" lvl="2" indent="-288925" algn="l">
              <a:lnSpc>
                <a:spcPts val="2005"/>
              </a:lnSpc>
              <a:spcBef>
                <a:spcPct val="0"/>
              </a:spcBef>
              <a:buFont typeface="Arial" panose="020B0604020202020204"/>
              <a:buChar char="⚬"/>
            </a:pPr>
            <a:r>
              <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rPr>
              <a:t>Python code</a:t>
            </a:r>
            <a:endPar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marL="866775" lvl="2" indent="-288925" algn="l">
              <a:lnSpc>
                <a:spcPts val="2005"/>
              </a:lnSpc>
              <a:spcBef>
                <a:spcPct val="0"/>
              </a:spcBef>
              <a:buFont typeface="Arial" panose="020B0604020202020204"/>
              <a:buChar char="⚬"/>
            </a:pPr>
            <a:r>
              <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rPr>
              <a:t>Spark Declarative Pipelines</a:t>
            </a:r>
            <a:endPar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marL="216535" lvl="1" indent="0" algn="l">
              <a:lnSpc>
                <a:spcPts val="2005"/>
              </a:lnSpc>
              <a:spcBef>
                <a:spcPct val="0"/>
              </a:spcBef>
              <a:buFont typeface="Arial" panose="020B0604020202020204"/>
              <a:buNone/>
            </a:pPr>
            <a:endPar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marL="216535" lvl="1" indent="0" algn="l">
              <a:lnSpc>
                <a:spcPts val="2005"/>
              </a:lnSpc>
              <a:spcBef>
                <a:spcPct val="0"/>
              </a:spcBef>
              <a:buFont typeface="Arial" panose="020B0604020202020204"/>
              <a:buNone/>
            </a:pPr>
            <a:r>
              <a:rPr lang="en-US" sz="2500" b="1"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rPr>
              <a:t>Enables teams to:</a:t>
            </a:r>
            <a:endParaRPr lang="en-US" sz="2500" b="1"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marL="866775" lvl="2" indent="-288925" algn="l">
              <a:lnSpc>
                <a:spcPts val="2005"/>
              </a:lnSpc>
              <a:spcBef>
                <a:spcPct val="0"/>
              </a:spcBef>
              <a:buFont typeface="Arial" panose="020B0604020202020204"/>
              <a:buChar char="⚬"/>
            </a:pPr>
            <a:r>
              <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rPr>
              <a:t>Create jobs</a:t>
            </a:r>
            <a:endPar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marL="866775" lvl="2" indent="-288925" algn="l">
              <a:lnSpc>
                <a:spcPts val="2005"/>
              </a:lnSpc>
              <a:spcBef>
                <a:spcPct val="0"/>
              </a:spcBef>
              <a:buFont typeface="Arial" panose="020B0604020202020204"/>
              <a:buChar char="⚬"/>
            </a:pPr>
            <a:r>
              <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rPr>
              <a:t>Run workflows</a:t>
            </a:r>
            <a:endPar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marL="866775" lvl="2" indent="-288925" algn="l">
              <a:lnSpc>
                <a:spcPts val="2005"/>
              </a:lnSpc>
              <a:spcBef>
                <a:spcPct val="0"/>
              </a:spcBef>
              <a:buFont typeface="Arial" panose="020B0604020202020204"/>
              <a:buChar char="⚬"/>
            </a:pPr>
            <a:r>
              <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rPr>
              <a:t>Monitor execution</a:t>
            </a:r>
            <a:endPar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marL="866775" lvl="2" indent="-288925" algn="l">
              <a:lnSpc>
                <a:spcPts val="2005"/>
              </a:lnSpc>
              <a:spcBef>
                <a:spcPct val="0"/>
              </a:spcBef>
              <a:buFont typeface="Arial" panose="020B0604020202020204"/>
              <a:buChar char="⚬"/>
            </a:pPr>
            <a:r>
              <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rPr>
              <a:t>Repair failed pipelines</a:t>
            </a:r>
            <a:endPar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marL="577850" lvl="2" indent="0" algn="l">
              <a:lnSpc>
                <a:spcPts val="2005"/>
              </a:lnSpc>
              <a:spcBef>
                <a:spcPct val="0"/>
              </a:spcBef>
              <a:buFont typeface="Arial" panose="020B0604020202020204"/>
              <a:buNone/>
            </a:pPr>
            <a:endPar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marL="433070" lvl="1" indent="-216535" algn="l">
              <a:lnSpc>
                <a:spcPts val="2005"/>
              </a:lnSpc>
              <a:spcBef>
                <a:spcPct val="0"/>
              </a:spcBef>
              <a:buFont typeface="Arial" panose="020B0604020202020204"/>
              <a:buChar char="•"/>
            </a:pPr>
            <a:r>
              <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rPr>
              <a:t>Works across any cloud</a:t>
            </a:r>
            <a:endParaRPr lang="en-US" sz="2500" spc="-40">
              <a:solidFill>
                <a:srgbClr val="000000"/>
              </a:solidFill>
              <a:latin typeface="Times New Roman" panose="02020603050405020304" charset="0"/>
              <a:ea typeface="Noto Serif Display ExtraCondensed Light" panose="02020406080505020204"/>
              <a:cs typeface="Times New Roman" panose="02020603050405020304" charset="0"/>
              <a:sym typeface="Noto Serif Display ExtraCondensed Light" panose="02020406080505020204"/>
            </a:endParaRPr>
          </a:p>
          <a:p>
            <a:pPr algn="l">
              <a:lnSpc>
                <a:spcPts val="2005"/>
              </a:lnSpc>
              <a:spcBef>
                <a:spcPct val="0"/>
              </a:spcBef>
            </a:pPr>
            <a:endParaRPr sz="2500">
              <a:latin typeface="Times New Roman" panose="02020603050405020304" charset="0"/>
              <a:cs typeface="Times New Roman" panose="02020603050405020304" charset="0"/>
            </a:endParaRPr>
          </a:p>
        </p:txBody>
      </p:sp>
      <p:sp>
        <p:nvSpPr>
          <p:cNvPr id="7" name="Text Box 6"/>
          <p:cNvSpPr txBox="1"/>
          <p:nvPr/>
        </p:nvSpPr>
        <p:spPr>
          <a:xfrm>
            <a:off x="8382000" y="8191500"/>
            <a:ext cx="9511030" cy="1076325"/>
          </a:xfrm>
          <a:prstGeom prst="rect">
            <a:avLst/>
          </a:prstGeom>
        </p:spPr>
        <p:txBody>
          <a:bodyPr wrap="square">
            <a:spAutoFit/>
          </a:bodyPr>
          <a:p>
            <a:pPr marL="0" indent="0"/>
            <a:r>
              <a:rPr sz="1600" b="0" i="0">
                <a:solidFill>
                  <a:schemeClr val="tx1"/>
                </a:solidFill>
                <a:latin typeface="Times New Roman" panose="02020603050405020304" charset="0"/>
                <a:ea typeface="-apple-system"/>
                <a:cs typeface="Times New Roman" panose="02020603050405020304" charset="0"/>
              </a:rPr>
              <a:t>Fully-managed cloud-based general-purpose task orchestration service for the entire platform. For data engineers, data scientists and analysts to build reliable data, analytics and AI Lakeflow Jobs using Notebooks, Jobs for SQL, ML models and more. Easy to use point-and-click interface. Lakeflow Spark Declarative Pipelines can be a task in a Lakeflow Job.</a:t>
            </a:r>
            <a:endParaRPr sz="1600" b="0" i="0">
              <a:solidFill>
                <a:schemeClr val="tx1"/>
              </a:solidFill>
              <a:latin typeface="Times New Roman" panose="02020603050405020304" charset="0"/>
              <a:ea typeface="-apple-system"/>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01077" y="2664286"/>
            <a:ext cx="14861191" cy="6520348"/>
          </a:xfrm>
          <a:custGeom>
            <a:avLst/>
            <a:gdLst/>
            <a:ahLst/>
            <a:cxnLst/>
            <a:rect l="l" t="t" r="r" b="b"/>
            <a:pathLst>
              <a:path w="14861191" h="6520348">
                <a:moveTo>
                  <a:pt x="0" y="0"/>
                </a:moveTo>
                <a:lnTo>
                  <a:pt x="14861191" y="0"/>
                </a:lnTo>
                <a:lnTo>
                  <a:pt x="14861191" y="6520348"/>
                </a:lnTo>
                <a:lnTo>
                  <a:pt x="0" y="6520348"/>
                </a:lnTo>
                <a:lnTo>
                  <a:pt x="0" y="0"/>
                </a:lnTo>
                <a:close/>
              </a:path>
            </a:pathLst>
          </a:custGeom>
          <a:blipFill>
            <a:blip r:embed="rId1"/>
            <a:stretch>
              <a:fillRect/>
            </a:stretch>
          </a:blipFill>
        </p:spPr>
      </p:sp>
      <p:sp>
        <p:nvSpPr>
          <p:cNvPr id="3" name="TextBox 3"/>
          <p:cNvSpPr txBox="1"/>
          <p:nvPr/>
        </p:nvSpPr>
        <p:spPr>
          <a:xfrm>
            <a:off x="1028700" y="902141"/>
            <a:ext cx="17011879" cy="2501265"/>
          </a:xfrm>
          <a:prstGeom prst="rect">
            <a:avLst/>
          </a:prstGeom>
        </p:spPr>
        <p:txBody>
          <a:bodyPr lIns="0" tIns="0" rIns="0" bIns="0" rtlCol="0" anchor="t">
            <a:spAutoFit/>
          </a:bodyPr>
          <a:lstStyle/>
          <a:p>
            <a:pPr algn="l">
              <a:lnSpc>
                <a:spcPts val="9600"/>
              </a:lnSpc>
            </a:pPr>
            <a:r>
              <a:rPr lang="en-US" sz="9600" spc="-192">
                <a:solidFill>
                  <a:srgbClr val="0A47A1"/>
                </a:solidFill>
                <a:latin typeface="Noto Serif Display ExtraCondensed Light" panose="02020406080505020204"/>
                <a:ea typeface="Noto Serif Display ExtraCondensed Light" panose="02020406080505020204"/>
                <a:cs typeface="Noto Serif Display ExtraCondensed Light" panose="02020406080505020204"/>
                <a:sym typeface="Noto Serif Display ExtraCondensed Light" panose="02020406080505020204"/>
              </a:rPr>
              <a:t>Building Blocks of a Lakeflow Job</a:t>
            </a:r>
            <a:endParaRPr lang="en-US" sz="9600" spc="-192">
              <a:solidFill>
                <a:srgbClr val="0A47A1"/>
              </a:solidFill>
              <a:latin typeface="Noto Serif Display ExtraCondensed Light" panose="02020406080505020204"/>
              <a:ea typeface="Noto Serif Display ExtraCondensed Light" panose="02020406080505020204"/>
              <a:cs typeface="Noto Serif Display ExtraCondensed Light" panose="02020406080505020204"/>
              <a:sym typeface="Noto Serif Display ExtraCondensed Light" panose="02020406080505020204"/>
            </a:endParaRPr>
          </a:p>
          <a:p>
            <a:pPr marL="0" lvl="0" indent="0" algn="l">
              <a:lnSpc>
                <a:spcPts val="9600"/>
              </a:lnSpc>
            </a:p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233842" y="3983355"/>
            <a:ext cx="5820317" cy="1282065"/>
          </a:xfrm>
          <a:prstGeom prst="rect">
            <a:avLst/>
          </a:prstGeom>
        </p:spPr>
        <p:txBody>
          <a:bodyPr lIns="0" tIns="0" rIns="0" bIns="0" rtlCol="0" anchor="t">
            <a:spAutoFit/>
          </a:bodyPr>
          <a:lstStyle/>
          <a:p>
            <a:pPr marL="0" lvl="0" indent="0" algn="l">
              <a:lnSpc>
                <a:spcPts val="9600"/>
              </a:lnSpc>
            </a:pPr>
            <a:r>
              <a:rPr lang="en-US" sz="9600" spc="-192">
                <a:solidFill>
                  <a:srgbClr val="0A47A1"/>
                </a:solidFill>
                <a:latin typeface="Noto Serif Display ExtraCondensed Light" panose="02020406080505020204"/>
                <a:ea typeface="Noto Serif Display ExtraCondensed Light" panose="02020406080505020204"/>
                <a:cs typeface="Noto Serif Display ExtraCondensed Light" panose="02020406080505020204"/>
                <a:sym typeface="Noto Serif Display ExtraCondensed Light" panose="02020406080505020204"/>
              </a:rPr>
              <a:t>THANK YOU </a:t>
            </a:r>
            <a:endParaRPr lang="en-US" sz="9600" spc="-192">
              <a:solidFill>
                <a:srgbClr val="0A47A1"/>
              </a:solidFill>
              <a:latin typeface="Noto Serif Display ExtraCondensed Light" panose="02020406080505020204"/>
              <a:ea typeface="Noto Serif Display ExtraCondensed Light" panose="02020406080505020204"/>
              <a:cs typeface="Noto Serif Display ExtraCondensed Light" panose="02020406080505020204"/>
              <a:sym typeface="Noto Serif Display ExtraCondensed Light" panose="0202040608050502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2894</Words>
  <Application>WPS Presentation</Application>
  <PresentationFormat>On-screen Show (4:3)</PresentationFormat>
  <Paragraphs>132</Paragraphs>
  <Slides>9</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9</vt:i4>
      </vt:variant>
    </vt:vector>
  </HeadingPairs>
  <TitlesOfParts>
    <vt:vector size="25" baseType="lpstr">
      <vt:lpstr>Arial</vt:lpstr>
      <vt:lpstr>SimSun</vt:lpstr>
      <vt:lpstr>Wingdings</vt:lpstr>
      <vt:lpstr>HK Grotesk</vt:lpstr>
      <vt:lpstr>Noto Serif Display ExtraCondensed Light</vt:lpstr>
      <vt:lpstr>HK Grotesk Semi-Bold</vt:lpstr>
      <vt:lpstr>Montserrat Bold</vt:lpstr>
      <vt:lpstr>Arial</vt:lpstr>
      <vt:lpstr>DM Sans</vt:lpstr>
      <vt:lpstr>Microsoft YaHei</vt:lpstr>
      <vt:lpstr>Arial Unicode MS</vt:lpstr>
      <vt:lpstr>Calibri</vt:lpstr>
      <vt:lpstr>Times New Roman</vt:lpstr>
      <vt:lpstr>-apple-system</vt:lpstr>
      <vt:lpstr>Segoe Print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ETL with Lakeflow &amp; Delta Lake</dc:title>
  <dc:creator/>
  <cp:lastModifiedBy>05 Swapna</cp:lastModifiedBy>
  <cp:revision>4</cp:revision>
  <dcterms:created xsi:type="dcterms:W3CDTF">2006-08-16T00:00:00Z</dcterms:created>
  <dcterms:modified xsi:type="dcterms:W3CDTF">2026-02-20T09:40:02Z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168073F4F98043E9BB41AD717E3A06F8_13</vt:lpwstr>
  </property>
  <property fmtid="{D5CDD505-2E9C-101B-9397-08002B2CF9AE}" pid="3" name="KSOProductBuildVer">
    <vt:lpwstr>1033-12.2.0.23196</vt:lpwstr>
  </property>
</Properties>
</file>