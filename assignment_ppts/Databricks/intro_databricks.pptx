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media/image10.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0.svg" ContentType="image/svg+xml"/>
  <Override PartName="/ppt/media/image4.svg" ContentType="image/svg+xml"/>
  <Override PartName="/ppt/media/image6.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Lst>
  <p:sldSz cx="18288000" cy="10287000"/>
  <p:notesSz cx="6858000" cy="9144000"/>
  <p:embeddedFontLst>
    <p:embeddedFont>
      <p:font typeface="Calibri" panose="020F0502020204030204" charset="0"/>
      <p:regular r:id="rId15"/>
      <p:bold r:id="rId16"/>
      <p:italic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font" Target="fonts/font4.fntdata"/><Relationship Id="rId17" Type="http://schemas.openxmlformats.org/officeDocument/2006/relationships/font" Target="fonts/font3.fntdata"/><Relationship Id="rId16" Type="http://schemas.openxmlformats.org/officeDocument/2006/relationships/font" Target="fonts/font2.fntdata"/><Relationship Id="rId15" Type="http://schemas.openxmlformats.org/officeDocument/2006/relationships/font" Target="fonts/font1.fntdata"/><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1.png"/><Relationship Id="rId4" Type="http://schemas.openxmlformats.org/officeDocument/2006/relationships/image" Target="../media/image14.svg"/><Relationship Id="rId3" Type="http://schemas.openxmlformats.org/officeDocument/2006/relationships/image" Target="../media/image9.png"/><Relationship Id="rId2" Type="http://schemas.openxmlformats.org/officeDocument/2006/relationships/image" Target="../media/image13.sv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1.png"/><Relationship Id="rId4" Type="http://schemas.openxmlformats.org/officeDocument/2006/relationships/image" Target="../media/image17.svg"/><Relationship Id="rId3" Type="http://schemas.openxmlformats.org/officeDocument/2006/relationships/image" Target="../media/image9.png"/><Relationship Id="rId2" Type="http://schemas.openxmlformats.org/officeDocument/2006/relationships/image" Target="../media/image16.sv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11.png"/><Relationship Id="rId4" Type="http://schemas.openxmlformats.org/officeDocument/2006/relationships/image" Target="../media/image20.svg"/><Relationship Id="rId3" Type="http://schemas.openxmlformats.org/officeDocument/2006/relationships/image" Target="../media/image9.png"/><Relationship Id="rId2" Type="http://schemas.openxmlformats.org/officeDocument/2006/relationships/image" Target="../media/image19.sv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11.png"/><Relationship Id="rId4" Type="http://schemas.openxmlformats.org/officeDocument/2006/relationships/image" Target="../media/image23.svg"/><Relationship Id="rId3" Type="http://schemas.openxmlformats.org/officeDocument/2006/relationships/image" Target="../media/image9.png"/><Relationship Id="rId2" Type="http://schemas.openxmlformats.org/officeDocument/2006/relationships/image" Target="../media/image22.sv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11.png"/><Relationship Id="rId4" Type="http://schemas.openxmlformats.org/officeDocument/2006/relationships/image" Target="../media/image26.svg"/><Relationship Id="rId3" Type="http://schemas.openxmlformats.org/officeDocument/2006/relationships/image" Target="../media/image9.png"/><Relationship Id="rId2" Type="http://schemas.openxmlformats.org/officeDocument/2006/relationships/image" Target="../media/image25.sv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30.svg"/><Relationship Id="rId5" Type="http://schemas.openxmlformats.org/officeDocument/2006/relationships/image" Target="../media/image11.png"/><Relationship Id="rId4" Type="http://schemas.openxmlformats.org/officeDocument/2006/relationships/image" Target="../media/image29.svg"/><Relationship Id="rId3" Type="http://schemas.openxmlformats.org/officeDocument/2006/relationships/image" Target="../media/image9.png"/><Relationship Id="rId2" Type="http://schemas.openxmlformats.org/officeDocument/2006/relationships/image" Target="../media/image28.svg"/><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1ECE1"/>
        </a:solidFill>
        <a:effectLst/>
      </p:bgPr>
    </p:bg>
    <p:spTree>
      <p:nvGrpSpPr>
        <p:cNvPr id="1" name=""/>
        <p:cNvGrpSpPr/>
        <p:nvPr/>
      </p:nvGrpSpPr>
      <p:grpSpPr>
        <a:xfrm>
          <a:off x="0" y="0"/>
          <a:ext cx="0" cy="0"/>
          <a:chOff x="0" y="0"/>
          <a:chExt cx="0" cy="0"/>
        </a:xfrm>
      </p:grpSpPr>
      <p:sp>
        <p:nvSpPr>
          <p:cNvPr id="2" name="Freeform 2" descr="green blob"/>
          <p:cNvSpPr/>
          <p:nvPr/>
        </p:nvSpPr>
        <p:spPr>
          <a:xfrm>
            <a:off x="-2284790" y="-3746425"/>
            <a:ext cx="8857785" cy="8525618"/>
          </a:xfrm>
          <a:custGeom>
            <a:avLst/>
            <a:gdLst/>
            <a:ahLst/>
            <a:cxnLst/>
            <a:rect l="l" t="t" r="r" b="b"/>
            <a:pathLst>
              <a:path w="8857785" h="8525618">
                <a:moveTo>
                  <a:pt x="0" y="0"/>
                </a:moveTo>
                <a:lnTo>
                  <a:pt x="8857785" y="0"/>
                </a:lnTo>
                <a:lnTo>
                  <a:pt x="8857785" y="8525618"/>
                </a:lnTo>
                <a:lnTo>
                  <a:pt x="0" y="8525618"/>
                </a:lnTo>
                <a:lnTo>
                  <a:pt x="0" y="0"/>
                </a:lnTo>
                <a:close/>
              </a:path>
            </a:pathLst>
          </a:custGeom>
          <a:blipFill>
            <a:blip r:embed="rId1">
              <a:alphaModFix amt="21999"/>
              <a:extLst>
                <a:ext uri="{96DAC541-7B7A-43D3-8B79-37D633B846F1}">
                  <asvg:svgBlip xmlns:asvg="http://schemas.microsoft.com/office/drawing/2016/SVG/main" r:embed="rId2"/>
                </a:ext>
              </a:extLst>
            </a:blip>
            <a:stretch>
              <a:fillRect/>
            </a:stretch>
          </a:blipFill>
        </p:spPr>
      </p:sp>
      <p:sp>
        <p:nvSpPr>
          <p:cNvPr id="3" name="Freeform 3" descr="green organic shape"/>
          <p:cNvSpPr/>
          <p:nvPr/>
        </p:nvSpPr>
        <p:spPr>
          <a:xfrm rot="6653687">
            <a:off x="10166505" y="4129872"/>
            <a:ext cx="9957653" cy="8663158"/>
          </a:xfrm>
          <a:custGeom>
            <a:avLst/>
            <a:gdLst/>
            <a:ahLst/>
            <a:cxnLst/>
            <a:rect l="l" t="t" r="r" b="b"/>
            <a:pathLst>
              <a:path w="9957653" h="8663158">
                <a:moveTo>
                  <a:pt x="0" y="0"/>
                </a:moveTo>
                <a:lnTo>
                  <a:pt x="9957652" y="0"/>
                </a:lnTo>
                <a:lnTo>
                  <a:pt x="9957652" y="8663157"/>
                </a:lnTo>
                <a:lnTo>
                  <a:pt x="0" y="8663157"/>
                </a:lnTo>
                <a:lnTo>
                  <a:pt x="0" y="0"/>
                </a:lnTo>
                <a:close/>
              </a:path>
            </a:pathLst>
          </a:custGeom>
          <a:blipFill>
            <a:blip r:embed="rId3">
              <a:alphaModFix amt="21999"/>
              <a:extLst>
                <a:ext uri="{96DAC541-7B7A-43D3-8B79-37D633B846F1}">
                  <asvg:svgBlip xmlns:asvg="http://schemas.microsoft.com/office/drawing/2016/SVG/main" r:embed="rId4"/>
                </a:ext>
              </a:extLst>
            </a:blip>
            <a:stretch>
              <a:fillRect/>
            </a:stretch>
          </a:blipFill>
        </p:spPr>
      </p:sp>
      <p:sp>
        <p:nvSpPr>
          <p:cNvPr id="4" name="Freeform 4" descr="lined abstract shape"/>
          <p:cNvSpPr/>
          <p:nvPr/>
        </p:nvSpPr>
        <p:spPr>
          <a:xfrm rot="4726396">
            <a:off x="-2659134" y="-900023"/>
            <a:ext cx="5318268" cy="8429531"/>
          </a:xfrm>
          <a:custGeom>
            <a:avLst/>
            <a:gdLst/>
            <a:ahLst/>
            <a:cxnLst/>
            <a:rect l="l" t="t" r="r" b="b"/>
            <a:pathLst>
              <a:path w="5318268" h="8429531">
                <a:moveTo>
                  <a:pt x="0" y="0"/>
                </a:moveTo>
                <a:lnTo>
                  <a:pt x="5318268" y="0"/>
                </a:lnTo>
                <a:lnTo>
                  <a:pt x="5318268" y="8429531"/>
                </a:lnTo>
                <a:lnTo>
                  <a:pt x="0" y="8429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descr="lined abstract shape"/>
          <p:cNvSpPr/>
          <p:nvPr/>
        </p:nvSpPr>
        <p:spPr>
          <a:xfrm rot="2788089">
            <a:off x="16062525" y="2478011"/>
            <a:ext cx="6565563" cy="10406512"/>
          </a:xfrm>
          <a:custGeom>
            <a:avLst/>
            <a:gdLst/>
            <a:ahLst/>
            <a:cxnLst/>
            <a:rect l="l" t="t" r="r" b="b"/>
            <a:pathLst>
              <a:path w="6565563" h="10406512">
                <a:moveTo>
                  <a:pt x="0" y="0"/>
                </a:moveTo>
                <a:lnTo>
                  <a:pt x="6565563" y="0"/>
                </a:lnTo>
                <a:lnTo>
                  <a:pt x="6565563" y="10406512"/>
                </a:lnTo>
                <a:lnTo>
                  <a:pt x="0" y="1040651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 Box 5"/>
          <p:cNvSpPr txBox="1"/>
          <p:nvPr/>
        </p:nvSpPr>
        <p:spPr>
          <a:xfrm>
            <a:off x="4953000" y="4229100"/>
            <a:ext cx="11023600" cy="2216785"/>
          </a:xfrm>
          <a:prstGeom prst="rect">
            <a:avLst/>
          </a:prstGeom>
        </p:spPr>
        <p:txBody>
          <a:bodyPr>
            <a:noAutofit/>
          </a:bodyPr>
          <a:p>
            <a:r>
              <a:rPr sz="6500" b="1">
                <a:latin typeface="Times New Roman" panose="02020603050405020304" charset="0"/>
                <a:cs typeface="Times New Roman" panose="02020603050405020304" charset="0"/>
              </a:rPr>
              <a:t>Introduction to Databricks</a:t>
            </a:r>
            <a:endParaRPr sz="6500" b="1">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1ECE1"/>
        </a:solidFill>
        <a:effectLst/>
      </p:bgPr>
    </p:bg>
    <p:spTree>
      <p:nvGrpSpPr>
        <p:cNvPr id="1" name=""/>
        <p:cNvGrpSpPr/>
        <p:nvPr/>
      </p:nvGrpSpPr>
      <p:grpSpPr>
        <a:xfrm>
          <a:off x="0" y="0"/>
          <a:ext cx="0" cy="0"/>
          <a:chOff x="0" y="0"/>
          <a:chExt cx="0" cy="0"/>
        </a:xfrm>
      </p:grpSpPr>
      <p:sp>
        <p:nvSpPr>
          <p:cNvPr id="2" name="Freeform 2" descr="green blob"/>
          <p:cNvSpPr/>
          <p:nvPr/>
        </p:nvSpPr>
        <p:spPr>
          <a:xfrm>
            <a:off x="-2800261" y="-7153013"/>
            <a:ext cx="8857785" cy="8525618"/>
          </a:xfrm>
          <a:custGeom>
            <a:avLst/>
            <a:gdLst/>
            <a:ahLst/>
            <a:cxnLst/>
            <a:rect l="l" t="t" r="r" b="b"/>
            <a:pathLst>
              <a:path w="8857785" h="8525618">
                <a:moveTo>
                  <a:pt x="0" y="0"/>
                </a:moveTo>
                <a:lnTo>
                  <a:pt x="8857785" y="0"/>
                </a:lnTo>
                <a:lnTo>
                  <a:pt x="8857785" y="8525618"/>
                </a:lnTo>
                <a:lnTo>
                  <a:pt x="0" y="8525618"/>
                </a:lnTo>
                <a:lnTo>
                  <a:pt x="0" y="0"/>
                </a:lnTo>
                <a:close/>
              </a:path>
            </a:pathLst>
          </a:custGeom>
          <a:blipFill>
            <a:blip r:embed="rId1">
              <a:alphaModFix amt="21999"/>
              <a:extLst>
                <a:ext uri="{96DAC541-7B7A-43D3-8B79-37D633B846F1}">
                  <asvg:svgBlip xmlns:asvg="http://schemas.microsoft.com/office/drawing/2016/SVG/main" r:embed="rId2"/>
                </a:ext>
              </a:extLst>
            </a:blip>
            <a:stretch>
              <a:fillRect/>
            </a:stretch>
          </a:blipFill>
        </p:spPr>
      </p:sp>
      <p:sp>
        <p:nvSpPr>
          <p:cNvPr id="3" name="Freeform 3" descr="green organic shape"/>
          <p:cNvSpPr/>
          <p:nvPr/>
        </p:nvSpPr>
        <p:spPr>
          <a:xfrm rot="5767197">
            <a:off x="12106146" y="4725191"/>
            <a:ext cx="9957653" cy="8663158"/>
          </a:xfrm>
          <a:custGeom>
            <a:avLst/>
            <a:gdLst/>
            <a:ahLst/>
            <a:cxnLst/>
            <a:rect l="l" t="t" r="r" b="b"/>
            <a:pathLst>
              <a:path w="9957653" h="8663158">
                <a:moveTo>
                  <a:pt x="0" y="0"/>
                </a:moveTo>
                <a:lnTo>
                  <a:pt x="9957653" y="0"/>
                </a:lnTo>
                <a:lnTo>
                  <a:pt x="9957653" y="8663158"/>
                </a:lnTo>
                <a:lnTo>
                  <a:pt x="0" y="8663158"/>
                </a:lnTo>
                <a:lnTo>
                  <a:pt x="0" y="0"/>
                </a:lnTo>
                <a:close/>
              </a:path>
            </a:pathLst>
          </a:custGeom>
          <a:blipFill>
            <a:blip r:embed="rId3">
              <a:alphaModFix amt="21999"/>
              <a:extLst>
                <a:ext uri="{96DAC541-7B7A-43D3-8B79-37D633B846F1}">
                  <asvg:svgBlip xmlns:asvg="http://schemas.microsoft.com/office/drawing/2016/SVG/main" r:embed="rId4"/>
                </a:ext>
              </a:extLst>
            </a:blip>
            <a:stretch>
              <a:fillRect/>
            </a:stretch>
          </a:blipFill>
        </p:spPr>
      </p:sp>
      <p:sp>
        <p:nvSpPr>
          <p:cNvPr id="4" name="Freeform 4" descr="lined abstract shape"/>
          <p:cNvSpPr/>
          <p:nvPr/>
        </p:nvSpPr>
        <p:spPr>
          <a:xfrm rot="4726396">
            <a:off x="-3533193" y="-4912984"/>
            <a:ext cx="5318268" cy="8429531"/>
          </a:xfrm>
          <a:custGeom>
            <a:avLst/>
            <a:gdLst/>
            <a:ahLst/>
            <a:cxnLst/>
            <a:rect l="l" t="t" r="r" b="b"/>
            <a:pathLst>
              <a:path w="5318268" h="8429531">
                <a:moveTo>
                  <a:pt x="0" y="0"/>
                </a:moveTo>
                <a:lnTo>
                  <a:pt x="5318268" y="0"/>
                </a:lnTo>
                <a:lnTo>
                  <a:pt x="5318268" y="8429531"/>
                </a:lnTo>
                <a:lnTo>
                  <a:pt x="0" y="8429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descr="lined abstract shape"/>
          <p:cNvSpPr/>
          <p:nvPr/>
        </p:nvSpPr>
        <p:spPr>
          <a:xfrm rot="2788089">
            <a:off x="18639878" y="2702129"/>
            <a:ext cx="6565563" cy="10406512"/>
          </a:xfrm>
          <a:custGeom>
            <a:avLst/>
            <a:gdLst/>
            <a:ahLst/>
            <a:cxnLst/>
            <a:rect l="l" t="t" r="r" b="b"/>
            <a:pathLst>
              <a:path w="6565563" h="10406512">
                <a:moveTo>
                  <a:pt x="0" y="0"/>
                </a:moveTo>
                <a:lnTo>
                  <a:pt x="6565563" y="0"/>
                </a:lnTo>
                <a:lnTo>
                  <a:pt x="6565563" y="10406512"/>
                </a:lnTo>
                <a:lnTo>
                  <a:pt x="0" y="1040651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 Box 5"/>
          <p:cNvSpPr txBox="1"/>
          <p:nvPr/>
        </p:nvSpPr>
        <p:spPr>
          <a:xfrm>
            <a:off x="1042035" y="1510030"/>
            <a:ext cx="15442565" cy="8049895"/>
          </a:xfrm>
          <a:prstGeom prst="rect">
            <a:avLst/>
          </a:prstGeom>
        </p:spPr>
        <p:txBody>
          <a:bodyPr wrap="square">
            <a:noAutofit/>
          </a:bodyPr>
          <a:p>
            <a:pPr>
              <a:spcAft>
                <a:spcPct val="60000"/>
              </a:spcAft>
            </a:pPr>
            <a:r>
              <a:rPr sz="3000" b="1">
                <a:latin typeface="Times New Roman" panose="02020603050405020304" charset="0"/>
                <a:cs typeface="Times New Roman" panose="02020603050405020304" charset="0"/>
              </a:rPr>
              <a:t>Introduction</a:t>
            </a:r>
            <a:endParaRPr sz="3000" b="1">
              <a:latin typeface="Times New Roman" panose="02020603050405020304" charset="0"/>
              <a:cs typeface="Times New Roman" panose="02020603050405020304" charset="0"/>
            </a:endParaRPr>
          </a:p>
          <a:p>
            <a:pPr>
              <a:spcAft>
                <a:spcPct val="60000"/>
              </a:spcAft>
            </a:pPr>
            <a:r>
              <a:rPr sz="2800">
                <a:latin typeface="Times New Roman" panose="02020603050405020304" charset="0"/>
                <a:cs typeface="Times New Roman" panose="02020603050405020304" charset="0"/>
              </a:rPr>
              <a:t>In this learning module, I explored how data engineering forms the foundation of any modern data platform. A data engineer is responsible for designing, building, and maintaining systems that allow raw data to move reliably from source systems to analytics and machine learning use cases.</a:t>
            </a:r>
            <a:endParaRPr sz="2800">
              <a:latin typeface="Times New Roman" panose="02020603050405020304" charset="0"/>
              <a:cs typeface="Times New Roman" panose="02020603050405020304" charset="0"/>
            </a:endParaRPr>
          </a:p>
          <a:p>
            <a:r>
              <a:rPr sz="2800">
                <a:latin typeface="Times New Roman" panose="02020603050405020304" charset="0"/>
                <a:cs typeface="Times New Roman" panose="02020603050405020304" charset="0"/>
              </a:rPr>
              <a:t>What I understood is that data engineering is not just about writing ETL jobs. It involves creating a structured pipeline where data flows from ingestion to processing, storage, and finally to analytics. The reliability, scalability, and governance of this pipeline directly impact business decision-making.</a:t>
            </a:r>
            <a:endParaRPr sz="2800">
              <a:latin typeface="Times New Roman" panose="02020603050405020304" charset="0"/>
              <a:cs typeface="Times New Roman" panose="02020603050405020304" charset="0"/>
            </a:endParaRPr>
          </a:p>
          <a:p>
            <a:r>
              <a:rPr sz="2800">
                <a:latin typeface="Times New Roman" panose="02020603050405020304" charset="0"/>
                <a:cs typeface="Times New Roman" panose="02020603050405020304" charset="0"/>
              </a:rPr>
              <a:t>A strong data engineering foundation ensures that data is trustworthy, consistent, and accessible.</a:t>
            </a:r>
            <a:endParaRPr sz="28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1ECE1"/>
        </a:solidFill>
        <a:effectLst/>
      </p:bgPr>
    </p:bg>
    <p:spTree>
      <p:nvGrpSpPr>
        <p:cNvPr id="1" name=""/>
        <p:cNvGrpSpPr/>
        <p:nvPr/>
      </p:nvGrpSpPr>
      <p:grpSpPr>
        <a:xfrm>
          <a:off x="0" y="0"/>
          <a:ext cx="0" cy="0"/>
          <a:chOff x="0" y="0"/>
          <a:chExt cx="0" cy="0"/>
        </a:xfrm>
      </p:grpSpPr>
      <p:sp>
        <p:nvSpPr>
          <p:cNvPr id="2" name="Freeform 2" descr="green blob"/>
          <p:cNvSpPr/>
          <p:nvPr/>
        </p:nvSpPr>
        <p:spPr>
          <a:xfrm>
            <a:off x="-2800261" y="-7153013"/>
            <a:ext cx="8857785" cy="8525618"/>
          </a:xfrm>
          <a:custGeom>
            <a:avLst/>
            <a:gdLst/>
            <a:ahLst/>
            <a:cxnLst/>
            <a:rect l="l" t="t" r="r" b="b"/>
            <a:pathLst>
              <a:path w="8857785" h="8525618">
                <a:moveTo>
                  <a:pt x="0" y="0"/>
                </a:moveTo>
                <a:lnTo>
                  <a:pt x="8857785" y="0"/>
                </a:lnTo>
                <a:lnTo>
                  <a:pt x="8857785" y="8525618"/>
                </a:lnTo>
                <a:lnTo>
                  <a:pt x="0" y="8525618"/>
                </a:lnTo>
                <a:lnTo>
                  <a:pt x="0" y="0"/>
                </a:lnTo>
                <a:close/>
              </a:path>
            </a:pathLst>
          </a:custGeom>
          <a:blipFill>
            <a:blip r:embed="rId1">
              <a:alphaModFix amt="21999"/>
              <a:extLst>
                <a:ext uri="{96DAC541-7B7A-43D3-8B79-37D633B846F1}">
                  <asvg:svgBlip xmlns:asvg="http://schemas.microsoft.com/office/drawing/2016/SVG/main" r:embed="rId2"/>
                </a:ext>
              </a:extLst>
            </a:blip>
            <a:stretch>
              <a:fillRect/>
            </a:stretch>
          </a:blipFill>
        </p:spPr>
      </p:sp>
      <p:sp>
        <p:nvSpPr>
          <p:cNvPr id="3" name="Freeform 3" descr="green organic shape"/>
          <p:cNvSpPr/>
          <p:nvPr/>
        </p:nvSpPr>
        <p:spPr>
          <a:xfrm rot="5767197">
            <a:off x="12106146" y="4725191"/>
            <a:ext cx="9957653" cy="8663158"/>
          </a:xfrm>
          <a:custGeom>
            <a:avLst/>
            <a:gdLst/>
            <a:ahLst/>
            <a:cxnLst/>
            <a:rect l="l" t="t" r="r" b="b"/>
            <a:pathLst>
              <a:path w="9957653" h="8663158">
                <a:moveTo>
                  <a:pt x="0" y="0"/>
                </a:moveTo>
                <a:lnTo>
                  <a:pt x="9957653" y="0"/>
                </a:lnTo>
                <a:lnTo>
                  <a:pt x="9957653" y="8663158"/>
                </a:lnTo>
                <a:lnTo>
                  <a:pt x="0" y="8663158"/>
                </a:lnTo>
                <a:lnTo>
                  <a:pt x="0" y="0"/>
                </a:lnTo>
                <a:close/>
              </a:path>
            </a:pathLst>
          </a:custGeom>
          <a:blipFill>
            <a:blip r:embed="rId3">
              <a:alphaModFix amt="21999"/>
              <a:extLst>
                <a:ext uri="{96DAC541-7B7A-43D3-8B79-37D633B846F1}">
                  <asvg:svgBlip xmlns:asvg="http://schemas.microsoft.com/office/drawing/2016/SVG/main" r:embed="rId4"/>
                </a:ext>
              </a:extLst>
            </a:blip>
            <a:stretch>
              <a:fillRect/>
            </a:stretch>
          </a:blipFill>
        </p:spPr>
      </p:sp>
      <p:sp>
        <p:nvSpPr>
          <p:cNvPr id="4" name="Freeform 4" descr="lined abstract shape"/>
          <p:cNvSpPr/>
          <p:nvPr/>
        </p:nvSpPr>
        <p:spPr>
          <a:xfrm rot="4726396">
            <a:off x="-3533193" y="-4912984"/>
            <a:ext cx="5318268" cy="8429531"/>
          </a:xfrm>
          <a:custGeom>
            <a:avLst/>
            <a:gdLst/>
            <a:ahLst/>
            <a:cxnLst/>
            <a:rect l="l" t="t" r="r" b="b"/>
            <a:pathLst>
              <a:path w="5318268" h="8429531">
                <a:moveTo>
                  <a:pt x="0" y="0"/>
                </a:moveTo>
                <a:lnTo>
                  <a:pt x="5318268" y="0"/>
                </a:lnTo>
                <a:lnTo>
                  <a:pt x="5318268" y="8429531"/>
                </a:lnTo>
                <a:lnTo>
                  <a:pt x="0" y="8429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descr="lined abstract shape"/>
          <p:cNvSpPr/>
          <p:nvPr/>
        </p:nvSpPr>
        <p:spPr>
          <a:xfrm rot="2788089">
            <a:off x="18639878" y="2702129"/>
            <a:ext cx="6565563" cy="10406512"/>
          </a:xfrm>
          <a:custGeom>
            <a:avLst/>
            <a:gdLst/>
            <a:ahLst/>
            <a:cxnLst/>
            <a:rect l="l" t="t" r="r" b="b"/>
            <a:pathLst>
              <a:path w="6565563" h="10406512">
                <a:moveTo>
                  <a:pt x="0" y="0"/>
                </a:moveTo>
                <a:lnTo>
                  <a:pt x="6565563" y="0"/>
                </a:lnTo>
                <a:lnTo>
                  <a:pt x="6565563" y="10406512"/>
                </a:lnTo>
                <a:lnTo>
                  <a:pt x="0" y="1040651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 Box 5"/>
          <p:cNvSpPr txBox="1"/>
          <p:nvPr/>
        </p:nvSpPr>
        <p:spPr>
          <a:xfrm>
            <a:off x="661035" y="1525270"/>
            <a:ext cx="14933930" cy="7621905"/>
          </a:xfrm>
          <a:prstGeom prst="rect">
            <a:avLst/>
          </a:prstGeom>
        </p:spPr>
        <p:txBody>
          <a:bodyPr wrap="square">
            <a:noAutofit/>
          </a:bodyPr>
          <a:p>
            <a:pPr>
              <a:spcAft>
                <a:spcPct val="60000"/>
              </a:spcAft>
            </a:pPr>
            <a:r>
              <a:rPr sz="3000" b="1">
                <a:latin typeface="Times New Roman" panose="02020603050405020304" charset="0"/>
                <a:cs typeface="Times New Roman" panose="02020603050405020304" charset="0"/>
              </a:rPr>
              <a:t>Traditional Data Architecture – Challenges and Limitations</a:t>
            </a:r>
            <a:endParaRPr sz="3000" b="1">
              <a:latin typeface="Times New Roman" panose="02020603050405020304" charset="0"/>
              <a:cs typeface="Times New Roman" panose="02020603050405020304" charset="0"/>
            </a:endParaRPr>
          </a:p>
          <a:p>
            <a:r>
              <a:rPr sz="2800">
                <a:latin typeface="Times New Roman" panose="02020603050405020304" charset="0"/>
                <a:cs typeface="Times New Roman" panose="02020603050405020304" charset="0"/>
              </a:rPr>
              <a:t>Before unified platforms like Databricks, data engineering relied on multiple disconnected tools. Separate systems were used for ingestion, storage, processing, orchestration, and governance.</a:t>
            </a:r>
            <a:endParaRPr sz="2800">
              <a:latin typeface="Times New Roman" panose="02020603050405020304" charset="0"/>
              <a:cs typeface="Times New Roman" panose="02020603050405020304" charset="0"/>
            </a:endParaRPr>
          </a:p>
          <a:p>
            <a:r>
              <a:rPr sz="2800">
                <a:latin typeface="Times New Roman" panose="02020603050405020304" charset="0"/>
                <a:cs typeface="Times New Roman" panose="02020603050405020304" charset="0"/>
              </a:rPr>
              <a:t>From my understanding, this created several challenges:</a:t>
            </a:r>
            <a:endParaRPr sz="2800">
              <a:latin typeface="Times New Roman" panose="02020603050405020304" charset="0"/>
              <a:cs typeface="Times New Roman" panose="02020603050405020304" charset="0"/>
            </a:endParaRPr>
          </a:p>
          <a:p>
            <a:endParaRPr sz="2800">
              <a:latin typeface="Times New Roman" panose="02020603050405020304" charset="0"/>
              <a:cs typeface="Times New Roman" panose="02020603050405020304" charset="0"/>
            </a:endParaRPr>
          </a:p>
          <a:p>
            <a:pPr>
              <a:buFont typeface="Arial" panose="020B0604020202020204"/>
              <a:buChar char="•"/>
            </a:pPr>
            <a:r>
              <a:rPr sz="2800">
                <a:latin typeface="Times New Roman" panose="02020603050405020304" charset="0"/>
                <a:cs typeface="Times New Roman" panose="02020603050405020304" charset="0"/>
              </a:rPr>
              <a:t>Tool fragmentation increased complexity.</a:t>
            </a:r>
            <a:endParaRPr sz="2800">
              <a:latin typeface="Times New Roman" panose="02020603050405020304" charset="0"/>
              <a:cs typeface="Times New Roman" panose="02020603050405020304" charset="0"/>
            </a:endParaRPr>
          </a:p>
          <a:p>
            <a:pPr>
              <a:buFont typeface="Arial" panose="020B0604020202020204"/>
              <a:buChar char="•"/>
            </a:pPr>
            <a:endParaRPr sz="2800">
              <a:latin typeface="Times New Roman" panose="02020603050405020304" charset="0"/>
              <a:cs typeface="Times New Roman" panose="02020603050405020304" charset="0"/>
            </a:endParaRPr>
          </a:p>
          <a:p>
            <a:pPr>
              <a:buFont typeface="Arial" panose="020B0604020202020204"/>
              <a:buChar char="•"/>
            </a:pPr>
            <a:r>
              <a:rPr sz="2800">
                <a:latin typeface="Times New Roman" panose="02020603050405020304" charset="0"/>
                <a:cs typeface="Times New Roman" panose="02020603050405020304" charset="0"/>
              </a:rPr>
              <a:t>Data silos formed across teams.</a:t>
            </a:r>
            <a:endParaRPr sz="2800">
              <a:latin typeface="Times New Roman" panose="02020603050405020304" charset="0"/>
              <a:cs typeface="Times New Roman" panose="02020603050405020304" charset="0"/>
            </a:endParaRPr>
          </a:p>
          <a:p>
            <a:pPr>
              <a:buFont typeface="Arial" panose="020B0604020202020204"/>
              <a:buChar char="•"/>
            </a:pPr>
            <a:endParaRPr sz="2800">
              <a:latin typeface="Times New Roman" panose="02020603050405020304" charset="0"/>
              <a:cs typeface="Times New Roman" panose="02020603050405020304" charset="0"/>
            </a:endParaRPr>
          </a:p>
          <a:p>
            <a:pPr>
              <a:buFont typeface="Arial" panose="020B0604020202020204"/>
              <a:buChar char="•"/>
            </a:pPr>
            <a:r>
              <a:rPr sz="2800">
                <a:latin typeface="Times New Roman" panose="02020603050405020304" charset="0"/>
                <a:cs typeface="Times New Roman" panose="02020603050405020304" charset="0"/>
              </a:rPr>
              <a:t>Governance policies were inconsistent.</a:t>
            </a:r>
            <a:endParaRPr sz="2800">
              <a:latin typeface="Times New Roman" panose="02020603050405020304" charset="0"/>
              <a:cs typeface="Times New Roman" panose="02020603050405020304" charset="0"/>
            </a:endParaRPr>
          </a:p>
          <a:p>
            <a:pPr>
              <a:buFont typeface="Arial" panose="020B0604020202020204"/>
              <a:buChar char="•"/>
            </a:pPr>
            <a:endParaRPr sz="2800">
              <a:latin typeface="Times New Roman" panose="02020603050405020304" charset="0"/>
              <a:cs typeface="Times New Roman" panose="02020603050405020304" charset="0"/>
            </a:endParaRPr>
          </a:p>
          <a:p>
            <a:pPr>
              <a:buFont typeface="Arial" panose="020B0604020202020204"/>
              <a:buChar char="•"/>
            </a:pPr>
            <a:r>
              <a:rPr sz="2800">
                <a:latin typeface="Times New Roman" panose="02020603050405020304" charset="0"/>
                <a:cs typeface="Times New Roman" panose="02020603050405020304" charset="0"/>
              </a:rPr>
              <a:t>Maintenance and operational overhead became expensive.</a:t>
            </a:r>
            <a:endParaRPr sz="2800">
              <a:latin typeface="Times New Roman" panose="02020603050405020304" charset="0"/>
              <a:cs typeface="Times New Roman" panose="02020603050405020304" charset="0"/>
            </a:endParaRPr>
          </a:p>
          <a:p>
            <a:pPr>
              <a:buFont typeface="Arial" panose="020B0604020202020204"/>
              <a:buChar char="•"/>
            </a:pPr>
            <a:endParaRPr sz="2800">
              <a:latin typeface="Times New Roman" panose="02020603050405020304" charset="0"/>
              <a:cs typeface="Times New Roman" panose="02020603050405020304" charset="0"/>
            </a:endParaRPr>
          </a:p>
          <a:p>
            <a:r>
              <a:rPr sz="2800">
                <a:latin typeface="Times New Roman" panose="02020603050405020304" charset="0"/>
                <a:cs typeface="Times New Roman" panose="02020603050405020304" charset="0"/>
              </a:rPr>
              <a:t>The biggest issue was that teams had to integrate and manage multiple technologies manually. This increased risk and reduced agility.</a:t>
            </a:r>
            <a:endParaRPr sz="2800">
              <a:latin typeface="Times New Roman" panose="02020603050405020304" charset="0"/>
              <a:cs typeface="Times New Roman" panose="02020603050405020304" charset="0"/>
            </a:endParaRPr>
          </a:p>
          <a:p>
            <a:r>
              <a:rPr sz="2800">
                <a:latin typeface="Times New Roman" panose="02020603050405020304" charset="0"/>
                <a:cs typeface="Times New Roman" panose="02020603050405020304" charset="0"/>
              </a:rPr>
              <a:t>This helped me understand why modern platforms aim to unify the data stack</a:t>
            </a:r>
            <a:r>
              <a:rPr sz="1600"/>
              <a:t>.</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1ECE1"/>
        </a:solidFill>
        <a:effectLst/>
      </p:bgPr>
    </p:bg>
    <p:spTree>
      <p:nvGrpSpPr>
        <p:cNvPr id="1" name=""/>
        <p:cNvGrpSpPr/>
        <p:nvPr/>
      </p:nvGrpSpPr>
      <p:grpSpPr>
        <a:xfrm>
          <a:off x="0" y="0"/>
          <a:ext cx="0" cy="0"/>
          <a:chOff x="0" y="0"/>
          <a:chExt cx="0" cy="0"/>
        </a:xfrm>
      </p:grpSpPr>
      <p:sp>
        <p:nvSpPr>
          <p:cNvPr id="2" name="Freeform 2" descr="green blob"/>
          <p:cNvSpPr/>
          <p:nvPr/>
        </p:nvSpPr>
        <p:spPr>
          <a:xfrm>
            <a:off x="-2800261" y="-7153013"/>
            <a:ext cx="8857785" cy="8525618"/>
          </a:xfrm>
          <a:custGeom>
            <a:avLst/>
            <a:gdLst/>
            <a:ahLst/>
            <a:cxnLst/>
            <a:rect l="l" t="t" r="r" b="b"/>
            <a:pathLst>
              <a:path w="8857785" h="8525618">
                <a:moveTo>
                  <a:pt x="0" y="0"/>
                </a:moveTo>
                <a:lnTo>
                  <a:pt x="8857785" y="0"/>
                </a:lnTo>
                <a:lnTo>
                  <a:pt x="8857785" y="8525618"/>
                </a:lnTo>
                <a:lnTo>
                  <a:pt x="0" y="8525618"/>
                </a:lnTo>
                <a:lnTo>
                  <a:pt x="0" y="0"/>
                </a:lnTo>
                <a:close/>
              </a:path>
            </a:pathLst>
          </a:custGeom>
          <a:blipFill>
            <a:blip r:embed="rId1">
              <a:alphaModFix amt="21999"/>
              <a:extLst>
                <a:ext uri="{96DAC541-7B7A-43D3-8B79-37D633B846F1}">
                  <asvg:svgBlip xmlns:asvg="http://schemas.microsoft.com/office/drawing/2016/SVG/main" r:embed="rId2"/>
                </a:ext>
              </a:extLst>
            </a:blip>
            <a:stretch>
              <a:fillRect/>
            </a:stretch>
          </a:blipFill>
        </p:spPr>
      </p:sp>
      <p:sp>
        <p:nvSpPr>
          <p:cNvPr id="3" name="Freeform 3" descr="green organic shape"/>
          <p:cNvSpPr/>
          <p:nvPr/>
        </p:nvSpPr>
        <p:spPr>
          <a:xfrm rot="5767197">
            <a:off x="12106146" y="4725191"/>
            <a:ext cx="9957653" cy="8663158"/>
          </a:xfrm>
          <a:custGeom>
            <a:avLst/>
            <a:gdLst/>
            <a:ahLst/>
            <a:cxnLst/>
            <a:rect l="l" t="t" r="r" b="b"/>
            <a:pathLst>
              <a:path w="9957653" h="8663158">
                <a:moveTo>
                  <a:pt x="0" y="0"/>
                </a:moveTo>
                <a:lnTo>
                  <a:pt x="9957653" y="0"/>
                </a:lnTo>
                <a:lnTo>
                  <a:pt x="9957653" y="8663158"/>
                </a:lnTo>
                <a:lnTo>
                  <a:pt x="0" y="8663158"/>
                </a:lnTo>
                <a:lnTo>
                  <a:pt x="0" y="0"/>
                </a:lnTo>
                <a:close/>
              </a:path>
            </a:pathLst>
          </a:custGeom>
          <a:blipFill>
            <a:blip r:embed="rId3">
              <a:alphaModFix amt="21999"/>
              <a:extLst>
                <a:ext uri="{96DAC541-7B7A-43D3-8B79-37D633B846F1}">
                  <asvg:svgBlip xmlns:asvg="http://schemas.microsoft.com/office/drawing/2016/SVG/main" r:embed="rId4"/>
                </a:ext>
              </a:extLst>
            </a:blip>
            <a:stretch>
              <a:fillRect/>
            </a:stretch>
          </a:blipFill>
        </p:spPr>
      </p:sp>
      <p:sp>
        <p:nvSpPr>
          <p:cNvPr id="4" name="Freeform 4" descr="lined abstract shape"/>
          <p:cNvSpPr/>
          <p:nvPr/>
        </p:nvSpPr>
        <p:spPr>
          <a:xfrm rot="4726396">
            <a:off x="-3533193" y="-4912984"/>
            <a:ext cx="5318268" cy="8429531"/>
          </a:xfrm>
          <a:custGeom>
            <a:avLst/>
            <a:gdLst/>
            <a:ahLst/>
            <a:cxnLst/>
            <a:rect l="l" t="t" r="r" b="b"/>
            <a:pathLst>
              <a:path w="5318268" h="8429531">
                <a:moveTo>
                  <a:pt x="0" y="0"/>
                </a:moveTo>
                <a:lnTo>
                  <a:pt x="5318268" y="0"/>
                </a:lnTo>
                <a:lnTo>
                  <a:pt x="5318268" y="8429531"/>
                </a:lnTo>
                <a:lnTo>
                  <a:pt x="0" y="8429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descr="lined abstract shape"/>
          <p:cNvSpPr/>
          <p:nvPr/>
        </p:nvSpPr>
        <p:spPr>
          <a:xfrm rot="2788089">
            <a:off x="18639878" y="2702129"/>
            <a:ext cx="6565563" cy="10406512"/>
          </a:xfrm>
          <a:custGeom>
            <a:avLst/>
            <a:gdLst/>
            <a:ahLst/>
            <a:cxnLst/>
            <a:rect l="l" t="t" r="r" b="b"/>
            <a:pathLst>
              <a:path w="6565563" h="10406512">
                <a:moveTo>
                  <a:pt x="0" y="0"/>
                </a:moveTo>
                <a:lnTo>
                  <a:pt x="6565563" y="0"/>
                </a:lnTo>
                <a:lnTo>
                  <a:pt x="6565563" y="10406512"/>
                </a:lnTo>
                <a:lnTo>
                  <a:pt x="0" y="1040651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 Box 5"/>
          <p:cNvSpPr txBox="1"/>
          <p:nvPr/>
        </p:nvSpPr>
        <p:spPr>
          <a:xfrm>
            <a:off x="965200" y="1557655"/>
            <a:ext cx="15417165" cy="8235950"/>
          </a:xfrm>
          <a:prstGeom prst="rect">
            <a:avLst/>
          </a:prstGeom>
        </p:spPr>
        <p:txBody>
          <a:bodyPr wrap="square">
            <a:noAutofit/>
          </a:bodyPr>
          <a:p>
            <a:pPr>
              <a:spcAft>
                <a:spcPct val="60000"/>
              </a:spcAft>
            </a:pPr>
            <a:r>
              <a:rPr sz="2800" b="1">
                <a:latin typeface="Times New Roman" panose="02020603050405020304" charset="0"/>
                <a:cs typeface="Times New Roman" panose="02020603050405020304" charset="0"/>
              </a:rPr>
              <a:t> Databricks Unified Platform – A Lakehouse Approach</a:t>
            </a:r>
            <a:endParaRPr sz="2800" b="1">
              <a:latin typeface="Times New Roman" panose="02020603050405020304" charset="0"/>
              <a:cs typeface="Times New Roman" panose="02020603050405020304" charset="0"/>
            </a:endParaRPr>
          </a:p>
          <a:p>
            <a:r>
              <a:rPr sz="2800">
                <a:latin typeface="Times New Roman" panose="02020603050405020304" charset="0"/>
                <a:cs typeface="Times New Roman" panose="02020603050405020304" charset="0"/>
              </a:rPr>
              <a:t>Databricks simplifies traditional architecture by unifying ingestion, processing, storage, orchestration, and governance into one platform.</a:t>
            </a:r>
            <a:endParaRPr sz="2800">
              <a:latin typeface="Times New Roman" panose="02020603050405020304" charset="0"/>
              <a:cs typeface="Times New Roman" panose="02020603050405020304" charset="0"/>
            </a:endParaRPr>
          </a:p>
          <a:p>
            <a:r>
              <a:rPr sz="2800">
                <a:latin typeface="Times New Roman" panose="02020603050405020304" charset="0"/>
                <a:cs typeface="Times New Roman" panose="02020603050405020304" charset="0"/>
              </a:rPr>
              <a:t>What stood out to me is the Lakehouse architecture, which combines the reliability of data warehouses with the scalability of data lakes.</a:t>
            </a:r>
            <a:endParaRPr sz="2800">
              <a:latin typeface="Times New Roman" panose="02020603050405020304" charset="0"/>
              <a:cs typeface="Times New Roman" panose="02020603050405020304" charset="0"/>
            </a:endParaRPr>
          </a:p>
          <a:p>
            <a:r>
              <a:rPr sz="2800">
                <a:latin typeface="Times New Roman" panose="02020603050405020304" charset="0"/>
                <a:cs typeface="Times New Roman" panose="02020603050405020304" charset="0"/>
              </a:rPr>
              <a:t>Key components include:</a:t>
            </a:r>
            <a:endParaRPr sz="2800">
              <a:latin typeface="Times New Roman" panose="02020603050405020304" charset="0"/>
              <a:cs typeface="Times New Roman" panose="02020603050405020304" charset="0"/>
            </a:endParaRPr>
          </a:p>
          <a:p>
            <a:endParaRPr sz="2800">
              <a:latin typeface="Times New Roman" panose="02020603050405020304" charset="0"/>
              <a:cs typeface="Times New Roman" panose="02020603050405020304" charset="0"/>
            </a:endParaRPr>
          </a:p>
          <a:p>
            <a:pPr>
              <a:buFont typeface="Arial" panose="020B0604020202020204"/>
              <a:buChar char="•"/>
            </a:pPr>
            <a:r>
              <a:rPr sz="2800">
                <a:latin typeface="Times New Roman" panose="02020603050405020304" charset="0"/>
                <a:cs typeface="Times New Roman" panose="02020603050405020304" charset="0"/>
              </a:rPr>
              <a:t>Delta Lake for reliable storage</a:t>
            </a:r>
            <a:endParaRPr sz="2800">
              <a:latin typeface="Times New Roman" panose="02020603050405020304" charset="0"/>
              <a:cs typeface="Times New Roman" panose="02020603050405020304" charset="0"/>
            </a:endParaRPr>
          </a:p>
          <a:p>
            <a:pPr>
              <a:buFont typeface="Arial" panose="020B0604020202020204"/>
              <a:buChar char="•"/>
            </a:pPr>
            <a:endParaRPr sz="2800">
              <a:latin typeface="Times New Roman" panose="02020603050405020304" charset="0"/>
              <a:cs typeface="Times New Roman" panose="02020603050405020304" charset="0"/>
            </a:endParaRPr>
          </a:p>
          <a:p>
            <a:pPr>
              <a:buFont typeface="Arial" panose="020B0604020202020204"/>
              <a:buChar char="•"/>
            </a:pPr>
            <a:r>
              <a:rPr sz="2800">
                <a:latin typeface="Times New Roman" panose="02020603050405020304" charset="0"/>
                <a:cs typeface="Times New Roman" panose="02020603050405020304" charset="0"/>
              </a:rPr>
              <a:t>Spark for distributed processing</a:t>
            </a:r>
            <a:endParaRPr sz="2800">
              <a:latin typeface="Times New Roman" panose="02020603050405020304" charset="0"/>
              <a:cs typeface="Times New Roman" panose="02020603050405020304" charset="0"/>
            </a:endParaRPr>
          </a:p>
          <a:p>
            <a:pPr>
              <a:buFont typeface="Arial" panose="020B0604020202020204"/>
              <a:buChar char="•"/>
            </a:pPr>
            <a:endParaRPr sz="2800">
              <a:latin typeface="Times New Roman" panose="02020603050405020304" charset="0"/>
              <a:cs typeface="Times New Roman" panose="02020603050405020304" charset="0"/>
            </a:endParaRPr>
          </a:p>
          <a:p>
            <a:pPr>
              <a:buFont typeface="Arial" panose="020B0604020202020204"/>
              <a:buChar char="•"/>
            </a:pPr>
            <a:r>
              <a:rPr sz="2800">
                <a:latin typeface="Times New Roman" panose="02020603050405020304" charset="0"/>
                <a:cs typeface="Times New Roman" panose="02020603050405020304" charset="0"/>
              </a:rPr>
              <a:t>Lakeflow for ingestion and orchestration</a:t>
            </a:r>
            <a:endParaRPr sz="2800">
              <a:latin typeface="Times New Roman" panose="02020603050405020304" charset="0"/>
              <a:cs typeface="Times New Roman" panose="02020603050405020304" charset="0"/>
            </a:endParaRPr>
          </a:p>
          <a:p>
            <a:pPr>
              <a:buFont typeface="Arial" panose="020B0604020202020204"/>
              <a:buChar char="•"/>
            </a:pPr>
            <a:endParaRPr sz="2800">
              <a:latin typeface="Times New Roman" panose="02020603050405020304" charset="0"/>
              <a:cs typeface="Times New Roman" panose="02020603050405020304" charset="0"/>
            </a:endParaRPr>
          </a:p>
          <a:p>
            <a:pPr>
              <a:buFont typeface="Arial" panose="020B0604020202020204"/>
              <a:buChar char="•"/>
            </a:pPr>
            <a:r>
              <a:rPr sz="2800">
                <a:latin typeface="Times New Roman" panose="02020603050405020304" charset="0"/>
                <a:cs typeface="Times New Roman" panose="02020603050405020304" charset="0"/>
              </a:rPr>
              <a:t>Unity Catalog for governance</a:t>
            </a:r>
            <a:endParaRPr sz="2800">
              <a:latin typeface="Times New Roman" panose="02020603050405020304" charset="0"/>
              <a:cs typeface="Times New Roman" panose="02020603050405020304" charset="0"/>
            </a:endParaRPr>
          </a:p>
          <a:p>
            <a:r>
              <a:rPr sz="2800">
                <a:latin typeface="Times New Roman" panose="02020603050405020304" charset="0"/>
                <a:cs typeface="Times New Roman" panose="02020603050405020304" charset="0"/>
              </a:rPr>
              <a:t>Instead of stitching together tools, everything operates within a single controlled environment. This reduces operational complexity and improves performance and governance</a:t>
            </a:r>
            <a:r>
              <a:rPr sz="1600"/>
              <a:t>.</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1ECE1"/>
        </a:solidFill>
        <a:effectLst/>
      </p:bgPr>
    </p:bg>
    <p:spTree>
      <p:nvGrpSpPr>
        <p:cNvPr id="1" name=""/>
        <p:cNvGrpSpPr/>
        <p:nvPr/>
      </p:nvGrpSpPr>
      <p:grpSpPr>
        <a:xfrm>
          <a:off x="0" y="0"/>
          <a:ext cx="0" cy="0"/>
          <a:chOff x="0" y="0"/>
          <a:chExt cx="0" cy="0"/>
        </a:xfrm>
      </p:grpSpPr>
      <p:sp>
        <p:nvSpPr>
          <p:cNvPr id="2" name="Freeform 2" descr="green blob"/>
          <p:cNvSpPr/>
          <p:nvPr/>
        </p:nvSpPr>
        <p:spPr>
          <a:xfrm>
            <a:off x="-2800261" y="-7153013"/>
            <a:ext cx="8857785" cy="8525618"/>
          </a:xfrm>
          <a:custGeom>
            <a:avLst/>
            <a:gdLst/>
            <a:ahLst/>
            <a:cxnLst/>
            <a:rect l="l" t="t" r="r" b="b"/>
            <a:pathLst>
              <a:path w="8857785" h="8525618">
                <a:moveTo>
                  <a:pt x="0" y="0"/>
                </a:moveTo>
                <a:lnTo>
                  <a:pt x="8857785" y="0"/>
                </a:lnTo>
                <a:lnTo>
                  <a:pt x="8857785" y="8525618"/>
                </a:lnTo>
                <a:lnTo>
                  <a:pt x="0" y="8525618"/>
                </a:lnTo>
                <a:lnTo>
                  <a:pt x="0" y="0"/>
                </a:lnTo>
                <a:close/>
              </a:path>
            </a:pathLst>
          </a:custGeom>
          <a:blipFill>
            <a:blip r:embed="rId1">
              <a:alphaModFix amt="21999"/>
              <a:extLst>
                <a:ext uri="{96DAC541-7B7A-43D3-8B79-37D633B846F1}">
                  <asvg:svgBlip xmlns:asvg="http://schemas.microsoft.com/office/drawing/2016/SVG/main" r:embed="rId2"/>
                </a:ext>
              </a:extLst>
            </a:blip>
            <a:stretch>
              <a:fillRect/>
            </a:stretch>
          </a:blipFill>
        </p:spPr>
      </p:sp>
      <p:sp>
        <p:nvSpPr>
          <p:cNvPr id="3" name="Freeform 3" descr="green organic shape"/>
          <p:cNvSpPr/>
          <p:nvPr/>
        </p:nvSpPr>
        <p:spPr>
          <a:xfrm rot="5767197">
            <a:off x="12106146" y="4725191"/>
            <a:ext cx="9957653" cy="8663158"/>
          </a:xfrm>
          <a:custGeom>
            <a:avLst/>
            <a:gdLst/>
            <a:ahLst/>
            <a:cxnLst/>
            <a:rect l="l" t="t" r="r" b="b"/>
            <a:pathLst>
              <a:path w="9957653" h="8663158">
                <a:moveTo>
                  <a:pt x="0" y="0"/>
                </a:moveTo>
                <a:lnTo>
                  <a:pt x="9957653" y="0"/>
                </a:lnTo>
                <a:lnTo>
                  <a:pt x="9957653" y="8663158"/>
                </a:lnTo>
                <a:lnTo>
                  <a:pt x="0" y="8663158"/>
                </a:lnTo>
                <a:lnTo>
                  <a:pt x="0" y="0"/>
                </a:lnTo>
                <a:close/>
              </a:path>
            </a:pathLst>
          </a:custGeom>
          <a:blipFill>
            <a:blip r:embed="rId3">
              <a:alphaModFix amt="21999"/>
              <a:extLst>
                <a:ext uri="{96DAC541-7B7A-43D3-8B79-37D633B846F1}">
                  <asvg:svgBlip xmlns:asvg="http://schemas.microsoft.com/office/drawing/2016/SVG/main" r:embed="rId4"/>
                </a:ext>
              </a:extLst>
            </a:blip>
            <a:stretch>
              <a:fillRect/>
            </a:stretch>
          </a:blipFill>
        </p:spPr>
      </p:sp>
      <p:sp>
        <p:nvSpPr>
          <p:cNvPr id="4" name="Freeform 4" descr="lined abstract shape"/>
          <p:cNvSpPr/>
          <p:nvPr/>
        </p:nvSpPr>
        <p:spPr>
          <a:xfrm rot="4726396">
            <a:off x="-3533193" y="-4912984"/>
            <a:ext cx="5318268" cy="8429531"/>
          </a:xfrm>
          <a:custGeom>
            <a:avLst/>
            <a:gdLst/>
            <a:ahLst/>
            <a:cxnLst/>
            <a:rect l="l" t="t" r="r" b="b"/>
            <a:pathLst>
              <a:path w="5318268" h="8429531">
                <a:moveTo>
                  <a:pt x="0" y="0"/>
                </a:moveTo>
                <a:lnTo>
                  <a:pt x="5318268" y="0"/>
                </a:lnTo>
                <a:lnTo>
                  <a:pt x="5318268" y="8429531"/>
                </a:lnTo>
                <a:lnTo>
                  <a:pt x="0" y="8429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descr="lined abstract shape"/>
          <p:cNvSpPr/>
          <p:nvPr/>
        </p:nvSpPr>
        <p:spPr>
          <a:xfrm rot="2788089">
            <a:off x="18639878" y="2702129"/>
            <a:ext cx="6565563" cy="10406512"/>
          </a:xfrm>
          <a:custGeom>
            <a:avLst/>
            <a:gdLst/>
            <a:ahLst/>
            <a:cxnLst/>
            <a:rect l="l" t="t" r="r" b="b"/>
            <a:pathLst>
              <a:path w="6565563" h="10406512">
                <a:moveTo>
                  <a:pt x="0" y="0"/>
                </a:moveTo>
                <a:lnTo>
                  <a:pt x="6565563" y="0"/>
                </a:lnTo>
                <a:lnTo>
                  <a:pt x="6565563" y="10406512"/>
                </a:lnTo>
                <a:lnTo>
                  <a:pt x="0" y="1040651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 Box 5"/>
          <p:cNvSpPr txBox="1"/>
          <p:nvPr/>
        </p:nvSpPr>
        <p:spPr>
          <a:xfrm>
            <a:off x="1066800" y="1492250"/>
            <a:ext cx="16255365" cy="8201025"/>
          </a:xfrm>
          <a:prstGeom prst="rect">
            <a:avLst/>
          </a:prstGeom>
        </p:spPr>
        <p:txBody>
          <a:bodyPr wrap="square">
            <a:noAutofit/>
          </a:bodyPr>
          <a:p>
            <a:pPr>
              <a:spcAft>
                <a:spcPct val="60000"/>
              </a:spcAft>
            </a:pPr>
            <a:r>
              <a:rPr sz="3000" b="1">
                <a:latin typeface="Times New Roman" panose="02020603050405020304" charset="0"/>
                <a:cs typeface="Times New Roman" panose="02020603050405020304" charset="0"/>
              </a:rPr>
              <a:t>Lakeflow Overview – Ingestion to Orchestration</a:t>
            </a:r>
            <a:endParaRPr sz="3000" b="1">
              <a:latin typeface="Times New Roman" panose="02020603050405020304" charset="0"/>
              <a:cs typeface="Times New Roman" panose="02020603050405020304" charset="0"/>
            </a:endParaRPr>
          </a:p>
          <a:p>
            <a:r>
              <a:rPr sz="2800">
                <a:latin typeface="Times New Roman" panose="02020603050405020304" charset="0"/>
                <a:cs typeface="Times New Roman" panose="02020603050405020304" charset="0"/>
              </a:rPr>
              <a:t>Lakeflow provides structured data movement into Delta Lake. It connects data sources, processes them through ETL pipelines, and orchestrates workflows efficiently.</a:t>
            </a:r>
            <a:endParaRPr sz="2800">
              <a:latin typeface="Times New Roman" panose="02020603050405020304" charset="0"/>
              <a:cs typeface="Times New Roman" panose="02020603050405020304" charset="0"/>
            </a:endParaRPr>
          </a:p>
          <a:p>
            <a:r>
              <a:rPr sz="2800">
                <a:latin typeface="Times New Roman" panose="02020603050405020304" charset="0"/>
                <a:cs typeface="Times New Roman" panose="02020603050405020304" charset="0"/>
              </a:rPr>
              <a:t>The ingestion layer feeds into the Bronze → Silver → Gold medallion architecture:</a:t>
            </a:r>
            <a:endParaRPr sz="2800">
              <a:latin typeface="Times New Roman" panose="02020603050405020304" charset="0"/>
              <a:cs typeface="Times New Roman" panose="02020603050405020304" charset="0"/>
            </a:endParaRPr>
          </a:p>
          <a:p>
            <a:endParaRPr sz="2800">
              <a:latin typeface="Times New Roman" panose="02020603050405020304" charset="0"/>
              <a:cs typeface="Times New Roman" panose="02020603050405020304" charset="0"/>
            </a:endParaRPr>
          </a:p>
          <a:p>
            <a:pPr>
              <a:buFont typeface="Arial" panose="020B0604020202020204"/>
              <a:buChar char="•"/>
            </a:pPr>
            <a:r>
              <a:rPr sz="2800">
                <a:latin typeface="Times New Roman" panose="02020603050405020304" charset="0"/>
                <a:cs typeface="Times New Roman" panose="02020603050405020304" charset="0"/>
              </a:rPr>
              <a:t>Bronze: Raw ingested data</a:t>
            </a:r>
            <a:endParaRPr sz="2800">
              <a:latin typeface="Times New Roman" panose="02020603050405020304" charset="0"/>
              <a:cs typeface="Times New Roman" panose="02020603050405020304" charset="0"/>
            </a:endParaRPr>
          </a:p>
          <a:p>
            <a:pPr>
              <a:buFont typeface="Arial" panose="020B0604020202020204"/>
              <a:buChar char="•"/>
            </a:pPr>
            <a:endParaRPr sz="2800">
              <a:latin typeface="Times New Roman" panose="02020603050405020304" charset="0"/>
              <a:cs typeface="Times New Roman" panose="02020603050405020304" charset="0"/>
            </a:endParaRPr>
          </a:p>
          <a:p>
            <a:pPr>
              <a:buFont typeface="Arial" panose="020B0604020202020204"/>
              <a:buChar char="•"/>
            </a:pPr>
            <a:r>
              <a:rPr sz="2800">
                <a:latin typeface="Times New Roman" panose="02020603050405020304" charset="0"/>
                <a:cs typeface="Times New Roman" panose="02020603050405020304" charset="0"/>
              </a:rPr>
              <a:t>Silver: Cleaned and transformed data</a:t>
            </a:r>
            <a:endParaRPr sz="2800">
              <a:latin typeface="Times New Roman" panose="02020603050405020304" charset="0"/>
              <a:cs typeface="Times New Roman" panose="02020603050405020304" charset="0"/>
            </a:endParaRPr>
          </a:p>
          <a:p>
            <a:pPr>
              <a:buFont typeface="Arial" panose="020B0604020202020204"/>
              <a:buChar char="•"/>
            </a:pPr>
            <a:endParaRPr sz="2800">
              <a:latin typeface="Times New Roman" panose="02020603050405020304" charset="0"/>
              <a:cs typeface="Times New Roman" panose="02020603050405020304" charset="0"/>
            </a:endParaRPr>
          </a:p>
          <a:p>
            <a:pPr>
              <a:buFont typeface="Arial" panose="020B0604020202020204"/>
              <a:buChar char="•"/>
            </a:pPr>
            <a:r>
              <a:rPr sz="2800">
                <a:latin typeface="Times New Roman" panose="02020603050405020304" charset="0"/>
                <a:cs typeface="Times New Roman" panose="02020603050405020304" charset="0"/>
              </a:rPr>
              <a:t>Gold: Business-ready data</a:t>
            </a:r>
            <a:endParaRPr sz="2800">
              <a:latin typeface="Times New Roman" panose="02020603050405020304" charset="0"/>
              <a:cs typeface="Times New Roman" panose="02020603050405020304" charset="0"/>
            </a:endParaRPr>
          </a:p>
          <a:p>
            <a:pPr>
              <a:buFont typeface="Arial" panose="020B0604020202020204"/>
              <a:buChar char="•"/>
            </a:pPr>
            <a:endParaRPr sz="2800">
              <a:latin typeface="Times New Roman" panose="02020603050405020304" charset="0"/>
              <a:cs typeface="Times New Roman" panose="02020603050405020304" charset="0"/>
            </a:endParaRPr>
          </a:p>
          <a:p>
            <a:r>
              <a:rPr sz="2800">
                <a:latin typeface="Times New Roman" panose="02020603050405020304" charset="0"/>
                <a:cs typeface="Times New Roman" panose="02020603050405020304" charset="0"/>
              </a:rPr>
              <a:t>From my understanding, Lakeflow ensures that ingestion is not just file loading, but a managed and monitored process. It supports batch and streaming, ensuring flexibility depending on the use case.</a:t>
            </a:r>
            <a:endParaRPr sz="280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1ECE1"/>
        </a:solidFill>
        <a:effectLst/>
      </p:bgPr>
    </p:bg>
    <p:spTree>
      <p:nvGrpSpPr>
        <p:cNvPr id="1" name=""/>
        <p:cNvGrpSpPr/>
        <p:nvPr/>
      </p:nvGrpSpPr>
      <p:grpSpPr>
        <a:xfrm>
          <a:off x="0" y="0"/>
          <a:ext cx="0" cy="0"/>
          <a:chOff x="0" y="0"/>
          <a:chExt cx="0" cy="0"/>
        </a:xfrm>
      </p:grpSpPr>
      <p:sp>
        <p:nvSpPr>
          <p:cNvPr id="2" name="Freeform 2" descr="green blob"/>
          <p:cNvSpPr/>
          <p:nvPr/>
        </p:nvSpPr>
        <p:spPr>
          <a:xfrm>
            <a:off x="-2800261" y="-7153013"/>
            <a:ext cx="8857785" cy="8525618"/>
          </a:xfrm>
          <a:custGeom>
            <a:avLst/>
            <a:gdLst/>
            <a:ahLst/>
            <a:cxnLst/>
            <a:rect l="l" t="t" r="r" b="b"/>
            <a:pathLst>
              <a:path w="8857785" h="8525618">
                <a:moveTo>
                  <a:pt x="0" y="0"/>
                </a:moveTo>
                <a:lnTo>
                  <a:pt x="8857785" y="0"/>
                </a:lnTo>
                <a:lnTo>
                  <a:pt x="8857785" y="8525618"/>
                </a:lnTo>
                <a:lnTo>
                  <a:pt x="0" y="8525618"/>
                </a:lnTo>
                <a:lnTo>
                  <a:pt x="0" y="0"/>
                </a:lnTo>
                <a:close/>
              </a:path>
            </a:pathLst>
          </a:custGeom>
          <a:blipFill>
            <a:blip r:embed="rId1">
              <a:alphaModFix amt="21999"/>
              <a:extLst>
                <a:ext uri="{96DAC541-7B7A-43D3-8B79-37D633B846F1}">
                  <asvg:svgBlip xmlns:asvg="http://schemas.microsoft.com/office/drawing/2016/SVG/main" r:embed="rId2"/>
                </a:ext>
              </a:extLst>
            </a:blip>
            <a:stretch>
              <a:fillRect/>
            </a:stretch>
          </a:blipFill>
        </p:spPr>
      </p:sp>
      <p:sp>
        <p:nvSpPr>
          <p:cNvPr id="3" name="Freeform 3" descr="green organic shape"/>
          <p:cNvSpPr/>
          <p:nvPr/>
        </p:nvSpPr>
        <p:spPr>
          <a:xfrm rot="5767197">
            <a:off x="12106146" y="4725191"/>
            <a:ext cx="9957653" cy="8663158"/>
          </a:xfrm>
          <a:custGeom>
            <a:avLst/>
            <a:gdLst/>
            <a:ahLst/>
            <a:cxnLst/>
            <a:rect l="l" t="t" r="r" b="b"/>
            <a:pathLst>
              <a:path w="9957653" h="8663158">
                <a:moveTo>
                  <a:pt x="0" y="0"/>
                </a:moveTo>
                <a:lnTo>
                  <a:pt x="9957653" y="0"/>
                </a:lnTo>
                <a:lnTo>
                  <a:pt x="9957653" y="8663158"/>
                </a:lnTo>
                <a:lnTo>
                  <a:pt x="0" y="8663158"/>
                </a:lnTo>
                <a:lnTo>
                  <a:pt x="0" y="0"/>
                </a:lnTo>
                <a:close/>
              </a:path>
            </a:pathLst>
          </a:custGeom>
          <a:blipFill>
            <a:blip r:embed="rId3">
              <a:alphaModFix amt="21999"/>
              <a:extLst>
                <a:ext uri="{96DAC541-7B7A-43D3-8B79-37D633B846F1}">
                  <asvg:svgBlip xmlns:asvg="http://schemas.microsoft.com/office/drawing/2016/SVG/main" r:embed="rId4"/>
                </a:ext>
              </a:extLst>
            </a:blip>
            <a:stretch>
              <a:fillRect/>
            </a:stretch>
          </a:blipFill>
        </p:spPr>
      </p:sp>
      <p:sp>
        <p:nvSpPr>
          <p:cNvPr id="4" name="Freeform 4" descr="lined abstract shape"/>
          <p:cNvSpPr/>
          <p:nvPr/>
        </p:nvSpPr>
        <p:spPr>
          <a:xfrm rot="4726396">
            <a:off x="-3533193" y="-4912984"/>
            <a:ext cx="5318268" cy="8429531"/>
          </a:xfrm>
          <a:custGeom>
            <a:avLst/>
            <a:gdLst/>
            <a:ahLst/>
            <a:cxnLst/>
            <a:rect l="l" t="t" r="r" b="b"/>
            <a:pathLst>
              <a:path w="5318268" h="8429531">
                <a:moveTo>
                  <a:pt x="0" y="0"/>
                </a:moveTo>
                <a:lnTo>
                  <a:pt x="5318268" y="0"/>
                </a:lnTo>
                <a:lnTo>
                  <a:pt x="5318268" y="8429531"/>
                </a:lnTo>
                <a:lnTo>
                  <a:pt x="0" y="8429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descr="lined abstract shape"/>
          <p:cNvSpPr/>
          <p:nvPr/>
        </p:nvSpPr>
        <p:spPr>
          <a:xfrm rot="2788089">
            <a:off x="18639878" y="2702129"/>
            <a:ext cx="6565563" cy="10406512"/>
          </a:xfrm>
          <a:custGeom>
            <a:avLst/>
            <a:gdLst/>
            <a:ahLst/>
            <a:cxnLst/>
            <a:rect l="l" t="t" r="r" b="b"/>
            <a:pathLst>
              <a:path w="6565563" h="10406512">
                <a:moveTo>
                  <a:pt x="0" y="0"/>
                </a:moveTo>
                <a:lnTo>
                  <a:pt x="6565563" y="0"/>
                </a:lnTo>
                <a:lnTo>
                  <a:pt x="6565563" y="10406512"/>
                </a:lnTo>
                <a:lnTo>
                  <a:pt x="0" y="1040651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 Box 5"/>
          <p:cNvSpPr txBox="1"/>
          <p:nvPr/>
        </p:nvSpPr>
        <p:spPr>
          <a:xfrm>
            <a:off x="1117600" y="1644015"/>
            <a:ext cx="14832965" cy="7644130"/>
          </a:xfrm>
          <a:prstGeom prst="rect">
            <a:avLst/>
          </a:prstGeom>
        </p:spPr>
        <p:txBody>
          <a:bodyPr wrap="square">
            <a:noAutofit/>
          </a:bodyPr>
          <a:p>
            <a:pPr>
              <a:spcAft>
                <a:spcPct val="60000"/>
              </a:spcAft>
            </a:pPr>
            <a:r>
              <a:rPr sz="3000" b="1">
                <a:latin typeface="Times New Roman" panose="02020603050405020304" charset="0"/>
                <a:cs typeface="Times New Roman" panose="02020603050405020304" charset="0"/>
              </a:rPr>
              <a:t> Lakeflow Connect – Ingestion into Delta Lake</a:t>
            </a:r>
            <a:endParaRPr sz="3000" b="1">
              <a:latin typeface="Times New Roman" panose="02020603050405020304" charset="0"/>
              <a:cs typeface="Times New Roman" panose="02020603050405020304" charset="0"/>
            </a:endParaRPr>
          </a:p>
          <a:p>
            <a:r>
              <a:rPr sz="2800">
                <a:latin typeface="Times New Roman" panose="02020603050405020304" charset="0"/>
                <a:cs typeface="Times New Roman" panose="02020603050405020304" charset="0"/>
              </a:rPr>
              <a:t>In this section, I focused deeply on how raw data is brought into Delta Lake.</a:t>
            </a:r>
            <a:endParaRPr sz="2800">
              <a:latin typeface="Times New Roman" panose="02020603050405020304" charset="0"/>
              <a:cs typeface="Times New Roman" panose="02020603050405020304" charset="0"/>
            </a:endParaRPr>
          </a:p>
          <a:p>
            <a:r>
              <a:rPr sz="2800">
                <a:latin typeface="Times New Roman" panose="02020603050405020304" charset="0"/>
                <a:cs typeface="Times New Roman" panose="02020603050405020304" charset="0"/>
              </a:rPr>
              <a:t>I understood that ingestion is the foundation of the entire pipeline. If ingestion is unreliable, downstream transformations and analytics are affected.</a:t>
            </a:r>
            <a:endParaRPr sz="2800">
              <a:latin typeface="Times New Roman" panose="02020603050405020304" charset="0"/>
              <a:cs typeface="Times New Roman" panose="02020603050405020304" charset="0"/>
            </a:endParaRPr>
          </a:p>
          <a:p>
            <a:r>
              <a:rPr sz="2800">
                <a:latin typeface="Times New Roman" panose="02020603050405020304" charset="0"/>
                <a:cs typeface="Times New Roman" panose="02020603050405020304" charset="0"/>
              </a:rPr>
              <a:t>Databricks provides multiple ingestion methods depending on business needs:</a:t>
            </a:r>
            <a:endParaRPr sz="2800">
              <a:latin typeface="Times New Roman" panose="02020603050405020304" charset="0"/>
              <a:cs typeface="Times New Roman" panose="02020603050405020304" charset="0"/>
            </a:endParaRPr>
          </a:p>
          <a:p>
            <a:endParaRPr sz="2800">
              <a:latin typeface="Times New Roman" panose="02020603050405020304" charset="0"/>
              <a:cs typeface="Times New Roman" panose="02020603050405020304" charset="0"/>
            </a:endParaRPr>
          </a:p>
          <a:p>
            <a:pPr>
              <a:buFont typeface="Arial" panose="020B0604020202020204"/>
              <a:buChar char="•"/>
            </a:pPr>
            <a:r>
              <a:rPr sz="2800">
                <a:latin typeface="Times New Roman" panose="02020603050405020304" charset="0"/>
                <a:cs typeface="Times New Roman" panose="02020603050405020304" charset="0"/>
              </a:rPr>
              <a:t>CTAS for structured full loads</a:t>
            </a:r>
            <a:endParaRPr sz="2800">
              <a:latin typeface="Times New Roman" panose="02020603050405020304" charset="0"/>
              <a:cs typeface="Times New Roman" panose="02020603050405020304" charset="0"/>
            </a:endParaRPr>
          </a:p>
          <a:p>
            <a:pPr>
              <a:buFont typeface="Arial" panose="020B0604020202020204"/>
              <a:buChar char="•"/>
            </a:pPr>
            <a:endParaRPr sz="2800">
              <a:latin typeface="Times New Roman" panose="02020603050405020304" charset="0"/>
              <a:cs typeface="Times New Roman" panose="02020603050405020304" charset="0"/>
            </a:endParaRPr>
          </a:p>
          <a:p>
            <a:pPr>
              <a:buFont typeface="Arial" panose="020B0604020202020204"/>
              <a:buChar char="•"/>
            </a:pPr>
            <a:r>
              <a:rPr sz="2800">
                <a:latin typeface="Times New Roman" panose="02020603050405020304" charset="0"/>
                <a:cs typeface="Times New Roman" panose="02020603050405020304" charset="0"/>
              </a:rPr>
              <a:t>COPY INTO for incremental, idempotent loading</a:t>
            </a:r>
            <a:endParaRPr sz="2800">
              <a:latin typeface="Times New Roman" panose="02020603050405020304" charset="0"/>
              <a:cs typeface="Times New Roman" panose="02020603050405020304" charset="0"/>
            </a:endParaRPr>
          </a:p>
          <a:p>
            <a:pPr>
              <a:buFont typeface="Arial" panose="020B0604020202020204"/>
              <a:buChar char="•"/>
            </a:pPr>
            <a:endParaRPr sz="2800">
              <a:latin typeface="Times New Roman" panose="02020603050405020304" charset="0"/>
              <a:cs typeface="Times New Roman" panose="02020603050405020304" charset="0"/>
            </a:endParaRPr>
          </a:p>
          <a:p>
            <a:pPr>
              <a:buFont typeface="Arial" panose="020B0604020202020204"/>
              <a:buChar char="•"/>
            </a:pPr>
            <a:r>
              <a:rPr sz="2800">
                <a:latin typeface="Times New Roman" panose="02020603050405020304" charset="0"/>
                <a:cs typeface="Times New Roman" panose="02020603050405020304" charset="0"/>
              </a:rPr>
              <a:t>Auto Loader for scalable, automated ingestion</a:t>
            </a:r>
            <a:endParaRPr sz="2800">
              <a:latin typeface="Times New Roman" panose="02020603050405020304" charset="0"/>
              <a:cs typeface="Times New Roman" panose="02020603050405020304" charset="0"/>
            </a:endParaRPr>
          </a:p>
          <a:p>
            <a:pPr>
              <a:buFont typeface="Arial" panose="020B0604020202020204"/>
              <a:buChar char="•"/>
            </a:pPr>
            <a:endParaRPr sz="2800">
              <a:latin typeface="Times New Roman" panose="02020603050405020304" charset="0"/>
              <a:cs typeface="Times New Roman" panose="02020603050405020304" charset="0"/>
            </a:endParaRPr>
          </a:p>
          <a:p>
            <a:r>
              <a:rPr sz="2800">
                <a:latin typeface="Times New Roman" panose="02020603050405020304" charset="0"/>
                <a:cs typeface="Times New Roman" panose="02020603050405020304" charset="0"/>
              </a:rPr>
              <a:t>Each method ultimately stores data in Delta tables, ensuring ACID compliance and reliability from the start.</a:t>
            </a:r>
            <a:endParaRPr sz="2800">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1ECE1"/>
        </a:solidFill>
        <a:effectLst/>
      </p:bgPr>
    </p:bg>
    <p:spTree>
      <p:nvGrpSpPr>
        <p:cNvPr id="1" name=""/>
        <p:cNvGrpSpPr/>
        <p:nvPr/>
      </p:nvGrpSpPr>
      <p:grpSpPr>
        <a:xfrm>
          <a:off x="0" y="0"/>
          <a:ext cx="0" cy="0"/>
          <a:chOff x="0" y="0"/>
          <a:chExt cx="0" cy="0"/>
        </a:xfrm>
      </p:grpSpPr>
      <p:sp>
        <p:nvSpPr>
          <p:cNvPr id="2" name="Freeform 2" descr="green blob"/>
          <p:cNvSpPr/>
          <p:nvPr/>
        </p:nvSpPr>
        <p:spPr>
          <a:xfrm>
            <a:off x="-2800261" y="-7153013"/>
            <a:ext cx="8857785" cy="8525618"/>
          </a:xfrm>
          <a:custGeom>
            <a:avLst/>
            <a:gdLst/>
            <a:ahLst/>
            <a:cxnLst/>
            <a:rect l="l" t="t" r="r" b="b"/>
            <a:pathLst>
              <a:path w="8857785" h="8525618">
                <a:moveTo>
                  <a:pt x="0" y="0"/>
                </a:moveTo>
                <a:lnTo>
                  <a:pt x="8857785" y="0"/>
                </a:lnTo>
                <a:lnTo>
                  <a:pt x="8857785" y="8525618"/>
                </a:lnTo>
                <a:lnTo>
                  <a:pt x="0" y="8525618"/>
                </a:lnTo>
                <a:lnTo>
                  <a:pt x="0" y="0"/>
                </a:lnTo>
                <a:close/>
              </a:path>
            </a:pathLst>
          </a:custGeom>
          <a:blipFill>
            <a:blip r:embed="rId1">
              <a:alphaModFix amt="21999"/>
              <a:extLst>
                <a:ext uri="{96DAC541-7B7A-43D3-8B79-37D633B846F1}">
                  <asvg:svgBlip xmlns:asvg="http://schemas.microsoft.com/office/drawing/2016/SVG/main" r:embed="rId2"/>
                </a:ext>
              </a:extLst>
            </a:blip>
            <a:stretch>
              <a:fillRect/>
            </a:stretch>
          </a:blipFill>
        </p:spPr>
      </p:sp>
      <p:sp>
        <p:nvSpPr>
          <p:cNvPr id="3" name="Freeform 3" descr="green organic shape"/>
          <p:cNvSpPr/>
          <p:nvPr/>
        </p:nvSpPr>
        <p:spPr>
          <a:xfrm rot="5767197">
            <a:off x="12106146" y="4725191"/>
            <a:ext cx="9957653" cy="8663158"/>
          </a:xfrm>
          <a:custGeom>
            <a:avLst/>
            <a:gdLst/>
            <a:ahLst/>
            <a:cxnLst/>
            <a:rect l="l" t="t" r="r" b="b"/>
            <a:pathLst>
              <a:path w="9957653" h="8663158">
                <a:moveTo>
                  <a:pt x="0" y="0"/>
                </a:moveTo>
                <a:lnTo>
                  <a:pt x="9957653" y="0"/>
                </a:lnTo>
                <a:lnTo>
                  <a:pt x="9957653" y="8663158"/>
                </a:lnTo>
                <a:lnTo>
                  <a:pt x="0" y="8663158"/>
                </a:lnTo>
                <a:lnTo>
                  <a:pt x="0" y="0"/>
                </a:lnTo>
                <a:close/>
              </a:path>
            </a:pathLst>
          </a:custGeom>
          <a:blipFill>
            <a:blip r:embed="rId3">
              <a:alphaModFix amt="21999"/>
              <a:extLst>
                <a:ext uri="{96DAC541-7B7A-43D3-8B79-37D633B846F1}">
                  <asvg:svgBlip xmlns:asvg="http://schemas.microsoft.com/office/drawing/2016/SVG/main" r:embed="rId4"/>
                </a:ext>
              </a:extLst>
            </a:blip>
            <a:stretch>
              <a:fillRect/>
            </a:stretch>
          </a:blipFill>
        </p:spPr>
      </p:sp>
      <p:sp>
        <p:nvSpPr>
          <p:cNvPr id="4" name="Freeform 4" descr="lined abstract shape"/>
          <p:cNvSpPr/>
          <p:nvPr/>
        </p:nvSpPr>
        <p:spPr>
          <a:xfrm rot="4726396">
            <a:off x="-3533193" y="-4912984"/>
            <a:ext cx="5318268" cy="8429531"/>
          </a:xfrm>
          <a:custGeom>
            <a:avLst/>
            <a:gdLst/>
            <a:ahLst/>
            <a:cxnLst/>
            <a:rect l="l" t="t" r="r" b="b"/>
            <a:pathLst>
              <a:path w="5318268" h="8429531">
                <a:moveTo>
                  <a:pt x="0" y="0"/>
                </a:moveTo>
                <a:lnTo>
                  <a:pt x="5318268" y="0"/>
                </a:lnTo>
                <a:lnTo>
                  <a:pt x="5318268" y="8429531"/>
                </a:lnTo>
                <a:lnTo>
                  <a:pt x="0" y="8429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descr="lined abstract shape"/>
          <p:cNvSpPr/>
          <p:nvPr/>
        </p:nvSpPr>
        <p:spPr>
          <a:xfrm rot="2788089">
            <a:off x="18639878" y="2702129"/>
            <a:ext cx="6565563" cy="10406512"/>
          </a:xfrm>
          <a:custGeom>
            <a:avLst/>
            <a:gdLst/>
            <a:ahLst/>
            <a:cxnLst/>
            <a:rect l="l" t="t" r="r" b="b"/>
            <a:pathLst>
              <a:path w="6565563" h="10406512">
                <a:moveTo>
                  <a:pt x="0" y="0"/>
                </a:moveTo>
                <a:lnTo>
                  <a:pt x="6565563" y="0"/>
                </a:lnTo>
                <a:lnTo>
                  <a:pt x="6565563" y="10406512"/>
                </a:lnTo>
                <a:lnTo>
                  <a:pt x="0" y="1040651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 Box 5"/>
          <p:cNvSpPr txBox="1"/>
          <p:nvPr/>
        </p:nvSpPr>
        <p:spPr>
          <a:xfrm>
            <a:off x="990600" y="1562100"/>
            <a:ext cx="15543530" cy="7644130"/>
          </a:xfrm>
          <a:prstGeom prst="rect">
            <a:avLst/>
          </a:prstGeom>
        </p:spPr>
        <p:txBody>
          <a:bodyPr wrap="square">
            <a:noAutofit/>
          </a:bodyPr>
          <a:p>
            <a:pPr>
              <a:spcAft>
                <a:spcPct val="60000"/>
              </a:spcAft>
            </a:pPr>
            <a:r>
              <a:rPr lang="en-US" altLang="en-US" sz="3000" b="1">
                <a:latin typeface="Times New Roman" panose="02020603050405020304" charset="0"/>
                <a:cs typeface="Times New Roman" panose="02020603050405020304" charset="0"/>
              </a:rPr>
              <a:t>CTAS vs COPY INTO vs Auto Loader – Practical Understanding</a:t>
            </a:r>
            <a:endParaRPr lang="en-US" altLang="en-US" sz="3000" b="1">
              <a:latin typeface="Times New Roman" panose="02020603050405020304" charset="0"/>
              <a:cs typeface="Times New Roman" panose="02020603050405020304" charset="0"/>
            </a:endParaRPr>
          </a:p>
          <a:p>
            <a:pPr>
              <a:spcAft>
                <a:spcPct val="60000"/>
              </a:spcAft>
            </a:pPr>
            <a:r>
              <a:rPr lang="en-US" altLang="en-US" sz="2800" b="1">
                <a:latin typeface="Times New Roman" panose="02020603050405020304" charset="0"/>
                <a:cs typeface="Times New Roman" panose="02020603050405020304" charset="0"/>
              </a:rPr>
              <a:t>CTAS (Create Table As Select)</a:t>
            </a:r>
            <a:endParaRPr lang="en-US" altLang="en-US" sz="2800" b="1">
              <a:latin typeface="Times New Roman" panose="02020603050405020304" charset="0"/>
              <a:cs typeface="Times New Roman" panose="02020603050405020304" charset="0"/>
            </a:endParaRPr>
          </a:p>
          <a:p>
            <a:pPr>
              <a:spcAft>
                <a:spcPct val="60000"/>
              </a:spcAft>
            </a:pPr>
            <a:r>
              <a:rPr lang="en-US" altLang="en-US" sz="2800">
                <a:latin typeface="Times New Roman" panose="02020603050405020304" charset="0"/>
                <a:cs typeface="Times New Roman" panose="02020603050405020304" charset="0"/>
              </a:rPr>
              <a:t>This method creates a Delta table directly from a query. It is useful for full refresh scenarios. However, it replaces data rather than incrementally updating it. It is best for initial loads or controlled reprocessing.</a:t>
            </a:r>
            <a:endParaRPr lang="en-US" altLang="en-US" sz="2800">
              <a:latin typeface="Times New Roman" panose="02020603050405020304" charset="0"/>
              <a:cs typeface="Times New Roman" panose="02020603050405020304" charset="0"/>
            </a:endParaRPr>
          </a:p>
          <a:p>
            <a:pPr>
              <a:spcAft>
                <a:spcPct val="60000"/>
              </a:spcAft>
            </a:pPr>
            <a:endParaRPr lang="en-US" altLang="en-US" sz="2800">
              <a:latin typeface="Times New Roman" panose="02020603050405020304" charset="0"/>
              <a:cs typeface="Times New Roman" panose="02020603050405020304" charset="0"/>
            </a:endParaRPr>
          </a:p>
          <a:p>
            <a:pPr>
              <a:spcAft>
                <a:spcPct val="60000"/>
              </a:spcAft>
            </a:pPr>
            <a:r>
              <a:rPr lang="en-US" altLang="en-US" sz="2800" b="1">
                <a:latin typeface="Times New Roman" panose="02020603050405020304" charset="0"/>
                <a:cs typeface="Times New Roman" panose="02020603050405020304" charset="0"/>
              </a:rPr>
              <a:t>COPY INTO</a:t>
            </a:r>
            <a:endParaRPr lang="en-US" altLang="en-US" sz="2800" b="1">
              <a:latin typeface="Times New Roman" panose="02020603050405020304" charset="0"/>
              <a:cs typeface="Times New Roman" panose="02020603050405020304" charset="0"/>
            </a:endParaRPr>
          </a:p>
          <a:p>
            <a:pPr>
              <a:spcAft>
                <a:spcPct val="60000"/>
              </a:spcAft>
            </a:pPr>
            <a:r>
              <a:rPr lang="en-US" altLang="en-US" sz="2800">
                <a:latin typeface="Times New Roman" panose="02020603050405020304" charset="0"/>
                <a:cs typeface="Times New Roman" panose="02020603050405020304" charset="0"/>
              </a:rPr>
              <a:t>This method loads files into an existing Delta table and is idempotent. If the same file is processed again, it is skipped automatically. However, it tracks files, not individual rows. If a new file contains duplicate rows, duplicates will be ingested.</a:t>
            </a:r>
            <a:endParaRPr lang="en-US" altLang="en-US" sz="2800">
              <a:latin typeface="Times New Roman" panose="02020603050405020304" charset="0"/>
              <a:cs typeface="Times New Roman" panose="02020603050405020304" charset="0"/>
            </a:endParaRPr>
          </a:p>
          <a:p>
            <a:pPr>
              <a:spcAft>
                <a:spcPct val="60000"/>
              </a:spcAft>
            </a:pPr>
            <a:r>
              <a:rPr lang="en-US" altLang="en-US" sz="2800">
                <a:latin typeface="Times New Roman" panose="02020603050405020304" charset="0"/>
                <a:cs typeface="Times New Roman" panose="02020603050405020304" charset="0"/>
              </a:rPr>
              <a:t>This helped me understand that ingestion and deduplication are separate concerns in data engineering.</a:t>
            </a:r>
            <a:endParaRPr lang="en-US" altLang="en-US" sz="2800">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1ECE1"/>
        </a:solidFill>
        <a:effectLst/>
      </p:bgPr>
    </p:bg>
    <p:spTree>
      <p:nvGrpSpPr>
        <p:cNvPr id="1" name=""/>
        <p:cNvGrpSpPr/>
        <p:nvPr/>
      </p:nvGrpSpPr>
      <p:grpSpPr>
        <a:xfrm>
          <a:off x="0" y="0"/>
          <a:ext cx="0" cy="0"/>
          <a:chOff x="0" y="0"/>
          <a:chExt cx="0" cy="0"/>
        </a:xfrm>
      </p:grpSpPr>
      <p:sp>
        <p:nvSpPr>
          <p:cNvPr id="2" name="Freeform 2" descr="green blob"/>
          <p:cNvSpPr/>
          <p:nvPr/>
        </p:nvSpPr>
        <p:spPr>
          <a:xfrm>
            <a:off x="-2800261" y="-7153013"/>
            <a:ext cx="8857785" cy="8525618"/>
          </a:xfrm>
          <a:custGeom>
            <a:avLst/>
            <a:gdLst/>
            <a:ahLst/>
            <a:cxnLst/>
            <a:rect l="l" t="t" r="r" b="b"/>
            <a:pathLst>
              <a:path w="8857785" h="8525618">
                <a:moveTo>
                  <a:pt x="0" y="0"/>
                </a:moveTo>
                <a:lnTo>
                  <a:pt x="8857785" y="0"/>
                </a:lnTo>
                <a:lnTo>
                  <a:pt x="8857785" y="8525618"/>
                </a:lnTo>
                <a:lnTo>
                  <a:pt x="0" y="8525618"/>
                </a:lnTo>
                <a:lnTo>
                  <a:pt x="0" y="0"/>
                </a:lnTo>
                <a:close/>
              </a:path>
            </a:pathLst>
          </a:custGeom>
          <a:blipFill>
            <a:blip r:embed="rId1">
              <a:alphaModFix amt="21999"/>
              <a:extLst>
                <a:ext uri="{96DAC541-7B7A-43D3-8B79-37D633B846F1}">
                  <asvg:svgBlip xmlns:asvg="http://schemas.microsoft.com/office/drawing/2016/SVG/main" r:embed="rId2"/>
                </a:ext>
              </a:extLst>
            </a:blip>
            <a:stretch>
              <a:fillRect/>
            </a:stretch>
          </a:blipFill>
        </p:spPr>
      </p:sp>
      <p:sp>
        <p:nvSpPr>
          <p:cNvPr id="3" name="Freeform 3" descr="green organic shape"/>
          <p:cNvSpPr/>
          <p:nvPr/>
        </p:nvSpPr>
        <p:spPr>
          <a:xfrm rot="5767197">
            <a:off x="12106146" y="4725191"/>
            <a:ext cx="9957653" cy="8663158"/>
          </a:xfrm>
          <a:custGeom>
            <a:avLst/>
            <a:gdLst/>
            <a:ahLst/>
            <a:cxnLst/>
            <a:rect l="l" t="t" r="r" b="b"/>
            <a:pathLst>
              <a:path w="9957653" h="8663158">
                <a:moveTo>
                  <a:pt x="0" y="0"/>
                </a:moveTo>
                <a:lnTo>
                  <a:pt x="9957653" y="0"/>
                </a:lnTo>
                <a:lnTo>
                  <a:pt x="9957653" y="8663158"/>
                </a:lnTo>
                <a:lnTo>
                  <a:pt x="0" y="8663158"/>
                </a:lnTo>
                <a:lnTo>
                  <a:pt x="0" y="0"/>
                </a:lnTo>
                <a:close/>
              </a:path>
            </a:pathLst>
          </a:custGeom>
          <a:blipFill>
            <a:blip r:embed="rId3">
              <a:alphaModFix amt="21999"/>
              <a:extLst>
                <a:ext uri="{96DAC541-7B7A-43D3-8B79-37D633B846F1}">
                  <asvg:svgBlip xmlns:asvg="http://schemas.microsoft.com/office/drawing/2016/SVG/main" r:embed="rId4"/>
                </a:ext>
              </a:extLst>
            </a:blip>
            <a:stretch>
              <a:fillRect/>
            </a:stretch>
          </a:blipFill>
        </p:spPr>
      </p:sp>
      <p:sp>
        <p:nvSpPr>
          <p:cNvPr id="4" name="Freeform 4" descr="lined abstract shape"/>
          <p:cNvSpPr/>
          <p:nvPr/>
        </p:nvSpPr>
        <p:spPr>
          <a:xfrm rot="4726396">
            <a:off x="-3533193" y="-4912984"/>
            <a:ext cx="5318268" cy="8429531"/>
          </a:xfrm>
          <a:custGeom>
            <a:avLst/>
            <a:gdLst/>
            <a:ahLst/>
            <a:cxnLst/>
            <a:rect l="l" t="t" r="r" b="b"/>
            <a:pathLst>
              <a:path w="5318268" h="8429531">
                <a:moveTo>
                  <a:pt x="0" y="0"/>
                </a:moveTo>
                <a:lnTo>
                  <a:pt x="5318268" y="0"/>
                </a:lnTo>
                <a:lnTo>
                  <a:pt x="5318268" y="8429531"/>
                </a:lnTo>
                <a:lnTo>
                  <a:pt x="0" y="8429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descr="lined abstract shape"/>
          <p:cNvSpPr/>
          <p:nvPr/>
        </p:nvSpPr>
        <p:spPr>
          <a:xfrm rot="2788089">
            <a:off x="18639878" y="2702129"/>
            <a:ext cx="6565563" cy="10406512"/>
          </a:xfrm>
          <a:custGeom>
            <a:avLst/>
            <a:gdLst/>
            <a:ahLst/>
            <a:cxnLst/>
            <a:rect l="l" t="t" r="r" b="b"/>
            <a:pathLst>
              <a:path w="6565563" h="10406512">
                <a:moveTo>
                  <a:pt x="0" y="0"/>
                </a:moveTo>
                <a:lnTo>
                  <a:pt x="6565563" y="0"/>
                </a:lnTo>
                <a:lnTo>
                  <a:pt x="6565563" y="10406512"/>
                </a:lnTo>
                <a:lnTo>
                  <a:pt x="0" y="1040651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 Box 5"/>
          <p:cNvSpPr txBox="1"/>
          <p:nvPr/>
        </p:nvSpPr>
        <p:spPr>
          <a:xfrm>
            <a:off x="990600" y="1562100"/>
            <a:ext cx="15543530" cy="7644130"/>
          </a:xfrm>
          <a:prstGeom prst="rect">
            <a:avLst/>
          </a:prstGeom>
        </p:spPr>
        <p:txBody>
          <a:bodyPr wrap="square">
            <a:noAutofit/>
          </a:bodyPr>
          <a:p>
            <a:pPr>
              <a:spcAft>
                <a:spcPct val="60000"/>
              </a:spcAft>
            </a:pPr>
            <a:r>
              <a:rPr lang="en-US" altLang="en-US" sz="2800" b="1">
                <a:latin typeface="Times New Roman" panose="02020603050405020304" charset="0"/>
                <a:cs typeface="Times New Roman" panose="02020603050405020304" charset="0"/>
              </a:rPr>
              <a:t>Auto Loader</a:t>
            </a:r>
            <a:endParaRPr lang="en-US" altLang="en-US" sz="2800" b="1">
              <a:latin typeface="Times New Roman" panose="02020603050405020304" charset="0"/>
              <a:cs typeface="Times New Roman" panose="02020603050405020304" charset="0"/>
            </a:endParaRPr>
          </a:p>
          <a:p>
            <a:pPr>
              <a:spcAft>
                <a:spcPct val="60000"/>
              </a:spcAft>
            </a:pPr>
            <a:r>
              <a:rPr lang="en-US" altLang="en-US" sz="2800">
                <a:latin typeface="Times New Roman" panose="02020603050405020304" charset="0"/>
                <a:cs typeface="Times New Roman" panose="02020603050405020304" charset="0"/>
              </a:rPr>
              <a:t>Auto Loader incrementally processes new files as they arrive in cloud storage. It automatically infers and evolves schema. It also rescues unexpected data instead of failing the pipeline.</a:t>
            </a:r>
            <a:endParaRPr lang="en-US" altLang="en-US" sz="2800">
              <a:latin typeface="Times New Roman" panose="02020603050405020304" charset="0"/>
              <a:cs typeface="Times New Roman" panose="02020603050405020304" charset="0"/>
            </a:endParaRPr>
          </a:p>
          <a:p>
            <a:pPr>
              <a:spcAft>
                <a:spcPct val="60000"/>
              </a:spcAft>
            </a:pPr>
            <a:endParaRPr lang="en-US" altLang="en-US" sz="2800">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1ECE1"/>
        </a:solidFill>
        <a:effectLst/>
      </p:bgPr>
    </p:bg>
    <p:spTree>
      <p:nvGrpSpPr>
        <p:cNvPr id="1" name=""/>
        <p:cNvGrpSpPr/>
        <p:nvPr/>
      </p:nvGrpSpPr>
      <p:grpSpPr>
        <a:xfrm>
          <a:off x="0" y="0"/>
          <a:ext cx="0" cy="0"/>
          <a:chOff x="0" y="0"/>
          <a:chExt cx="0" cy="0"/>
        </a:xfrm>
      </p:grpSpPr>
      <p:sp>
        <p:nvSpPr>
          <p:cNvPr id="2" name="Freeform 2" descr="green blob"/>
          <p:cNvSpPr/>
          <p:nvPr/>
        </p:nvSpPr>
        <p:spPr>
          <a:xfrm>
            <a:off x="-2800261" y="-7153013"/>
            <a:ext cx="8857785" cy="8525618"/>
          </a:xfrm>
          <a:custGeom>
            <a:avLst/>
            <a:gdLst/>
            <a:ahLst/>
            <a:cxnLst/>
            <a:rect l="l" t="t" r="r" b="b"/>
            <a:pathLst>
              <a:path w="8857785" h="8525618">
                <a:moveTo>
                  <a:pt x="0" y="0"/>
                </a:moveTo>
                <a:lnTo>
                  <a:pt x="8857785" y="0"/>
                </a:lnTo>
                <a:lnTo>
                  <a:pt x="8857785" y="8525618"/>
                </a:lnTo>
                <a:lnTo>
                  <a:pt x="0" y="8525618"/>
                </a:lnTo>
                <a:lnTo>
                  <a:pt x="0" y="0"/>
                </a:lnTo>
                <a:close/>
              </a:path>
            </a:pathLst>
          </a:custGeom>
          <a:blipFill>
            <a:blip r:embed="rId1">
              <a:alphaModFix amt="21999"/>
              <a:extLst>
                <a:ext uri="{96DAC541-7B7A-43D3-8B79-37D633B846F1}">
                  <asvg:svgBlip xmlns:asvg="http://schemas.microsoft.com/office/drawing/2016/SVG/main" r:embed="rId2"/>
                </a:ext>
              </a:extLst>
            </a:blip>
            <a:stretch>
              <a:fillRect/>
            </a:stretch>
          </a:blipFill>
        </p:spPr>
      </p:sp>
      <p:sp>
        <p:nvSpPr>
          <p:cNvPr id="3" name="Freeform 3" descr="green organic shape"/>
          <p:cNvSpPr/>
          <p:nvPr/>
        </p:nvSpPr>
        <p:spPr>
          <a:xfrm rot="5767197">
            <a:off x="12106146" y="4725191"/>
            <a:ext cx="9957653" cy="8663158"/>
          </a:xfrm>
          <a:custGeom>
            <a:avLst/>
            <a:gdLst/>
            <a:ahLst/>
            <a:cxnLst/>
            <a:rect l="l" t="t" r="r" b="b"/>
            <a:pathLst>
              <a:path w="9957653" h="8663158">
                <a:moveTo>
                  <a:pt x="0" y="0"/>
                </a:moveTo>
                <a:lnTo>
                  <a:pt x="9957653" y="0"/>
                </a:lnTo>
                <a:lnTo>
                  <a:pt x="9957653" y="8663158"/>
                </a:lnTo>
                <a:lnTo>
                  <a:pt x="0" y="8663158"/>
                </a:lnTo>
                <a:lnTo>
                  <a:pt x="0" y="0"/>
                </a:lnTo>
                <a:close/>
              </a:path>
            </a:pathLst>
          </a:custGeom>
          <a:blipFill>
            <a:blip r:embed="rId3">
              <a:alphaModFix amt="21999"/>
              <a:extLst>
                <a:ext uri="{96DAC541-7B7A-43D3-8B79-37D633B846F1}">
                  <asvg:svgBlip xmlns:asvg="http://schemas.microsoft.com/office/drawing/2016/SVG/main" r:embed="rId4"/>
                </a:ext>
              </a:extLst>
            </a:blip>
            <a:stretch>
              <a:fillRect/>
            </a:stretch>
          </a:blipFill>
        </p:spPr>
      </p:sp>
      <p:sp>
        <p:nvSpPr>
          <p:cNvPr id="4" name="Freeform 4" descr="lined abstract shape"/>
          <p:cNvSpPr/>
          <p:nvPr/>
        </p:nvSpPr>
        <p:spPr>
          <a:xfrm rot="4726396">
            <a:off x="-3533193" y="-4912984"/>
            <a:ext cx="5318268" cy="8429531"/>
          </a:xfrm>
          <a:custGeom>
            <a:avLst/>
            <a:gdLst/>
            <a:ahLst/>
            <a:cxnLst/>
            <a:rect l="l" t="t" r="r" b="b"/>
            <a:pathLst>
              <a:path w="5318268" h="8429531">
                <a:moveTo>
                  <a:pt x="0" y="0"/>
                </a:moveTo>
                <a:lnTo>
                  <a:pt x="5318268" y="0"/>
                </a:lnTo>
                <a:lnTo>
                  <a:pt x="5318268" y="8429531"/>
                </a:lnTo>
                <a:lnTo>
                  <a:pt x="0" y="8429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descr="lined abstract shape"/>
          <p:cNvSpPr/>
          <p:nvPr/>
        </p:nvSpPr>
        <p:spPr>
          <a:xfrm rot="2788089">
            <a:off x="18639878" y="2702129"/>
            <a:ext cx="6565563" cy="10406512"/>
          </a:xfrm>
          <a:custGeom>
            <a:avLst/>
            <a:gdLst/>
            <a:ahLst/>
            <a:cxnLst/>
            <a:rect l="l" t="t" r="r" b="b"/>
            <a:pathLst>
              <a:path w="6565563" h="10406512">
                <a:moveTo>
                  <a:pt x="0" y="0"/>
                </a:moveTo>
                <a:lnTo>
                  <a:pt x="6565563" y="0"/>
                </a:lnTo>
                <a:lnTo>
                  <a:pt x="6565563" y="10406512"/>
                </a:lnTo>
                <a:lnTo>
                  <a:pt x="0" y="1040651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 Box 5"/>
          <p:cNvSpPr txBox="1"/>
          <p:nvPr/>
        </p:nvSpPr>
        <p:spPr>
          <a:xfrm>
            <a:off x="914400" y="952500"/>
            <a:ext cx="15543530" cy="8696960"/>
          </a:xfrm>
          <a:prstGeom prst="rect">
            <a:avLst/>
          </a:prstGeom>
        </p:spPr>
        <p:txBody>
          <a:bodyPr wrap="square">
            <a:noAutofit/>
          </a:bodyPr>
          <a:p>
            <a:pPr>
              <a:spcAft>
                <a:spcPct val="60000"/>
              </a:spcAft>
            </a:pPr>
            <a:r>
              <a:rPr lang="en-US" sz="2800" b="1">
                <a:latin typeface="Times New Roman" panose="02020603050405020304" charset="0"/>
                <a:cs typeface="Times New Roman" panose="02020603050405020304" charset="0"/>
                <a:sym typeface="+mn-ea"/>
              </a:rPr>
              <a:t>                                   </a:t>
            </a:r>
            <a:r>
              <a:rPr sz="2800" b="1">
                <a:latin typeface="Times New Roman" panose="02020603050405020304" charset="0"/>
                <a:cs typeface="Times New Roman" panose="02020603050405020304" charset="0"/>
                <a:sym typeface="+mn-ea"/>
              </a:rPr>
              <a:t>Databricks: Industry Use Cases &amp; Target Companies</a:t>
            </a:r>
            <a:endParaRPr lang="en-US" altLang="en-US" sz="2800" b="1">
              <a:latin typeface="Times New Roman" panose="02020603050405020304" charset="0"/>
              <a:cs typeface="Times New Roman" panose="02020603050405020304" charset="0"/>
            </a:endParaRPr>
          </a:p>
          <a:p>
            <a:pPr>
              <a:spcAft>
                <a:spcPct val="60000"/>
              </a:spcAft>
            </a:pPr>
            <a:r>
              <a:rPr lang="en-US" altLang="en-US" sz="2800" b="1">
                <a:latin typeface="Times New Roman" panose="02020603050405020304" charset="0"/>
                <a:cs typeface="Times New Roman" panose="02020603050405020304" charset="0"/>
              </a:rPr>
              <a:t>• Finance &amp; Banking:</a:t>
            </a:r>
            <a:endParaRPr lang="en-US" altLang="en-US" sz="2800" b="1">
              <a:latin typeface="Times New Roman" panose="02020603050405020304" charset="0"/>
              <a:cs typeface="Times New Roman" panose="02020603050405020304" charset="0"/>
            </a:endParaRPr>
          </a:p>
          <a:p>
            <a:pPr>
              <a:spcAft>
                <a:spcPct val="60000"/>
              </a:spcAft>
            </a:pPr>
            <a:r>
              <a:rPr lang="en-US" altLang="en-US" sz="2800">
                <a:latin typeface="Times New Roman" panose="02020603050405020304" charset="0"/>
                <a:cs typeface="Times New Roman" panose="02020603050405020304" charset="0"/>
              </a:rPr>
              <a:t>  -fraud Detection, Risk Modeling, Real-Time Analytics</a:t>
            </a:r>
            <a:endParaRPr lang="en-US" altLang="en-US" sz="2800">
              <a:latin typeface="Times New Roman" panose="02020603050405020304" charset="0"/>
              <a:cs typeface="Times New Roman" panose="02020603050405020304" charset="0"/>
            </a:endParaRPr>
          </a:p>
          <a:p>
            <a:pPr>
              <a:spcAft>
                <a:spcPct val="60000"/>
              </a:spcAft>
            </a:pPr>
            <a:r>
              <a:rPr lang="en-US" altLang="en-US" sz="2800">
                <a:latin typeface="Times New Roman" panose="02020603050405020304" charset="0"/>
                <a:cs typeface="Times New Roman" panose="02020603050405020304" charset="0"/>
              </a:rPr>
              <a:t>  - Companies: HSBC, Morgan Stanley, Capital One</a:t>
            </a:r>
            <a:endParaRPr lang="en-US" altLang="en-US" sz="2800">
              <a:latin typeface="Times New Roman" panose="02020603050405020304" charset="0"/>
              <a:cs typeface="Times New Roman" panose="02020603050405020304" charset="0"/>
            </a:endParaRPr>
          </a:p>
          <a:p>
            <a:pPr>
              <a:spcAft>
                <a:spcPct val="60000"/>
              </a:spcAft>
            </a:pPr>
            <a:r>
              <a:rPr lang="en-US" altLang="en-US" sz="2800" b="1">
                <a:latin typeface="Times New Roman" panose="02020603050405020304" charset="0"/>
                <a:cs typeface="Times New Roman" panose="02020603050405020304" charset="0"/>
              </a:rPr>
              <a:t>• Healthcare:</a:t>
            </a:r>
            <a:endParaRPr lang="en-US" altLang="en-US" sz="2800" b="1">
              <a:latin typeface="Times New Roman" panose="02020603050405020304" charset="0"/>
              <a:cs typeface="Times New Roman" panose="02020603050405020304" charset="0"/>
            </a:endParaRPr>
          </a:p>
          <a:p>
            <a:pPr>
              <a:spcAft>
                <a:spcPct val="60000"/>
              </a:spcAft>
            </a:pPr>
            <a:r>
              <a:rPr lang="en-US" altLang="en-US" sz="2800">
                <a:latin typeface="Times New Roman" panose="02020603050405020304" charset="0"/>
                <a:cs typeface="Times New Roman" panose="02020603050405020304" charset="0"/>
              </a:rPr>
              <a:t>  - Patient Data Analytics, Claims Processing, AI Research</a:t>
            </a:r>
            <a:endParaRPr lang="en-US" altLang="en-US" sz="2800">
              <a:latin typeface="Times New Roman" panose="02020603050405020304" charset="0"/>
              <a:cs typeface="Times New Roman" panose="02020603050405020304" charset="0"/>
            </a:endParaRPr>
          </a:p>
          <a:p>
            <a:pPr>
              <a:spcAft>
                <a:spcPct val="60000"/>
              </a:spcAft>
            </a:pPr>
            <a:r>
              <a:rPr lang="en-US" altLang="en-US" sz="2800">
                <a:latin typeface="Times New Roman" panose="02020603050405020304" charset="0"/>
                <a:cs typeface="Times New Roman" panose="02020603050405020304" charset="0"/>
              </a:rPr>
              <a:t>  - Companies: UnitedHealth, Pfizer, Roche</a:t>
            </a:r>
            <a:endParaRPr lang="en-US" altLang="en-US" sz="2800">
              <a:latin typeface="Times New Roman" panose="02020603050405020304" charset="0"/>
              <a:cs typeface="Times New Roman" panose="02020603050405020304" charset="0"/>
            </a:endParaRPr>
          </a:p>
          <a:p>
            <a:pPr>
              <a:spcAft>
                <a:spcPct val="60000"/>
              </a:spcAft>
            </a:pPr>
            <a:r>
              <a:rPr lang="en-US" altLang="en-US" sz="2800" b="1">
                <a:latin typeface="Times New Roman" panose="02020603050405020304" charset="0"/>
                <a:cs typeface="Times New Roman" panose="02020603050405020304" charset="0"/>
              </a:rPr>
              <a:t>• Retail &amp; E-commerce:</a:t>
            </a:r>
            <a:endParaRPr lang="en-US" altLang="en-US" sz="2800" b="1">
              <a:latin typeface="Times New Roman" panose="02020603050405020304" charset="0"/>
              <a:cs typeface="Times New Roman" panose="02020603050405020304" charset="0"/>
            </a:endParaRPr>
          </a:p>
          <a:p>
            <a:pPr>
              <a:spcAft>
                <a:spcPct val="60000"/>
              </a:spcAft>
            </a:pPr>
            <a:r>
              <a:rPr lang="en-US" altLang="en-US" sz="2800">
                <a:latin typeface="Times New Roman" panose="02020603050405020304" charset="0"/>
                <a:cs typeface="Times New Roman" panose="02020603050405020304" charset="0"/>
              </a:rPr>
              <a:t>  - Recommendation Systems, Demand Forecasting</a:t>
            </a:r>
            <a:endParaRPr lang="en-US" altLang="en-US" sz="2800">
              <a:latin typeface="Times New Roman" panose="02020603050405020304" charset="0"/>
              <a:cs typeface="Times New Roman" panose="02020603050405020304" charset="0"/>
            </a:endParaRPr>
          </a:p>
          <a:p>
            <a:pPr>
              <a:spcAft>
                <a:spcPct val="60000"/>
              </a:spcAft>
            </a:pPr>
            <a:r>
              <a:rPr lang="en-US" altLang="en-US" sz="2800">
                <a:latin typeface="Times New Roman" panose="02020603050405020304" charset="0"/>
                <a:cs typeface="Times New Roman" panose="02020603050405020304" charset="0"/>
              </a:rPr>
              <a:t>  - Companies: Amazon, Walmart, H&amp;M</a:t>
            </a:r>
            <a:endParaRPr lang="en-US" altLang="en-US" sz="2800">
              <a:latin typeface="Times New Roman" panose="02020603050405020304" charset="0"/>
              <a:cs typeface="Times New Roman" panose="02020603050405020304" charset="0"/>
            </a:endParaRPr>
          </a:p>
          <a:p>
            <a:pPr>
              <a:spcAft>
                <a:spcPct val="60000"/>
              </a:spcAft>
            </a:pPr>
            <a:r>
              <a:rPr lang="en-US" altLang="en-US" sz="2800" b="1">
                <a:latin typeface="Times New Roman" panose="02020603050405020304" charset="0"/>
                <a:cs typeface="Times New Roman" panose="02020603050405020304" charset="0"/>
              </a:rPr>
              <a:t>• Manufacturing &amp; Tech:</a:t>
            </a:r>
            <a:endParaRPr lang="en-US" altLang="en-US" sz="2800" b="1">
              <a:latin typeface="Times New Roman" panose="02020603050405020304" charset="0"/>
              <a:cs typeface="Times New Roman" panose="02020603050405020304" charset="0"/>
            </a:endParaRPr>
          </a:p>
          <a:p>
            <a:pPr>
              <a:spcAft>
                <a:spcPct val="60000"/>
              </a:spcAft>
            </a:pPr>
            <a:r>
              <a:rPr lang="en-US" altLang="en-US" sz="2800">
                <a:latin typeface="Times New Roman" panose="02020603050405020304" charset="0"/>
                <a:cs typeface="Times New Roman" panose="02020603050405020304" charset="0"/>
              </a:rPr>
              <a:t>  - Predictive Maintenance, IoT Analytics</a:t>
            </a:r>
            <a:endParaRPr lang="en-US" altLang="en-US" sz="2800">
              <a:latin typeface="Times New Roman" panose="02020603050405020304" charset="0"/>
              <a:cs typeface="Times New Roman" panose="02020603050405020304" charset="0"/>
            </a:endParaRPr>
          </a:p>
          <a:p>
            <a:pPr>
              <a:spcAft>
                <a:spcPct val="60000"/>
              </a:spcAft>
            </a:pPr>
            <a:r>
              <a:rPr lang="en-US" altLang="en-US" sz="2800">
                <a:latin typeface="Times New Roman" panose="02020603050405020304" charset="0"/>
                <a:cs typeface="Times New Roman" panose="02020603050405020304" charset="0"/>
              </a:rPr>
              <a:t>  - Companies: Siemens, Bosch, Microsoft</a:t>
            </a:r>
            <a:endParaRPr lang="en-US" altLang="en-US" sz="2800">
              <a:latin typeface="Times New Roman" panose="02020603050405020304" charset="0"/>
              <a:cs typeface="Times New Roman" panose="02020603050405020304" charset="0"/>
            </a:endParaRPr>
          </a:p>
          <a:p>
            <a:pPr>
              <a:spcAft>
                <a:spcPct val="60000"/>
              </a:spcAft>
            </a:pPr>
            <a:endParaRPr lang="en-US" altLang="en-US" sz="2800">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4603</Words>
  <Application>WPS Presentation</Application>
  <PresentationFormat>On-screen Show (4:3)</PresentationFormat>
  <Paragraphs>88</Paragraphs>
  <Slides>9</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9</vt:i4>
      </vt:variant>
    </vt:vector>
  </HeadingPairs>
  <TitlesOfParts>
    <vt:vector size="18" baseType="lpstr">
      <vt:lpstr>Arial</vt:lpstr>
      <vt:lpstr>SimSun</vt:lpstr>
      <vt:lpstr>Wingdings</vt:lpstr>
      <vt:lpstr>Microsoft YaHei</vt:lpstr>
      <vt:lpstr>Arial Unicode MS</vt:lpstr>
      <vt:lpstr>Calibri</vt:lpstr>
      <vt:lpstr>Times New Roman</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Blobs Basic Simple Presentation</dc:title>
  <dc:creator/>
  <cp:lastModifiedBy>05 Swapna</cp:lastModifiedBy>
  <cp:revision>4</cp:revision>
  <dcterms:created xsi:type="dcterms:W3CDTF">2006-08-16T00:00:00Z</dcterms:created>
  <dcterms:modified xsi:type="dcterms:W3CDTF">2026-02-18T17:39:19Z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65C5A9B46777496C8245EAAC93D95FF3_13</vt:lpwstr>
  </property>
  <property fmtid="{D5CDD505-2E9C-101B-9397-08002B2CF9AE}" pid="3" name="KSOProductBuildVer">
    <vt:lpwstr>1033-12.2.0.23196</vt:lpwstr>
  </property>
</Properties>
</file>